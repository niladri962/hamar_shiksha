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notesMasterIdLst>
    <p:notesMasterId r:id="rId2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elcome" id="{43f69a3d-ee60-cedc-10a1-a723413d2206}">
          <p14:sldIdLst>
            <p14:sldId id="256"/>
            <p14:sldId id="257"/>
          </p14:sldIdLst>
        </p14:section>
        <p14:section name="The idea" id="{d18f0c7c-8be1-30c2-c0cb-f7ca5e400fdd}">
          <p14:sldIdLst>
            <p14:sldId id="258"/>
            <p14:sldId id="259"/>
            <p14:sldId id="260"/>
            <p14:sldId id="261"/>
          </p14:sldIdLst>
        </p14:section>
        <p14:section name="For administrators" id="{d7cac90c-f6f5-b2a7-418b-daceec61d2f4}">
          <p14:sldIdLst>
            <p14:sldId id="262"/>
            <p14:sldId id="263"/>
            <p14:sldId id="264"/>
            <p14:sldId id="265"/>
          </p14:sldIdLst>
        </p14:section>
        <p14:section name="For teachers" id="{535f38c4-5d15-e1fe-fd0c-17803e414c68}">
          <p14:sldIdLst>
            <p14:sldId id="266"/>
            <p14:sldId id="267"/>
            <p14:sldId id="268"/>
            <p14:sldId id="269"/>
          </p14:sldIdLst>
        </p14:section>
        <p14:section name="For students" id="{0d395cc0-9291-af84-5ba5-e44eaaac4640}">
          <p14:sldIdLst>
            <p14:sldId id="270"/>
            <p14:sldId id="271"/>
            <p14:sldId id="272"/>
          </p14:sldIdLst>
        </p14:section>
        <p14:section name="AI, curriculum and trust" id="{fb4c185f-c27e-e368-14f1-44b1304b0f54}">
          <p14:sldIdLst>
            <p14:sldId id="273"/>
            <p14:sldId id="274"/>
            <p14:sldId id="275"/>
          </p14:sldIdLst>
        </p14:section>
        <p14:section name="Deploy and roadmap" id="{cfcec0f8-5008-0d05-08ef-ae6360a87f73}">
          <p14:sldIdLst>
            <p14:sldId id="276"/>
            <p14:sldId id="277"/>
            <p14:sldId id="278"/>
            <p14:sldId id="279"/>
            <p14:sldId id="280"/>
            <p14:sldId id="281"/>
          </p14:sldIdLst>
        </p14:section>
        <p14:section name="Thank you" id="{edc4a711-fcee-0e72-93be-ad9a7aea5d83}">
          <p14:sldIdLst>
            <p14:sldId id="28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HAMAR SHIKSHA is one platform for the whole school system of Chhattisgarh: a command centre for administrators, an assistant for teachers and a learning app for students, built around a small AI model that runs locally. Use 'Start the tour' to open the agenda; every slide has buttons back to the agenda and to the live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Agenda. Click any tile to jump to that part. The deck can be presented in order, or navigated live depending on the client's interests.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problem on the left has a direct answer on the right. The guiding rule of the platform: teachers enter nothing twice, and every number shown to an officer comes from records, not from extra forms.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Architecture in one picture: one small language model, one curriculum knowledge base and one learner record are shared by four modules and three role-specific portals. Click a portal card to jump to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one of the sixteen objectives in the brief is implemented and has an automated test behind it. Click a tile to jump to the slide that shows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state view groups all 33 districts into the 5 revenue divisions. The map can be coloured by many measures, including the new ones: schools on track, digital resource use and children needing follow-up. District and division names are real; all demo numbers are generated.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grade is the weaker of two bands: how much of the plan was taught, and how much of what was taught was learned. It grades progress against the plan, not teachers. Schools graded C or D come with a suggested corrective 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new analyses. Attendance follow-up lists children whose attendance is irregular, falling or has stopped, with the lessons they missed. Digital infrastructure shows whether existing labs and smart classes are used, for which subjects, and where the gaps 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Saathi plans the year from the academic calendar, drafts lesson plans and worksheets grounded in the approved textbooks, and answers curriculum questions. Everything AI-generated is a draft until the teacher approves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Assessments are built from a question bank tagged by learning outcome. Marking is automatic; uncertain cases are routed to the teacher. The weekly priority list tells the teacher which child needs support, in which outcome, with the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Teachers see their own grades with next steps, the children who need a follow-up call, and their recognition: badges earned from records and appreciation from the head teacher or officers.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student app is designed for phones and opens in Hindi. The home screen shows the child's level, streak, this week's class challenge and what to do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Children can improve on their own — revising past mistakes, reading the textbook, setting goals — or with others: classmates answer doubts on a moderated class board, and teachers set up study buddies. Posts are screened for phone numbers, links and unkind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Gyan SLM is a small open model that runs locally, combined with retrieval from the approved SCERT textbooks and a validation step that checks citations. 37 textbooks for classes 1 to 8 are loaded. Honest note: answers can still be wrong even when cited, so student use should start with teacher supervision.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Trust is built in: offline mode cannot bypass permissions because every queued change is re-validated on the server; data is minimised; and child-safety screens protect students on the AI tutor and the class 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the platform runs as a public demo on Vercel. For a real rollout it runs as Docker containers on approved government infrastructure, where the AI model, vector search and voice run locally.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 the client these three logins; each button opens the right portal of the live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three-phase roadmap: prove it in a supervised pilot, scale it with an Android app, regional languages and school nodes, then move to validated predictive tools and parent engagement. Timelines are indicative and depend on approvals.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future possibilities, not current features. Each builds on what already exists: the local model, the learner record and the offline sync.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move from demo to pilot we need approvals, a small review team, hosting and the standard security and privacy audits. We are open about current limits so expectations are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live demo open, and invite the client to sign in with the demo accounts.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HS_TITLE">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417320"/>
            <a:ext cx="7498080" cy="1188720"/>
          </a:xfrm>
          <a:prstGeom prst="rect">
            <a:avLst/>
          </a:prstGeom>
          <a:noFill/>
          <a:ln/>
        </p:spPr>
        <p:txBody>
          <a:bodyPr wrap="square" rtlCol="0"/>
          <a:lstStyle>
            <a:lvl1pPr algn="l" indent="0" marL="0">
              <a:buNone/>
              <a:defRPr lang="en-US" sz="54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5400" dirty="0"/>
          </a:p>
        </p:txBody>
      </p:sp>
      <p:sp>
        <p:nvSpPr>
          <p:cNvPr id="3" name="Text 0"/>
          <p:cNvSpPr/>
          <p:nvPr>
            <p:ph idx="101" type="body" hasCustomPrompt="1"/>
          </p:nvPr>
        </p:nvSpPr>
        <p:spPr>
          <a:xfrm>
            <a:off x="731520" y="2743200"/>
            <a:ext cx="6949440" cy="1371600"/>
          </a:xfrm>
          <a:prstGeom prst="rect">
            <a:avLst/>
          </a:prstGeom>
          <a:noFill/>
          <a:ln/>
        </p:spPr>
        <p:txBody>
          <a:bodyPr wrap="square" rtlCol="0"/>
          <a:lstStyle>
            <a:lvl1pPr indent="0" marL="0">
              <a:buNone/>
              <a:defRPr lang="en-US" sz="2000" dirty="0">
                <a:solidFill>
                  <a:schemeClr val="bg2"/>
                </a:solidFill>
              </a:defRPr>
            </a:lvl1pPr>
          </a:lstStyle>
          <a:p>
            <a:pPr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HS_SECTION">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766560" cy="1188720"/>
          </a:xfrm>
          <a:prstGeom prst="rect">
            <a:avLst/>
          </a:prstGeom>
          <a:noFill/>
          <a:ln/>
        </p:spPr>
        <p:txBody>
          <a:bodyPr wrap="square" rtlCol="0"/>
          <a:lstStyle>
            <a:lvl1pPr algn="l" indent="0" marL="0">
              <a:buNone/>
              <a:defRPr lang="en-US" sz="44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400" dirty="0"/>
          </a:p>
        </p:txBody>
      </p:sp>
      <p:sp>
        <p:nvSpPr>
          <p:cNvPr id="3" name="Text 0"/>
          <p:cNvSpPr/>
          <p:nvPr>
            <p:ph idx="101" type="body" hasCustomPrompt="1"/>
          </p:nvPr>
        </p:nvSpPr>
        <p:spPr>
          <a:xfrm>
            <a:off x="731520" y="2788920"/>
            <a:ext cx="6400800" cy="1097280"/>
          </a:xfrm>
          <a:prstGeom prst="rect">
            <a:avLst/>
          </a:prstGeom>
          <a:noFill/>
          <a:ln/>
        </p:spPr>
        <p:txBody>
          <a:bodyPr wrap="square" rtlCol="0"/>
          <a:lstStyle>
            <a:lvl1pPr indent="0" marL="0">
              <a:buNone/>
              <a:defRPr lang="en-US" sz="1800" dirty="0">
                <a:solidFill>
                  <a:schemeClr val="bg2"/>
                </a:solidFill>
              </a:defRPr>
            </a:lvl1pPr>
          </a:lstStyle>
          <a:p>
            <a:pPr indent="0" marL="0">
              <a:buNone/>
            </a:pPr>
            <a:endParaRPr lang="en-US" sz="1800" dirty="0"/>
          </a:p>
        </p:txBody>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HS_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595360" cy="777240"/>
          </a:xfrm>
          <a:prstGeom prst="rect">
            <a:avLst/>
          </a:prstGeom>
          <a:noFill/>
          <a:ln/>
        </p:spPr>
        <p:txBody>
          <a:bodyPr wrap="square" rtlCol="0"/>
          <a:lstStyle>
            <a:lvl1pPr algn="l" indent="0" marL="0">
              <a:buNone/>
              <a:defRPr lang="en-US" sz="3000" b="1" dirty="0">
                <a:solidFill>
                  <a:schemeClr val="tx2"/>
                </a:solidFill>
                <a:latin typeface="Cambria" pitchFamily="34" charset="0"/>
                <a:ea typeface="Cambria" pitchFamily="34" charset="-122"/>
                <a:cs typeface="Cambria" pitchFamily="34" charset="-120"/>
              </a:defRPr>
            </a:lvl1pPr>
          </a:lstStyle>
          <a:p>
            <a:pPr algn="l" indent="0" marL="0">
              <a:buNone/>
            </a:pPr>
            <a:endParaRPr lang="en-US" sz="3000" dirty="0"/>
          </a:p>
        </p:txBody>
      </p:sp>
      <p:sp>
        <p:nvSpPr>
          <p:cNvPr id="3" name="Text 0"/>
          <p:cNvSpPr/>
          <p:nvPr/>
        </p:nvSpPr>
        <p:spPr>
          <a:xfrm>
            <a:off x="548640" y="6382512"/>
            <a:ext cx="5486400" cy="274320"/>
          </a:xfrm>
          <a:prstGeom prst="rect">
            <a:avLst/>
          </a:prstGeom>
          <a:noFill/>
          <a:ln/>
        </p:spPr>
        <p:txBody>
          <a:bodyPr wrap="square" lIns="0" tIns="0" rIns="0" bIns="0" rtlCol="0" anchor="ctr"/>
          <a:lstStyle/>
          <a:p>
            <a:pPr indent="0" marL="0">
              <a:buNone/>
            </a:pPr>
            <a:r>
              <a:rPr lang="en-US" sz="1000" dirty="0">
                <a:solidFill>
                  <a:schemeClr val="accent5"/>
                </a:solidFill>
                <a:latin typeface="Nirmala UI" pitchFamily="34" charset="0"/>
                <a:ea typeface="Nirmala UI" pitchFamily="34" charset="-122"/>
                <a:cs typeface="Nirmala UI" pitchFamily="34" charset="-120"/>
              </a:rPr>
              <a:t>HAMAR SHIKSHA  ·  हमर शिक्षा</a:t>
            </a:r>
            <a:endParaRPr lang="en-US" sz="1000" dirty="0"/>
          </a:p>
        </p:txBody>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hyperlink" Target="https://hamar-shiksha.vercel.app" TargetMode="External"/><Relationship Id="rId3" Type="http://schemas.openxmlformats.org/officeDocument/2006/relationships/hyperlink" Target="https://github.com/Niladri962/HAMAR_Shiksha" TargetMode="External"/><Relationship Id="rId4" Type="http://schemas.openxmlformats.org/officeDocument/2006/relationships/image" Target="../media/image-1-1.png"/><Relationship Id="rId5" Type="http://schemas.openxmlformats.org/officeDocument/2006/relationships/slideLayout" Target="../slideLayouts/slideLayout2.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hyperlink" Target="https://hamar-shiksha.vercel.app" TargetMode="External"/><Relationship Id="rId2" Type="http://schemas.openxmlformats.org/officeDocument/2006/relationships/slide" Target="slide3.xml"/><Relationship Id="rId3" Type="http://schemas.openxmlformats.org/officeDocument/2006/relationships/slide" Target="slide3.xml"/><Relationship Id="rId5" Type="http://schemas.openxmlformats.org/officeDocument/2006/relationships/slide" Target="slide3.xml"/><Relationship Id="rId6" Type="http://schemas.openxmlformats.org/officeDocument/2006/relationships/slide" Target="slide3.xml"/><Relationship Id="rId7" Type="http://schemas.openxmlformats.org/officeDocument/2006/relationships/slide" Target="slide7.xml"/><Relationship Id="rId8" Type="http://schemas.openxmlformats.org/officeDocument/2006/relationships/slide" Target="slide7.xml"/><Relationship Id="rId10" Type="http://schemas.openxmlformats.org/officeDocument/2006/relationships/slide" Target="slide7.xml"/><Relationship Id="rId11" Type="http://schemas.openxmlformats.org/officeDocument/2006/relationships/slide" Target="slide7.xml"/><Relationship Id="rId12" Type="http://schemas.openxmlformats.org/officeDocument/2006/relationships/slide" Target="slide11.xml"/><Relationship Id="rId13" Type="http://schemas.openxmlformats.org/officeDocument/2006/relationships/slide" Target="slide11.xml"/><Relationship Id="rId15" Type="http://schemas.openxmlformats.org/officeDocument/2006/relationships/slide" Target="slide11.xml"/><Relationship Id="rId16" Type="http://schemas.openxmlformats.org/officeDocument/2006/relationships/slide" Target="slide11.xml"/><Relationship Id="rId17" Type="http://schemas.openxmlformats.org/officeDocument/2006/relationships/slide" Target="slide15.xml"/><Relationship Id="rId18" Type="http://schemas.openxmlformats.org/officeDocument/2006/relationships/slide" Target="slide15.xml"/><Relationship Id="rId20" Type="http://schemas.openxmlformats.org/officeDocument/2006/relationships/slide" Target="slide15.xml"/><Relationship Id="rId21" Type="http://schemas.openxmlformats.org/officeDocument/2006/relationships/slide" Target="slide15.xml"/><Relationship Id="rId22" Type="http://schemas.openxmlformats.org/officeDocument/2006/relationships/slide" Target="slide18.xml"/><Relationship Id="rId23" Type="http://schemas.openxmlformats.org/officeDocument/2006/relationships/slide" Target="slide18.xml"/><Relationship Id="rId25" Type="http://schemas.openxmlformats.org/officeDocument/2006/relationships/slide" Target="slide18.xml"/><Relationship Id="rId26" Type="http://schemas.openxmlformats.org/officeDocument/2006/relationships/slide" Target="slide18.xml"/><Relationship Id="rId27" Type="http://schemas.openxmlformats.org/officeDocument/2006/relationships/slide" Target="slide21.xml"/><Relationship Id="rId28" Type="http://schemas.openxmlformats.org/officeDocument/2006/relationships/slide" Target="slide21.xml"/><Relationship Id="rId30" Type="http://schemas.openxmlformats.org/officeDocument/2006/relationships/slide" Target="slide21.xml"/><Relationship Id="rId31" Type="http://schemas.openxmlformats.org/officeDocument/2006/relationships/slide" Target="slide21.xml"/><Relationship Id="rId4" Type="http://schemas.openxmlformats.org/officeDocument/2006/relationships/image" Target="../media/image-2-1.png"/><Relationship Id="rId9" Type="http://schemas.openxmlformats.org/officeDocument/2006/relationships/image" Target="../media/image-2-2.png"/><Relationship Id="rId14" Type="http://schemas.openxmlformats.org/officeDocument/2006/relationships/image" Target="../media/image-2-3.png"/><Relationship Id="rId19" Type="http://schemas.openxmlformats.org/officeDocument/2006/relationships/image" Target="../media/image-2-4.png"/><Relationship Id="rId24" Type="http://schemas.openxmlformats.org/officeDocument/2006/relationships/image" Target="../media/image-2-5.png"/><Relationship Id="rId29" Type="http://schemas.openxmlformats.org/officeDocument/2006/relationships/image" Target="../media/image-2-6.png"/><Relationship Id="rId32" Type="http://schemas.openxmlformats.org/officeDocument/2006/relationships/slideLayout" Target="../slideLayouts/slideLayout4.xml"/><Relationship Id="rId3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 Target="slide4.xml"/><Relationship Id="rId2" Type="http://schemas.openxmlformats.org/officeDocument/2006/relationships/slide" Target="slide5.xml"/><Relationship Id="rId3" Type="http://schemas.openxmlformats.org/officeDocument/2006/relationships/slide" Target="slide6.xml"/><Relationship Id="rId5" Type="http://schemas.openxmlformats.org/officeDocument/2006/relationships/slide" Target="slide2.xml"/><Relationship Id="rId4" Type="http://schemas.openxmlformats.org/officeDocument/2006/relationships/image" Target="../media/image-3-1.png"/><Relationship Id="rId6" Type="http://schemas.openxmlformats.org/officeDocument/2006/relationships/slideLayout" Target="../slideLayouts/slideLayout3.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hyperlink" Target="https://hamar-shiksha.vercel.app" TargetMode="External"/><Relationship Id="rId3" Type="http://schemas.openxmlformats.org/officeDocument/2006/relationships/image" Target="../media/image-4-1.png"/><Relationship Id="rId4" Type="http://schemas.openxmlformats.org/officeDocument/2006/relationships/image" Target="../media/image-4-2.png"/><Relationship Id="rId5" Type="http://schemas.openxmlformats.org/officeDocument/2006/relationships/image" Target="../media/image-4-3.png"/><Relationship Id="rId6" Type="http://schemas.openxmlformats.org/officeDocument/2006/relationships/image" Target="../media/image-4-4.png"/><Relationship Id="rId7" Type="http://schemas.openxmlformats.org/officeDocument/2006/relationships/image" Target="../media/image-4-5.png"/><Relationship Id="rId8" Type="http://schemas.openxmlformats.org/officeDocument/2006/relationships/image" Target="../media/image-4-6.png"/><Relationship Id="rId9" Type="http://schemas.openxmlformats.org/officeDocument/2006/relationships/image" Target="../media/image-4-7.png"/><Relationship Id="rId10" Type="http://schemas.openxmlformats.org/officeDocument/2006/relationships/image" Target="../media/image-4-8.png"/><Relationship Id="rId11" Type="http://schemas.openxmlformats.org/officeDocument/2006/relationships/image" Target="../media/image-4-9.png"/><Relationship Id="rId12" Type="http://schemas.openxmlformats.org/officeDocument/2006/relationships/image" Target="../media/image-4-10.png"/><Relationship Id="rId13" Type="http://schemas.openxmlformats.org/officeDocument/2006/relationships/slideLayout" Target="../slideLayouts/slideLayout4.xml"/><Relationship Id="rId1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hyperlink" Target="https://hamar-shiksha.vercel.app" TargetMode="External"/><Relationship Id="rId3" Type="http://schemas.openxmlformats.org/officeDocument/2006/relationships/slide" Target="slide7.xml"/><Relationship Id="rId5" Type="http://schemas.openxmlformats.org/officeDocument/2006/relationships/slide" Target="slide7.xml"/><Relationship Id="rId6" Type="http://schemas.openxmlformats.org/officeDocument/2006/relationships/slide" Target="slide7.xml"/><Relationship Id="rId7" Type="http://schemas.openxmlformats.org/officeDocument/2006/relationships/slide" Target="slide11.xml"/><Relationship Id="rId9" Type="http://schemas.openxmlformats.org/officeDocument/2006/relationships/slide" Target="slide11.xml"/><Relationship Id="rId10" Type="http://schemas.openxmlformats.org/officeDocument/2006/relationships/slide" Target="slide11.xml"/><Relationship Id="rId11" Type="http://schemas.openxmlformats.org/officeDocument/2006/relationships/slide" Target="slide15.xml"/><Relationship Id="rId13" Type="http://schemas.openxmlformats.org/officeDocument/2006/relationships/slide" Target="slide15.xml"/><Relationship Id="rId14" Type="http://schemas.openxmlformats.org/officeDocument/2006/relationships/slide" Target="slide15.xml"/><Relationship Id="rId15" Type="http://schemas.openxmlformats.org/officeDocument/2006/relationships/slide" Target="slide20.xml"/><Relationship Id="rId17" Type="http://schemas.openxmlformats.org/officeDocument/2006/relationships/slide" Target="slide20.xml"/><Relationship Id="rId18" Type="http://schemas.openxmlformats.org/officeDocument/2006/relationships/slide" Target="slide20.xml"/><Relationship Id="rId4" Type="http://schemas.openxmlformats.org/officeDocument/2006/relationships/image" Target="../media/image-5-1.png"/><Relationship Id="rId8" Type="http://schemas.openxmlformats.org/officeDocument/2006/relationships/image" Target="../media/image-5-2.png"/><Relationship Id="rId12" Type="http://schemas.openxmlformats.org/officeDocument/2006/relationships/image" Target="../media/image-5-3.png"/><Relationship Id="rId16" Type="http://schemas.openxmlformats.org/officeDocument/2006/relationships/image" Target="../media/image-5-4.png"/><Relationship Id="rId19" Type="http://schemas.openxmlformats.org/officeDocument/2006/relationships/slideLayout" Target="../slideLayouts/slideLayout4.xml"/><Relationship Id="rId20"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hyperlink" Target="https://hamar-shiksha.vercel.app" TargetMode="External"/><Relationship Id="rId4" Type="http://schemas.openxmlformats.org/officeDocument/2006/relationships/slide" Target="slide12.xml"/><Relationship Id="rId6" Type="http://schemas.openxmlformats.org/officeDocument/2006/relationships/slide" Target="slide9.xml"/><Relationship Id="rId8" Type="http://schemas.openxmlformats.org/officeDocument/2006/relationships/slide" Target="slide8.xml"/><Relationship Id="rId10" Type="http://schemas.openxmlformats.org/officeDocument/2006/relationships/slide" Target="slide19.xml"/><Relationship Id="rId12" Type="http://schemas.openxmlformats.org/officeDocument/2006/relationships/slide" Target="slide12.xml"/><Relationship Id="rId14" Type="http://schemas.openxmlformats.org/officeDocument/2006/relationships/slide" Target="slide4.xml"/><Relationship Id="rId16" Type="http://schemas.openxmlformats.org/officeDocument/2006/relationships/slide" Target="slide13.xml"/><Relationship Id="rId18" Type="http://schemas.openxmlformats.org/officeDocument/2006/relationships/slide" Target="slide13.xml"/><Relationship Id="rId20" Type="http://schemas.openxmlformats.org/officeDocument/2006/relationships/slide" Target="slide8.xml"/><Relationship Id="rId22" Type="http://schemas.openxmlformats.org/officeDocument/2006/relationships/slide" Target="slide10.xml"/><Relationship Id="rId24" Type="http://schemas.openxmlformats.org/officeDocument/2006/relationships/slide" Target="slide17.xml"/><Relationship Id="rId26" Type="http://schemas.openxmlformats.org/officeDocument/2006/relationships/slide" Target="slide10.xml"/><Relationship Id="rId28" Type="http://schemas.openxmlformats.org/officeDocument/2006/relationships/slide" Target="slide14.xml"/><Relationship Id="rId30" Type="http://schemas.openxmlformats.org/officeDocument/2006/relationships/slide" Target="slide14.xml"/><Relationship Id="rId32" Type="http://schemas.openxmlformats.org/officeDocument/2006/relationships/slide" Target="slide8.xml"/><Relationship Id="rId34" Type="http://schemas.openxmlformats.org/officeDocument/2006/relationships/slide" Target="slide20.xml"/><Relationship Id="rId3" Type="http://schemas.openxmlformats.org/officeDocument/2006/relationships/image" Target="../media/image-6-1.png"/><Relationship Id="rId5" Type="http://schemas.openxmlformats.org/officeDocument/2006/relationships/image" Target="../media/image-6-2.png"/><Relationship Id="rId7" Type="http://schemas.openxmlformats.org/officeDocument/2006/relationships/image" Target="../media/image-6-3.png"/><Relationship Id="rId9" Type="http://schemas.openxmlformats.org/officeDocument/2006/relationships/image" Target="../media/image-6-4.png"/><Relationship Id="rId11" Type="http://schemas.openxmlformats.org/officeDocument/2006/relationships/image" Target="../media/image-6-5.png"/><Relationship Id="rId13" Type="http://schemas.openxmlformats.org/officeDocument/2006/relationships/image" Target="../media/image-6-6.png"/><Relationship Id="rId15" Type="http://schemas.openxmlformats.org/officeDocument/2006/relationships/image" Target="../media/image-6-7.png"/><Relationship Id="rId17" Type="http://schemas.openxmlformats.org/officeDocument/2006/relationships/image" Target="../media/image-6-8.png"/><Relationship Id="rId19" Type="http://schemas.openxmlformats.org/officeDocument/2006/relationships/image" Target="../media/image-6-9.png"/><Relationship Id="rId21" Type="http://schemas.openxmlformats.org/officeDocument/2006/relationships/image" Target="../media/image-6-10.png"/><Relationship Id="rId23" Type="http://schemas.openxmlformats.org/officeDocument/2006/relationships/image" Target="../media/image-6-11.png"/><Relationship Id="rId25" Type="http://schemas.openxmlformats.org/officeDocument/2006/relationships/image" Target="../media/image-6-12.png"/><Relationship Id="rId27" Type="http://schemas.openxmlformats.org/officeDocument/2006/relationships/image" Target="../media/image-6-13.png"/><Relationship Id="rId29" Type="http://schemas.openxmlformats.org/officeDocument/2006/relationships/image" Target="../media/image-6-14.png"/><Relationship Id="rId31" Type="http://schemas.openxmlformats.org/officeDocument/2006/relationships/image" Target="../media/image-6-15.png"/><Relationship Id="rId33" Type="http://schemas.openxmlformats.org/officeDocument/2006/relationships/image" Target="../media/image-6-16.png"/><Relationship Id="rId35" Type="http://schemas.openxmlformats.org/officeDocument/2006/relationships/slideLayout" Target="../slideLayouts/slideLayout4.xml"/><Relationship Id="rId3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 Target="slide8.xml"/><Relationship Id="rId2" Type="http://schemas.openxmlformats.org/officeDocument/2006/relationships/slide" Target="slide9.xml"/><Relationship Id="rId3" Type="http://schemas.openxmlformats.org/officeDocument/2006/relationships/slide" Target="slide10.xml"/><Relationship Id="rId5" Type="http://schemas.openxmlformats.org/officeDocument/2006/relationships/slide" Target="slide2.xml"/><Relationship Id="rId4" Type="http://schemas.openxmlformats.org/officeDocument/2006/relationships/image" Target="../media/image-7-1.png"/><Relationship Id="rId6" Type="http://schemas.openxmlformats.org/officeDocument/2006/relationships/slideLayout" Target="../slideLayouts/slideLayout3.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hyperlink" Target="https://hamar-shiksha.vercel.app" TargetMode="External"/><Relationship Id="rId3" Type="http://schemas.openxmlformats.org/officeDocument/2006/relationships/image" Target="../media/image-8-1.png"/><Relationship Id="rId4" Type="http://schemas.openxmlformats.org/officeDocument/2006/relationships/slideLayout" Target="../slideLayouts/slideLayout4.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hyperlink" Target="https://hamar-shiksha.vercel.app" TargetMode="External"/><Relationship Id="rId3" Type="http://schemas.openxmlformats.org/officeDocument/2006/relationships/image" Target="../media/image-9-1.png"/><Relationship Id="rId4" Type="http://schemas.openxmlformats.org/officeDocument/2006/relationships/slideLayout" Target="../slideLayouts/slideLayout4.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hyperlink" Target="https://hamar-shiksha.vercel.app" TargetMode="External"/><Relationship Id="rId3" Type="http://schemas.openxmlformats.org/officeDocument/2006/relationships/image" Target="../media/image-10-1.png"/><Relationship Id="rId4" Type="http://schemas.openxmlformats.org/officeDocument/2006/relationships/image" Target="../media/image-10-2.png"/><Relationship Id="rId5" Type="http://schemas.openxmlformats.org/officeDocument/2006/relationships/slideLayout" Target="../slideLayouts/slideLayout4.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 Target="slide12.xml"/><Relationship Id="rId2" Type="http://schemas.openxmlformats.org/officeDocument/2006/relationships/slide" Target="slide13.xml"/><Relationship Id="rId3" Type="http://schemas.openxmlformats.org/officeDocument/2006/relationships/slide" Target="slide14.xml"/><Relationship Id="rId5" Type="http://schemas.openxmlformats.org/officeDocument/2006/relationships/slide" Target="slide2.xml"/><Relationship Id="rId4" Type="http://schemas.openxmlformats.org/officeDocument/2006/relationships/image" Target="../media/image-11-1.png"/><Relationship Id="rId6" Type="http://schemas.openxmlformats.org/officeDocument/2006/relationships/slideLayout" Target="../slideLayouts/slideLayout3.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hyperlink" Target="https://hamar-shiksha.vercel.app" TargetMode="External"/><Relationship Id="rId3" Type="http://schemas.openxmlformats.org/officeDocument/2006/relationships/image" Target="../media/image-12-1.png"/><Relationship Id="rId4" Type="http://schemas.openxmlformats.org/officeDocument/2006/relationships/image" Target="../media/image-12-2.png"/><Relationship Id="rId5" Type="http://schemas.openxmlformats.org/officeDocument/2006/relationships/image" Target="../media/image-12-3.png"/><Relationship Id="rId6" Type="http://schemas.openxmlformats.org/officeDocument/2006/relationships/image" Target="../media/image-12-4.png"/><Relationship Id="rId7" Type="http://schemas.openxmlformats.org/officeDocument/2006/relationships/image" Target="../media/image-12-5.png"/><Relationship Id="rId8" Type="http://schemas.openxmlformats.org/officeDocument/2006/relationships/image" Target="../media/image-12-6.png"/><Relationship Id="rId9" Type="http://schemas.openxmlformats.org/officeDocument/2006/relationships/slideLayout" Target="../slideLayouts/slideLayout4.xml"/><Relationship Id="rId10"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hyperlink" Target="https://hamar-shiksha.vercel.app" TargetMode="External"/><Relationship Id="rId3" Type="http://schemas.openxmlformats.org/officeDocument/2006/relationships/image" Target="../media/image-13-1.png"/><Relationship Id="rId4" Type="http://schemas.openxmlformats.org/officeDocument/2006/relationships/slideLayout" Target="../slideLayouts/slideLayout4.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hyperlink" Target="https://hamar-shiksha.vercel.app" TargetMode="External"/><Relationship Id="rId3" Type="http://schemas.openxmlformats.org/officeDocument/2006/relationships/image" Target="../media/image-14-1.png"/><Relationship Id="rId4" Type="http://schemas.openxmlformats.org/officeDocument/2006/relationships/image" Target="../media/image-14-2.png"/><Relationship Id="rId5" Type="http://schemas.openxmlformats.org/officeDocument/2006/relationships/slideLayout" Target="../slideLayouts/slideLayout4.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 Target="slide16.xml"/><Relationship Id="rId2" Type="http://schemas.openxmlformats.org/officeDocument/2006/relationships/slide" Target="slide17.xml"/><Relationship Id="rId4" Type="http://schemas.openxmlformats.org/officeDocument/2006/relationships/slide" Target="slide2.xml"/><Relationship Id="rId3" Type="http://schemas.openxmlformats.org/officeDocument/2006/relationships/image" Target="../media/image-15-1.png"/><Relationship Id="rId5" Type="http://schemas.openxmlformats.org/officeDocument/2006/relationships/slideLayout" Target="../slideLayouts/slideLayout3.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hyperlink" Target="https://hamar-shiksha.vercel.app" TargetMode="External"/><Relationship Id="rId3" Type="http://schemas.openxmlformats.org/officeDocument/2006/relationships/image" Target="../media/image-16-1.png"/><Relationship Id="rId4" Type="http://schemas.openxmlformats.org/officeDocument/2006/relationships/image" Target="../media/image-16-2.png"/><Relationship Id="rId5" Type="http://schemas.openxmlformats.org/officeDocument/2006/relationships/image" Target="../media/image-16-3.png"/><Relationship Id="rId6" Type="http://schemas.openxmlformats.org/officeDocument/2006/relationships/slideLayout" Target="../slideLayouts/slideLayout4.xml"/><Relationship Id="rId7"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hyperlink" Target="https://hamar-shiksha.vercel.app" TargetMode="External"/><Relationship Id="rId3" Type="http://schemas.openxmlformats.org/officeDocument/2006/relationships/image" Target="../media/image-17-1.png"/><Relationship Id="rId4" Type="http://schemas.openxmlformats.org/officeDocument/2006/relationships/image" Target="../media/image-17-2.png"/><Relationship Id="rId5" Type="http://schemas.openxmlformats.org/officeDocument/2006/relationships/image" Target="../media/image-17-3.png"/><Relationship Id="rId6" Type="http://schemas.openxmlformats.org/officeDocument/2006/relationships/image" Target="../media/image-17-4.png"/><Relationship Id="rId7" Type="http://schemas.openxmlformats.org/officeDocument/2006/relationships/image" Target="../media/image-17-5.png"/><Relationship Id="rId8" Type="http://schemas.openxmlformats.org/officeDocument/2006/relationships/image" Target="../media/image-17-6.png"/><Relationship Id="rId9" Type="http://schemas.openxmlformats.org/officeDocument/2006/relationships/image" Target="../media/image-17-7.png"/><Relationship Id="rId10" Type="http://schemas.openxmlformats.org/officeDocument/2006/relationships/slideLayout" Target="../slideLayouts/slideLayout4.xml"/><Relationship Id="rId11"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 Target="slide19.xml"/><Relationship Id="rId2" Type="http://schemas.openxmlformats.org/officeDocument/2006/relationships/slide" Target="slide20.xml"/><Relationship Id="rId4" Type="http://schemas.openxmlformats.org/officeDocument/2006/relationships/slide" Target="slide2.xml"/><Relationship Id="rId3" Type="http://schemas.openxmlformats.org/officeDocument/2006/relationships/image" Target="../media/image-18-1.png"/><Relationship Id="rId5" Type="http://schemas.openxmlformats.org/officeDocument/2006/relationships/slideLayout" Target="../slideLayouts/slideLayout3.xml"/><Relationship Id="rId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hyperlink" Target="https://hamar-shiksha.vercel.app" TargetMode="External"/><Relationship Id="rId3" Type="http://schemas.openxmlformats.org/officeDocument/2006/relationships/image" Target="../media/image-19-1.png"/><Relationship Id="rId4" Type="http://schemas.openxmlformats.org/officeDocument/2006/relationships/image" Target="../media/image-19-2.png"/><Relationship Id="rId5" Type="http://schemas.openxmlformats.org/officeDocument/2006/relationships/image" Target="../media/image-19-3.png"/><Relationship Id="rId6" Type="http://schemas.openxmlformats.org/officeDocument/2006/relationships/image" Target="../media/image-19-4.png"/><Relationship Id="rId7" Type="http://schemas.openxmlformats.org/officeDocument/2006/relationships/image" Target="../media/image-19-5.png"/><Relationship Id="rId8" Type="http://schemas.openxmlformats.org/officeDocument/2006/relationships/image" Target="../media/image-19-6.png"/><Relationship Id="rId9" Type="http://schemas.openxmlformats.org/officeDocument/2006/relationships/image" Target="../media/image-19-7.png"/><Relationship Id="rId10" Type="http://schemas.openxmlformats.org/officeDocument/2006/relationships/image" Target="../media/image-19-8.png"/><Relationship Id="rId11" Type="http://schemas.openxmlformats.org/officeDocument/2006/relationships/image" Target="../media/image-19-9.png"/><Relationship Id="rId12" Type="http://schemas.openxmlformats.org/officeDocument/2006/relationships/slideLayout" Target="../slideLayouts/slideLayout4.xml"/><Relationship Id="rId1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hyperlink" Target="https://hamar-shiksha.vercel.app" TargetMode="External"/><Relationship Id="rId3" Type="http://schemas.openxmlformats.org/officeDocument/2006/relationships/image" Target="../media/image-20-1.png"/><Relationship Id="rId4" Type="http://schemas.openxmlformats.org/officeDocument/2006/relationships/image" Target="../media/image-20-2.png"/><Relationship Id="rId5" Type="http://schemas.openxmlformats.org/officeDocument/2006/relationships/image" Target="../media/image-20-3.png"/><Relationship Id="rId6" Type="http://schemas.openxmlformats.org/officeDocument/2006/relationships/image" Target="../media/image-20-4.png"/><Relationship Id="rId7" Type="http://schemas.openxmlformats.org/officeDocument/2006/relationships/image" Target="../media/image-20-5.png"/><Relationship Id="rId8" Type="http://schemas.openxmlformats.org/officeDocument/2006/relationships/image" Target="../media/image-20-6.png"/><Relationship Id="rId9" Type="http://schemas.openxmlformats.org/officeDocument/2006/relationships/slideLayout" Target="../slideLayouts/slideLayout4.xml"/><Relationship Id="rId10"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 Target="slide22.xml"/><Relationship Id="rId2" Type="http://schemas.openxmlformats.org/officeDocument/2006/relationships/slide" Target="slide23.xml"/><Relationship Id="rId3" Type="http://schemas.openxmlformats.org/officeDocument/2006/relationships/slide" Target="slide24.xml"/><Relationship Id="rId4" Type="http://schemas.openxmlformats.org/officeDocument/2006/relationships/slide" Target="slide25.xml"/><Relationship Id="rId5" Type="http://schemas.openxmlformats.org/officeDocument/2006/relationships/slide" Target="slide26.xml"/><Relationship Id="rId7" Type="http://schemas.openxmlformats.org/officeDocument/2006/relationships/slide" Target="slide2.xml"/><Relationship Id="rId6" Type="http://schemas.openxmlformats.org/officeDocument/2006/relationships/image" Target="../media/image-21-1.png"/><Relationship Id="rId8" Type="http://schemas.openxmlformats.org/officeDocument/2006/relationships/slideLayout" Target="../slideLayouts/slideLayout3.xml"/><Relationship Id="rId9"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hyperlink" Target="https://hamar-shiksha.vercel.app" TargetMode="External"/><Relationship Id="rId4" Type="http://schemas.openxmlformats.org/officeDocument/2006/relationships/hyperlink" Target="https://hamar-shiksha.vercel.app" TargetMode="External"/><Relationship Id="rId6" Type="http://schemas.openxmlformats.org/officeDocument/2006/relationships/hyperlink" Target="https://github.com/Niladri962/HAMAR_Shiksha" TargetMode="External"/><Relationship Id="rId3" Type="http://schemas.openxmlformats.org/officeDocument/2006/relationships/image" Target="../media/image-22-1.png"/><Relationship Id="rId5" Type="http://schemas.openxmlformats.org/officeDocument/2006/relationships/image" Target="../media/image-22-2.png"/><Relationship Id="rId7" Type="http://schemas.openxmlformats.org/officeDocument/2006/relationships/slideLayout" Target="../slideLayouts/slideLayout4.xml"/><Relationship Id="rId8"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hyperlink" Target="https://hamar-shiksha.vercel.app" TargetMode="External"/><Relationship Id="rId3" Type="http://schemas.openxmlformats.org/officeDocument/2006/relationships/hyperlink" Target="https://hamar-shiksha.vercel.app/admin/login" TargetMode="External"/><Relationship Id="rId5" Type="http://schemas.openxmlformats.org/officeDocument/2006/relationships/hyperlink" Target="https://hamar-shiksha.vercel.app/admin/login" TargetMode="External"/><Relationship Id="rId6" Type="http://schemas.openxmlformats.org/officeDocument/2006/relationships/hyperlink" Target="https://hamar-shiksha.vercel.app/admin/login" TargetMode="External"/><Relationship Id="rId7" Type="http://schemas.openxmlformats.org/officeDocument/2006/relationships/hyperlink" Target="https://hamar-shiksha.vercel.app/teacher/login" TargetMode="External"/><Relationship Id="rId9" Type="http://schemas.openxmlformats.org/officeDocument/2006/relationships/hyperlink" Target="https://hamar-shiksha.vercel.app/teacher/login" TargetMode="External"/><Relationship Id="rId10" Type="http://schemas.openxmlformats.org/officeDocument/2006/relationships/hyperlink" Target="https://hamar-shiksha.vercel.app/teacher/login" TargetMode="External"/><Relationship Id="rId11" Type="http://schemas.openxmlformats.org/officeDocument/2006/relationships/hyperlink" Target="https://hamar-shiksha.vercel.app/student/login" TargetMode="External"/><Relationship Id="rId13" Type="http://schemas.openxmlformats.org/officeDocument/2006/relationships/hyperlink" Target="https://hamar-shiksha.vercel.app/student/login" TargetMode="External"/><Relationship Id="rId14" Type="http://schemas.openxmlformats.org/officeDocument/2006/relationships/hyperlink" Target="https://hamar-shiksha.vercel.app/student/login" TargetMode="External"/><Relationship Id="rId4" Type="http://schemas.openxmlformats.org/officeDocument/2006/relationships/image" Target="../media/image-23-1.png"/><Relationship Id="rId8" Type="http://schemas.openxmlformats.org/officeDocument/2006/relationships/image" Target="../media/image-23-2.png"/><Relationship Id="rId12" Type="http://schemas.openxmlformats.org/officeDocument/2006/relationships/image" Target="../media/image-23-3.png"/><Relationship Id="rId15" Type="http://schemas.openxmlformats.org/officeDocument/2006/relationships/slideLayout" Target="../slideLayouts/slideLayout4.xml"/><Relationship Id="rId16"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hyperlink" Target="https://hamar-shiksha.vercel.app" TargetMode="External"/><Relationship Id="rId3" Type="http://schemas.openxmlformats.org/officeDocument/2006/relationships/slideLayout" Target="../slideLayouts/slideLayout4.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hyperlink" Target="https://hamar-shiksha.vercel.app" TargetMode="External"/><Relationship Id="rId3" Type="http://schemas.openxmlformats.org/officeDocument/2006/relationships/image" Target="../media/image-25-1.png"/><Relationship Id="rId4" Type="http://schemas.openxmlformats.org/officeDocument/2006/relationships/image" Target="../media/image-25-2.png"/><Relationship Id="rId5" Type="http://schemas.openxmlformats.org/officeDocument/2006/relationships/image" Target="../media/image-25-3.png"/><Relationship Id="rId6" Type="http://schemas.openxmlformats.org/officeDocument/2006/relationships/image" Target="../media/image-25-4.png"/><Relationship Id="rId7" Type="http://schemas.openxmlformats.org/officeDocument/2006/relationships/image" Target="../media/image-25-5.png"/><Relationship Id="rId8" Type="http://schemas.openxmlformats.org/officeDocument/2006/relationships/image" Target="../media/image-25-6.png"/><Relationship Id="rId9" Type="http://schemas.openxmlformats.org/officeDocument/2006/relationships/image" Target="../media/image-25-7.png"/><Relationship Id="rId10" Type="http://schemas.openxmlformats.org/officeDocument/2006/relationships/image" Target="../media/image-25-8.png"/><Relationship Id="rId11" Type="http://schemas.openxmlformats.org/officeDocument/2006/relationships/slideLayout" Target="../slideLayouts/slideLayout4.xml"/><Relationship Id="rId1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hyperlink" Target="https://hamar-shiksha.vercel.app" TargetMode="External"/><Relationship Id="rId3" Type="http://schemas.openxmlformats.org/officeDocument/2006/relationships/image" Target="../media/image-26-1.png"/><Relationship Id="rId4" Type="http://schemas.openxmlformats.org/officeDocument/2006/relationships/image" Target="../media/image-26-2.png"/><Relationship Id="rId5" Type="http://schemas.openxmlformats.org/officeDocument/2006/relationships/image" Target="../media/image-26-3.png"/><Relationship Id="rId6" Type="http://schemas.openxmlformats.org/officeDocument/2006/relationships/image" Target="../media/image-26-4.png"/><Relationship Id="rId7" Type="http://schemas.openxmlformats.org/officeDocument/2006/relationships/slideLayout" Target="../slideLayouts/slideLayout4.xml"/><Relationship Id="rId8"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hyperlink" Target="https://hamar-shiksha.vercel.app" TargetMode="External"/><Relationship Id="rId2" Type="http://schemas.openxmlformats.org/officeDocument/2006/relationships/hyperlink" Target="https://github.com/Niladri962/HAMAR_Shiksha" TargetMode="External"/><Relationship Id="rId3" Type="http://schemas.openxmlformats.org/officeDocument/2006/relationships/slide" Target="slide2.xml"/><Relationship Id="rId4" Type="http://schemas.openxmlformats.org/officeDocument/2006/relationships/image" Target="../media/image-27-1.png"/><Relationship Id="rId5" Type="http://schemas.openxmlformats.org/officeDocument/2006/relationships/slideLayout" Target="../slideLayouts/slideLayout2.xml"/><Relationship Id="rId6"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417320"/>
            <a:ext cx="7498080" cy="1188720"/>
          </a:xfrm>
          <a:prstGeom prst="rect">
            <a:avLst/>
          </a:prstGeom>
          <a:noFill/>
          <a:ln/>
        </p:spPr>
        <p:txBody>
          <a:bodyPr wrap="square" lIns="0" tIns="0" rIns="0" bIns="0" rtlCol="0" anchor="b"/>
          <a:lstStyle/>
          <a:p>
            <a:pPr algn="l" indent="0" marL="0">
              <a:buNone/>
            </a:pPr>
            <a:r>
              <a:rPr lang="en-US" sz="5400" b="1" dirty="0">
                <a:solidFill>
                  <a:schemeClr val="bg1"/>
                </a:solidFill>
                <a:latin typeface="Cambria" pitchFamily="34" charset="0"/>
                <a:ea typeface="Cambria" pitchFamily="34" charset="-122"/>
                <a:cs typeface="Cambria" pitchFamily="34" charset="-120"/>
              </a:rPr>
              <a:t>HAMAR SHIKSHA</a:t>
            </a:r>
            <a:endParaRPr lang="en-US" sz="5400" dirty="0"/>
          </a:p>
        </p:txBody>
      </p:sp>
      <p:sp>
        <p:nvSpPr>
          <p:cNvPr id="3" name="Text 0"/>
          <p:cNvSpPr/>
          <p:nvPr>
            <p:ph idx="101" type="body" hasCustomPrompt="1"/>
          </p:nvPr>
        </p:nvSpPr>
        <p:spPr>
          <a:xfrm>
            <a:off x="731520" y="2743200"/>
            <a:ext cx="6949440" cy="1371600"/>
          </a:xfrm>
          <a:prstGeom prst="rect">
            <a:avLst/>
          </a:prstGeom>
          <a:noFill/>
          <a:ln/>
        </p:spPr>
        <p:txBody>
          <a:bodyPr wrap="square" lIns="0" tIns="0" rIns="0" bIns="0" rtlCol="0" anchor="t"/>
          <a:lstStyle/>
          <a:p>
            <a:pPr indent="0" marL="0">
              <a:buNone/>
            </a:pPr>
            <a:r>
              <a:rPr lang="en-US" sz="2600" b="1" dirty="0">
                <a:solidFill>
                  <a:srgbClr val="F6B783"/>
                </a:solidFill>
                <a:latin typeface="Nirmala UI" pitchFamily="34" charset="0"/>
                <a:ea typeface="Nirmala UI" pitchFamily="34" charset="-122"/>
                <a:cs typeface="Nirmala UI" pitchFamily="34" charset="-120"/>
              </a:rPr>
              <a:t>हमर शिक्षा</a:t>
            </a:r>
            <a:endParaRPr lang="en-US" sz="2000" dirty="0"/>
          </a:p>
          <a:p>
            <a:pPr indent="0" marL="0">
              <a:buNone/>
            </a:pPr>
            <a:r>
              <a:rPr lang="en-US" sz="2000" dirty="0">
                <a:solidFill>
                  <a:srgbClr val="EFF5F2"/>
                </a:solidFill>
              </a:rPr>
              <a:t>An AI-enabled, offline-capable school education platform for Chhattisgarh — for administrators, teachers and every child.</a:t>
            </a:r>
            <a:endParaRPr lang="en-US" sz="2000" dirty="0"/>
          </a:p>
        </p:txBody>
      </p:sp>
      <p:sp>
        <p:nvSpPr>
          <p:cNvPr id="4" name="button-Start-the-tour-"/>
          <p:cNvSpPr/>
          <p:nvPr/>
        </p:nvSpPr>
        <p:spPr>
          <a:xfrm>
            <a:off x="731520" y="4572000"/>
            <a:ext cx="2194560" cy="502920"/>
          </a:xfrm>
          <a:prstGeom prst="roundRect">
            <a:avLst>
              <a:gd name="adj" fmla="val 41818"/>
            </a:avLst>
          </a:prstGeom>
          <a:solidFill>
            <a:srgbClr val="E8762B"/>
          </a:solidFill>
          <a:ln>
            <a:solidFill>
              <a:srgbClr val="E8762B"/>
            </a:solidFill>
          </a:ln>
        </p:spPr>
        <p:txBody>
          <a:bodyPr wrap="square" lIns="0" tIns="0" rIns="0" bIns="0" rtlCol="0" anchor="ctr"/>
          <a:lstStyle/>
          <a:p>
            <a:pPr algn="ctr" indent="0" marL="0">
              <a:buNone/>
            </a:pPr>
            <a:r>
              <a:rPr lang="en-US" sz="1600" b="1" dirty="0">
                <a:solidFill>
                  <a:srgbClr val="FFFFFF"/>
                </a:solidFill>
              </a:rPr>
              <a:t>Start the tour  →</a:t>
            </a:r>
            <a:endParaRPr lang="en-US" sz="1600" dirty="0"/>
          </a:p>
        </p:txBody>
      </p:sp>
      <p:sp>
        <p:nvSpPr>
          <p:cNvPr id="5" name="button-link-Start-the-tour-">
            <a:hlinkClick r:id="rId1" tooltip="Go to the agenda" action="ppaction://hlinksldjump"/>
          </p:cNvPr>
          <p:cNvSpPr/>
          <p:nvPr/>
        </p:nvSpPr>
        <p:spPr>
          <a:xfrm>
            <a:off x="731520" y="4572000"/>
            <a:ext cx="2194560" cy="502920"/>
          </a:xfrm>
          <a:prstGeom prst="rect">
            <a:avLst/>
          </a:prstGeom>
          <a:solidFill>
            <a:srgbClr val="FFFFFF">
              <a:alpha val="0"/>
            </a:srgbClr>
          </a:solidFill>
          <a:ln w="12700">
            <a:solidFill>
              <a:srgbClr val="FFFFFF">
                <a:alpha val="0"/>
              </a:srgbClr>
            </a:solidFill>
            <a:prstDash val="solid"/>
          </a:ln>
        </p:spPr>
      </p:sp>
      <p:sp>
        <p:nvSpPr>
          <p:cNvPr id="6" name="button-Open-live-demo-"/>
          <p:cNvSpPr/>
          <p:nvPr/>
        </p:nvSpPr>
        <p:spPr>
          <a:xfrm>
            <a:off x="3108960" y="4572000"/>
            <a:ext cx="2194560" cy="502920"/>
          </a:xfrm>
          <a:prstGeom prst="roundRect">
            <a:avLst>
              <a:gd name="adj" fmla="val 41818"/>
            </a:avLst>
          </a:prstGeom>
          <a:solidFill>
            <a:srgbClr val="134E47"/>
          </a:solidFill>
          <a:ln>
            <a:solidFill>
              <a:srgbClr val="134E47"/>
            </a:solidFill>
          </a:ln>
        </p:spPr>
        <p:txBody>
          <a:bodyPr wrap="square" lIns="0" tIns="0" rIns="0" bIns="0" rtlCol="0" anchor="ctr"/>
          <a:lstStyle/>
          <a:p>
            <a:pPr algn="ctr" indent="0" marL="0">
              <a:buNone/>
            </a:pPr>
            <a:r>
              <a:rPr lang="en-US" sz="1600" b="1" dirty="0">
                <a:solidFill>
                  <a:srgbClr val="FFFFFF"/>
                </a:solidFill>
              </a:rPr>
              <a:t>Open live demo ↗</a:t>
            </a:r>
            <a:endParaRPr lang="en-US" sz="1600" dirty="0"/>
          </a:p>
        </p:txBody>
      </p:sp>
      <p:sp>
        <p:nvSpPr>
          <p:cNvPr id="7" name="button-link-Open-live-demo-">
            <a:hlinkClick r:id="rId2" tooltip="https://hamar-shiksha.vercel.app"/>
          </p:cNvPr>
          <p:cNvSpPr/>
          <p:nvPr/>
        </p:nvSpPr>
        <p:spPr>
          <a:xfrm>
            <a:off x="3108960" y="4572000"/>
            <a:ext cx="2194560" cy="502920"/>
          </a:xfrm>
          <a:prstGeom prst="rect">
            <a:avLst/>
          </a:prstGeom>
          <a:solidFill>
            <a:srgbClr val="FFFFFF">
              <a:alpha val="0"/>
            </a:srgbClr>
          </a:solidFill>
          <a:ln w="12700">
            <a:solidFill>
              <a:srgbClr val="FFFFFF">
                <a:alpha val="0"/>
              </a:srgbClr>
            </a:solidFill>
            <a:prstDash val="solid"/>
          </a:ln>
        </p:spPr>
      </p:sp>
      <p:sp>
        <p:nvSpPr>
          <p:cNvPr id="8" name="button-Source-on-GitHub-"/>
          <p:cNvSpPr/>
          <p:nvPr/>
        </p:nvSpPr>
        <p:spPr>
          <a:xfrm>
            <a:off x="5486400" y="4572000"/>
            <a:ext cx="2194560" cy="502920"/>
          </a:xfrm>
          <a:prstGeom prst="roundRect">
            <a:avLst>
              <a:gd name="adj" fmla="val 41818"/>
            </a:avLst>
          </a:prstGeom>
          <a:solidFill>
            <a:srgbClr val="134E47"/>
          </a:solidFill>
          <a:ln>
            <a:solidFill>
              <a:srgbClr val="134E47"/>
            </a:solidFill>
          </a:ln>
        </p:spPr>
        <p:txBody>
          <a:bodyPr wrap="square" lIns="0" tIns="0" rIns="0" bIns="0" rtlCol="0" anchor="ctr"/>
          <a:lstStyle/>
          <a:p>
            <a:pPr algn="ctr" indent="0" marL="0">
              <a:buNone/>
            </a:pPr>
            <a:r>
              <a:rPr lang="en-US" sz="1600" b="1" dirty="0">
                <a:solidFill>
                  <a:srgbClr val="FFFFFF"/>
                </a:solidFill>
              </a:rPr>
              <a:t>Source on GitHub ↗</a:t>
            </a:r>
            <a:endParaRPr lang="en-US" sz="1600" dirty="0"/>
          </a:p>
        </p:txBody>
      </p:sp>
      <p:sp>
        <p:nvSpPr>
          <p:cNvPr id="9" name="button-link-Source-on-GitHub-">
            <a:hlinkClick r:id="rId3" tooltip="https://github.com/Niladri962/HAMAR_Shiksha"/>
          </p:cNvPr>
          <p:cNvSpPr/>
          <p:nvPr/>
        </p:nvSpPr>
        <p:spPr>
          <a:xfrm>
            <a:off x="5486400" y="4572000"/>
            <a:ext cx="2194560" cy="502920"/>
          </a:xfrm>
          <a:prstGeom prst="rect">
            <a:avLst/>
          </a:prstGeom>
          <a:solidFill>
            <a:srgbClr val="FFFFFF">
              <a:alpha val="0"/>
            </a:srgbClr>
          </a:solidFill>
          <a:ln w="12700">
            <a:solidFill>
              <a:srgbClr val="FFFFFF">
                <a:alpha val="0"/>
              </a:srgbClr>
            </a:solidFill>
            <a:prstDash val="solid"/>
          </a:ln>
        </p:spPr>
      </p:sp>
      <p:sp>
        <p:nvSpPr>
          <p:cNvPr id="10" name="Text 8"/>
          <p:cNvSpPr txBox="1"/>
          <p:nvPr/>
        </p:nvSpPr>
        <p:spPr>
          <a:xfrm>
            <a:off x="731520" y="5852160"/>
            <a:ext cx="7315200" cy="365760"/>
          </a:xfrm>
          <a:prstGeom prst="rect">
            <a:avLst/>
          </a:prstGeom>
          <a:noFill/>
          <a:ln/>
        </p:spPr>
        <p:txBody>
          <a:bodyPr wrap="square" lIns="0" tIns="0" rIns="0" bIns="0" rtlCol="0" anchor="t"/>
          <a:lstStyle/>
          <a:p>
            <a:pPr indent="0" marL="0">
              <a:buNone/>
            </a:pPr>
            <a:r>
              <a:rPr lang="en-US" sz="1200" i="1" dirty="0">
                <a:solidFill>
                  <a:srgbClr val="9FC4BC"/>
                </a:solidFill>
              </a:rPr>
              <a:t>Holistic Approach for Meaningful Achievements &amp; Reforms in Education</a:t>
            </a:r>
            <a:endParaRPr lang="en-US" sz="1200" dirty="0"/>
          </a:p>
        </p:txBody>
      </p:sp>
      <p:sp>
        <p:nvSpPr>
          <p:cNvPr id="11" name="phone-student-home.png"/>
          <p:cNvSpPr/>
          <p:nvPr/>
        </p:nvSpPr>
        <p:spPr>
          <a:xfrm>
            <a:off x="8641080" y="594360"/>
            <a:ext cx="2564573" cy="5303520"/>
          </a:xfrm>
          <a:prstGeom prst="roundRect">
            <a:avLst>
              <a:gd name="adj" fmla="val 8914"/>
            </a:avLst>
          </a:prstGeom>
          <a:solidFill>
            <a:srgbClr val="17242A"/>
          </a:solidFill>
          <a:ln w="12700">
            <a:solidFill>
              <a:srgbClr val="17242A"/>
            </a:solidFill>
            <a:prstDash val="solid"/>
          </a:ln>
          <a:effectLst>
            <a:outerShdw sx="100000" sy="100000" kx="0" ky="0" algn="bl" rotWithShape="0" blurRad="101600" dist="25400" dir="5400000">
              <a:srgbClr val="17242A">
                <a:alpha val="16000"/>
              </a:srgbClr>
            </a:outerShdw>
          </a:effectLst>
        </p:spPr>
      </p:sp>
      <p:pic>
        <p:nvPicPr>
          <p:cNvPr id="12" name="screen-student-home.png" descr="C:\Users\Niladri Ghosh\AppData\Local\Temp\claude\c--Users-Niladri-Ghosh-OneDrive-Desktop-Python-Workspace-Hamar-Shiksha\f3e4742b-a4be-48e9-8e6b-760e759cec7c\scratchpad\deck2\shots\student-home.png">    </p:cNvPr>
          <p:cNvPicPr>
            <a:picLocks noChangeAspect="1"/>
          </p:cNvPicPr>
          <p:nvPr/>
        </p:nvPicPr>
        <p:blipFill>
          <a:blip r:embed="rId4"/>
          <a:stretch>
            <a:fillRect/>
          </a:stretch>
        </p:blipFill>
        <p:spPr>
          <a:xfrm>
            <a:off x="8732520" y="685800"/>
            <a:ext cx="2381693" cy="5120640"/>
          </a:xfrm>
          <a:prstGeom prst="rect">
            <a:avLst/>
          </a:prstGeom>
        </p:spPr>
      </p:pic>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59536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Choose where to go</a:t>
            </a:r>
            <a:endParaRPr lang="en-US" sz="3000" dirty="0"/>
          </a:p>
        </p:txBody>
      </p:sp>
      <p:sp>
        <p:nvSpPr>
          <p:cNvPr id="3" name="button-Live-demo-"/>
          <p:cNvSpPr/>
          <p:nvPr/>
        </p:nvSpPr>
        <p:spPr>
          <a:xfrm>
            <a:off x="10561320" y="502920"/>
            <a:ext cx="1097280" cy="365760"/>
          </a:xfrm>
          <a:prstGeom prst="roundRect">
            <a:avLst>
              <a:gd name="adj" fmla="val 57500"/>
            </a:avLst>
          </a:prstGeom>
          <a:solidFill>
            <a:srgbClr val="0B3B36"/>
          </a:solidFill>
          <a:ln>
            <a:solidFill>
              <a:srgbClr val="0B3B36"/>
            </a:solidFill>
          </a:ln>
        </p:spPr>
        <p:txBody>
          <a:bodyPr wrap="square" lIns="0" tIns="0" rIns="0" bIns="0" rtlCol="0" anchor="ctr"/>
          <a:lstStyle/>
          <a:p>
            <a:pPr algn="ctr" indent="0" marL="0">
              <a:buNone/>
            </a:pPr>
            <a:r>
              <a:rPr lang="en-US" sz="1200" b="1" dirty="0">
                <a:solidFill>
                  <a:srgbClr val="FFFFFF"/>
                </a:solidFill>
              </a:rPr>
              <a:t>Live demo ↗</a:t>
            </a:r>
            <a:endParaRPr lang="en-US" sz="1200" dirty="0"/>
          </a:p>
        </p:txBody>
      </p:sp>
      <p:sp>
        <p:nvSpPr>
          <p:cNvPr id="4" name="button-link-Live-demo-">
            <a:hlinkClick r:id="rId1" tooltip="Open the live demo"/>
          </p:cNvPr>
          <p:cNvSpPr/>
          <p:nvPr/>
        </p:nvSpPr>
        <p:spPr>
          <a:xfrm>
            <a:off x="10561320" y="502920"/>
            <a:ext cx="1097280" cy="365760"/>
          </a:xfrm>
          <a:prstGeom prst="rect">
            <a:avLst/>
          </a:prstGeom>
          <a:solidFill>
            <a:srgbClr val="FFFFFF">
              <a:alpha val="0"/>
            </a:srgbClr>
          </a:solidFill>
          <a:ln w="12700">
            <a:solidFill>
              <a:srgbClr val="FFFFFF">
                <a:alpha val="0"/>
              </a:srgbClr>
            </a:solidFill>
            <a:prstDash val="solid"/>
          </a:ln>
        </p:spPr>
      </p:sp>
      <p:sp>
        <p:nvSpPr>
          <p:cNvPr id="5" name="Text 3"/>
          <p:cNvSpPr txBox="1"/>
          <p:nvPr/>
        </p:nvSpPr>
        <p:spPr>
          <a:xfrm>
            <a:off x="548640" y="1143000"/>
            <a:ext cx="9144000" cy="365760"/>
          </a:xfrm>
          <a:prstGeom prst="rect">
            <a:avLst/>
          </a:prstGeom>
          <a:noFill/>
          <a:ln/>
        </p:spPr>
        <p:txBody>
          <a:bodyPr wrap="square" lIns="0" tIns="0" rIns="0" bIns="0" rtlCol="0" anchor="t"/>
          <a:lstStyle/>
          <a:p>
            <a:pPr indent="0" marL="0">
              <a:buNone/>
            </a:pPr>
            <a:r>
              <a:rPr lang="en-US" sz="1400" dirty="0">
                <a:solidFill>
                  <a:srgbClr val="5E6B70"/>
                </a:solidFill>
              </a:rPr>
              <a:t>Every tile is clickable. Each slide has a  ☰ Agenda  button to come back here.</a:t>
            </a:r>
            <a:endParaRPr lang="en-US" sz="1400" dirty="0"/>
          </a:p>
        </p:txBody>
      </p:sp>
      <p:sp>
        <p:nvSpPr>
          <p:cNvPr id="6" name="agenda-tile-01">
            <a:hlinkClick r:id="rId2" tooltip="The idea" action="ppaction://hlinksldjump"/>
          </p:cNvPr>
          <p:cNvSpPr/>
          <p:nvPr/>
        </p:nvSpPr>
        <p:spPr>
          <a:xfrm>
            <a:off x="548640" y="1737360"/>
            <a:ext cx="3520440" cy="2057400"/>
          </a:xfrm>
          <a:prstGeom prst="roundRect">
            <a:avLst>
              <a:gd name="adj" fmla="val 6222"/>
            </a:avLst>
          </a:prstGeom>
          <a:solidFill>
            <a:srgbClr val="EFF5F2"/>
          </a:solidFill>
          <a:ln w="12700">
            <a:solidFill>
              <a:srgbClr val="EFF5F2"/>
            </a:solidFill>
            <a:prstDash val="solid"/>
          </a:ln>
          <a:effectLst>
            <a:outerShdw sx="100000" sy="100000" kx="0" ky="0" algn="bl" rotWithShape="0" blurRad="101600" dist="25400" dir="5400000">
              <a:srgbClr val="17242A">
                <a:alpha val="16000"/>
              </a:srgbClr>
            </a:outerShdw>
          </a:effectLst>
        </p:spPr>
      </p:sp>
      <p:sp>
        <p:nvSpPr>
          <p:cNvPr id="7" name="icon-bg-FaLightbulb">
            <a:hlinkClick r:id="rId5" tooltip="The idea" action="ppaction://hlinksldjump"/>
          </p:cNvPr>
          <p:cNvSpPr/>
          <p:nvPr/>
        </p:nvSpPr>
        <p:spPr>
          <a:xfrm>
            <a:off x="822960" y="2011680"/>
            <a:ext cx="731520" cy="731520"/>
          </a:xfrm>
          <a:prstGeom prst="ellipse">
            <a:avLst/>
          </a:prstGeom>
          <a:solidFill>
            <a:srgbClr val="C9921A"/>
          </a:solidFill>
          <a:ln w="12700">
            <a:solidFill>
              <a:srgbClr val="C9921A"/>
            </a:solidFill>
            <a:prstDash val="solid"/>
          </a:ln>
        </p:spPr>
      </p:sp>
      <p:pic>
        <p:nvPicPr>
          <p:cNvPr id="8" name="icon-FaLightbulb" descr="preencoded.png">
            <a:hlinkClick r:id="rId5" tooltip="The idea" action="ppaction://hlinksldjump"/>
          </p:cNvPr>
          <p:cNvPicPr>
            <a:picLocks noChangeAspect="1"/>
          </p:cNvPicPr>
          <p:nvPr/>
        </p:nvPicPr>
        <p:blipFill>
          <a:blip r:embed="rId4"/>
          <a:stretch>
            <a:fillRect/>
          </a:stretch>
        </p:blipFill>
        <p:spPr>
          <a:xfrm>
            <a:off x="1005840" y="2194560"/>
            <a:ext cx="365760" cy="365760"/>
          </a:xfrm>
          <a:prstGeom prst="rect">
            <a:avLst/>
          </a:prstGeom>
        </p:spPr>
      </p:pic>
      <p:sp>
        <p:nvSpPr>
          <p:cNvPr id="9" name="Text 6"/>
          <p:cNvSpPr txBox="1"/>
          <p:nvPr/>
        </p:nvSpPr>
        <p:spPr>
          <a:xfrm>
            <a:off x="3154680" y="2011680"/>
            <a:ext cx="640080" cy="457200"/>
          </a:xfrm>
          <a:prstGeom prst="rect">
            <a:avLst/>
          </a:prstGeom>
          <a:noFill/>
          <a:ln/>
        </p:spPr>
        <p:txBody>
          <a:bodyPr wrap="square" lIns="0" tIns="0" rIns="0" bIns="0" rtlCol="0" anchor="ctr"/>
          <a:lstStyle/>
          <a:p>
            <a:pPr algn="r" indent="0" marL="0">
              <a:buNone/>
            </a:pPr>
            <a:r>
              <a:rPr lang="en-US" sz="2200" b="1" dirty="0">
                <a:solidFill>
                  <a:srgbClr val="C9921A"/>
                </a:solidFill>
                <a:latin typeface="Cambria" pitchFamily="34" charset="0"/>
                <a:ea typeface="Cambria" pitchFamily="34" charset="-122"/>
                <a:cs typeface="Cambria" pitchFamily="34" charset="-120"/>
              </a:rPr>
              <a:t>01</a:t>
            </a:r>
            <a:endParaRPr lang="en-US" sz="2200" dirty="0"/>
          </a:p>
        </p:txBody>
      </p:sp>
      <p:sp>
        <p:nvSpPr>
          <p:cNvPr id="10" name="Text 7"/>
          <p:cNvSpPr txBox="1"/>
          <p:nvPr/>
        </p:nvSpPr>
        <p:spPr>
          <a:xfrm>
            <a:off x="822960" y="2834640"/>
            <a:ext cx="2971800" cy="411480"/>
          </a:xfrm>
          <a:prstGeom prst="rect">
            <a:avLst/>
          </a:prstGeom>
          <a:noFill/>
          <a:ln/>
        </p:spPr>
        <p:txBody>
          <a:bodyPr wrap="square" lIns="0" tIns="0" rIns="0" bIns="0" rtlCol="0" anchor="ctr"/>
          <a:lstStyle/>
          <a:p>
            <a:pPr indent="0" marL="0">
              <a:buNone/>
            </a:pPr>
            <a:r>
              <a:rPr lang="en-US" sz="1900" b="1" dirty="0">
                <a:solidFill>
                  <a:srgbClr val="0B3B36"/>
                </a:solidFill>
                <a:latin typeface="Cambria" pitchFamily="34" charset="0"/>
                <a:ea typeface="Cambria" pitchFamily="34" charset="-122"/>
                <a:cs typeface="Cambria" pitchFamily="34" charset="-120"/>
              </a:rPr>
              <a:t>The idea</a:t>
            </a:r>
            <a:endParaRPr lang="en-US" sz="1900" dirty="0"/>
          </a:p>
        </p:txBody>
      </p:sp>
      <p:sp>
        <p:nvSpPr>
          <p:cNvPr id="11" name="Text 8"/>
          <p:cNvSpPr txBox="1"/>
          <p:nvPr/>
        </p:nvSpPr>
        <p:spPr>
          <a:xfrm>
            <a:off x="822960" y="3246120"/>
            <a:ext cx="2971800" cy="411480"/>
          </a:xfrm>
          <a:prstGeom prst="rect">
            <a:avLst/>
          </a:prstGeom>
          <a:noFill/>
          <a:ln/>
        </p:spPr>
        <p:txBody>
          <a:bodyPr wrap="square" lIns="0" tIns="0" rIns="0" bIns="0" rtlCol="0" anchor="t"/>
          <a:lstStyle/>
          <a:p>
            <a:pPr indent="0" marL="0">
              <a:buNone/>
            </a:pPr>
            <a:r>
              <a:rPr lang="en-US" sz="1300" dirty="0">
                <a:solidFill>
                  <a:srgbClr val="5E6B70"/>
                </a:solidFill>
              </a:rPr>
              <a:t>Why HAMAR SHIKSHA, and the platform at a glance</a:t>
            </a:r>
            <a:endParaRPr lang="en-US" sz="1300" dirty="0"/>
          </a:p>
        </p:txBody>
      </p:sp>
      <p:sp>
        <p:nvSpPr>
          <p:cNvPr id="12" name="agenda-link-01">
            <a:hlinkClick r:id="rId6" tooltip="The idea" action="ppaction://hlinksldjump"/>
          </p:cNvPr>
          <p:cNvSpPr/>
          <p:nvPr/>
        </p:nvSpPr>
        <p:spPr>
          <a:xfrm>
            <a:off x="548640" y="1737360"/>
            <a:ext cx="3520440" cy="2057400"/>
          </a:xfrm>
          <a:prstGeom prst="rect">
            <a:avLst/>
          </a:prstGeom>
          <a:solidFill>
            <a:srgbClr val="FFFFFF">
              <a:alpha val="0"/>
            </a:srgbClr>
          </a:solidFill>
          <a:ln w="12700">
            <a:solidFill>
              <a:srgbClr val="FFFFFF">
                <a:alpha val="0"/>
              </a:srgbClr>
            </a:solidFill>
            <a:prstDash val="solid"/>
          </a:ln>
        </p:spPr>
      </p:sp>
      <p:sp>
        <p:nvSpPr>
          <p:cNvPr id="13" name="agenda-tile-02">
            <a:hlinkClick r:id="rId7" tooltip="For administrators" action="ppaction://hlinksldjump"/>
          </p:cNvPr>
          <p:cNvSpPr/>
          <p:nvPr/>
        </p:nvSpPr>
        <p:spPr>
          <a:xfrm>
            <a:off x="4343400" y="1737360"/>
            <a:ext cx="3520440" cy="2057400"/>
          </a:xfrm>
          <a:prstGeom prst="roundRect">
            <a:avLst>
              <a:gd name="adj" fmla="val 6222"/>
            </a:avLst>
          </a:prstGeom>
          <a:solidFill>
            <a:srgbClr val="EFF5F2"/>
          </a:solidFill>
          <a:ln w="12700">
            <a:solidFill>
              <a:srgbClr val="EFF5F2"/>
            </a:solidFill>
            <a:prstDash val="solid"/>
          </a:ln>
          <a:effectLst>
            <a:outerShdw sx="100000" sy="100000" kx="0" ky="0" algn="bl" rotWithShape="0" blurRad="101600" dist="25400" dir="5400000">
              <a:srgbClr val="17242A">
                <a:alpha val="16000"/>
              </a:srgbClr>
            </a:outerShdw>
          </a:effectLst>
        </p:spPr>
      </p:sp>
      <p:sp>
        <p:nvSpPr>
          <p:cNvPr id="14" name="icon-bg-FaMapLocationDot">
            <a:hlinkClick r:id="rId10" tooltip="For administrators" action="ppaction://hlinksldjump"/>
          </p:cNvPr>
          <p:cNvSpPr/>
          <p:nvPr/>
        </p:nvSpPr>
        <p:spPr>
          <a:xfrm>
            <a:off x="4617720" y="2011680"/>
            <a:ext cx="731520" cy="731520"/>
          </a:xfrm>
          <a:prstGeom prst="ellipse">
            <a:avLst/>
          </a:prstGeom>
          <a:solidFill>
            <a:srgbClr val="1F4E8C"/>
          </a:solidFill>
          <a:ln w="12700">
            <a:solidFill>
              <a:srgbClr val="1F4E8C"/>
            </a:solidFill>
            <a:prstDash val="solid"/>
          </a:ln>
        </p:spPr>
      </p:sp>
      <p:pic>
        <p:nvPicPr>
          <p:cNvPr id="15" name="icon-FaMapLocationDot" descr="preencoded.png">
            <a:hlinkClick r:id="rId10" tooltip="For administrators" action="ppaction://hlinksldjump"/>
          </p:cNvPr>
          <p:cNvPicPr>
            <a:picLocks noChangeAspect="1"/>
          </p:cNvPicPr>
          <p:nvPr/>
        </p:nvPicPr>
        <p:blipFill>
          <a:blip r:embed="rId9"/>
          <a:stretch>
            <a:fillRect/>
          </a:stretch>
        </p:blipFill>
        <p:spPr>
          <a:xfrm>
            <a:off x="4800600" y="2194560"/>
            <a:ext cx="365760" cy="365760"/>
          </a:xfrm>
          <a:prstGeom prst="rect">
            <a:avLst/>
          </a:prstGeom>
        </p:spPr>
      </p:pic>
      <p:sp>
        <p:nvSpPr>
          <p:cNvPr id="16" name="Text 12"/>
          <p:cNvSpPr txBox="1"/>
          <p:nvPr/>
        </p:nvSpPr>
        <p:spPr>
          <a:xfrm>
            <a:off x="6949440" y="2011680"/>
            <a:ext cx="640080" cy="457200"/>
          </a:xfrm>
          <a:prstGeom prst="rect">
            <a:avLst/>
          </a:prstGeom>
          <a:noFill/>
          <a:ln/>
        </p:spPr>
        <p:txBody>
          <a:bodyPr wrap="square" lIns="0" tIns="0" rIns="0" bIns="0" rtlCol="0" anchor="ctr"/>
          <a:lstStyle/>
          <a:p>
            <a:pPr algn="r" indent="0" marL="0">
              <a:buNone/>
            </a:pPr>
            <a:r>
              <a:rPr lang="en-US" sz="2200" b="1" dirty="0">
                <a:solidFill>
                  <a:srgbClr val="1F4E8C"/>
                </a:solidFill>
                <a:latin typeface="Cambria" pitchFamily="34" charset="0"/>
                <a:ea typeface="Cambria" pitchFamily="34" charset="-122"/>
                <a:cs typeface="Cambria" pitchFamily="34" charset="-120"/>
              </a:rPr>
              <a:t>02</a:t>
            </a:r>
            <a:endParaRPr lang="en-US" sz="2200" dirty="0"/>
          </a:p>
        </p:txBody>
      </p:sp>
      <p:sp>
        <p:nvSpPr>
          <p:cNvPr id="17" name="Text 13"/>
          <p:cNvSpPr txBox="1"/>
          <p:nvPr/>
        </p:nvSpPr>
        <p:spPr>
          <a:xfrm>
            <a:off x="4617720" y="2834640"/>
            <a:ext cx="2971800" cy="411480"/>
          </a:xfrm>
          <a:prstGeom prst="rect">
            <a:avLst/>
          </a:prstGeom>
          <a:noFill/>
          <a:ln/>
        </p:spPr>
        <p:txBody>
          <a:bodyPr wrap="square" lIns="0" tIns="0" rIns="0" bIns="0" rtlCol="0" anchor="ctr"/>
          <a:lstStyle/>
          <a:p>
            <a:pPr indent="0" marL="0">
              <a:buNone/>
            </a:pPr>
            <a:r>
              <a:rPr lang="en-US" sz="1900" b="1" dirty="0">
                <a:solidFill>
                  <a:srgbClr val="0B3B36"/>
                </a:solidFill>
                <a:latin typeface="Cambria" pitchFamily="34" charset="0"/>
                <a:ea typeface="Cambria" pitchFamily="34" charset="-122"/>
                <a:cs typeface="Cambria" pitchFamily="34" charset="-120"/>
              </a:rPr>
              <a:t>For administrators</a:t>
            </a:r>
            <a:endParaRPr lang="en-US" sz="1900" dirty="0"/>
          </a:p>
        </p:txBody>
      </p:sp>
      <p:sp>
        <p:nvSpPr>
          <p:cNvPr id="18" name="Text 14"/>
          <p:cNvSpPr txBox="1"/>
          <p:nvPr/>
        </p:nvSpPr>
        <p:spPr>
          <a:xfrm>
            <a:off x="4617720" y="3246120"/>
            <a:ext cx="2971800" cy="411480"/>
          </a:xfrm>
          <a:prstGeom prst="rect">
            <a:avLst/>
          </a:prstGeom>
          <a:noFill/>
          <a:ln/>
        </p:spPr>
        <p:txBody>
          <a:bodyPr wrap="square" lIns="0" tIns="0" rIns="0" bIns="0" rtlCol="0" anchor="t"/>
          <a:lstStyle/>
          <a:p>
            <a:pPr indent="0" marL="0">
              <a:buNone/>
            </a:pPr>
            <a:r>
              <a:rPr lang="en-US" sz="1300" dirty="0">
                <a:solidFill>
                  <a:srgbClr val="5E6B70"/>
                </a:solidFill>
              </a:rPr>
              <a:t>State → division → district → block → school</a:t>
            </a:r>
            <a:endParaRPr lang="en-US" sz="1300" dirty="0"/>
          </a:p>
        </p:txBody>
      </p:sp>
      <p:sp>
        <p:nvSpPr>
          <p:cNvPr id="19" name="agenda-link-02">
            <a:hlinkClick r:id="rId11" tooltip="For administrators" action="ppaction://hlinksldjump"/>
          </p:cNvPr>
          <p:cNvSpPr/>
          <p:nvPr/>
        </p:nvSpPr>
        <p:spPr>
          <a:xfrm>
            <a:off x="4343400" y="1737360"/>
            <a:ext cx="3520440" cy="2057400"/>
          </a:xfrm>
          <a:prstGeom prst="rect">
            <a:avLst/>
          </a:prstGeom>
          <a:solidFill>
            <a:srgbClr val="FFFFFF">
              <a:alpha val="0"/>
            </a:srgbClr>
          </a:solidFill>
          <a:ln w="12700">
            <a:solidFill>
              <a:srgbClr val="FFFFFF">
                <a:alpha val="0"/>
              </a:srgbClr>
            </a:solidFill>
            <a:prstDash val="solid"/>
          </a:ln>
        </p:spPr>
      </p:sp>
      <p:sp>
        <p:nvSpPr>
          <p:cNvPr id="20" name="agenda-tile-03">
            <a:hlinkClick r:id="rId12" tooltip="For teachers" action="ppaction://hlinksldjump"/>
          </p:cNvPr>
          <p:cNvSpPr/>
          <p:nvPr/>
        </p:nvSpPr>
        <p:spPr>
          <a:xfrm>
            <a:off x="8138160" y="1737360"/>
            <a:ext cx="3520440" cy="2057400"/>
          </a:xfrm>
          <a:prstGeom prst="roundRect">
            <a:avLst>
              <a:gd name="adj" fmla="val 6222"/>
            </a:avLst>
          </a:prstGeom>
          <a:solidFill>
            <a:srgbClr val="EFF5F2"/>
          </a:solidFill>
          <a:ln w="12700">
            <a:solidFill>
              <a:srgbClr val="EFF5F2"/>
            </a:solidFill>
            <a:prstDash val="solid"/>
          </a:ln>
          <a:effectLst>
            <a:outerShdw sx="100000" sy="100000" kx="0" ky="0" algn="bl" rotWithShape="0" blurRad="101600" dist="25400" dir="5400000">
              <a:srgbClr val="17242A">
                <a:alpha val="16000"/>
              </a:srgbClr>
            </a:outerShdw>
          </a:effectLst>
        </p:spPr>
      </p:sp>
      <p:sp>
        <p:nvSpPr>
          <p:cNvPr id="21" name="icon-bg-FaChalkboardUser">
            <a:hlinkClick r:id="rId15" tooltip="For teachers" action="ppaction://hlinksldjump"/>
          </p:cNvPr>
          <p:cNvSpPr/>
          <p:nvPr/>
        </p:nvSpPr>
        <p:spPr>
          <a:xfrm>
            <a:off x="8412480" y="2011680"/>
            <a:ext cx="731520" cy="731520"/>
          </a:xfrm>
          <a:prstGeom prst="ellipse">
            <a:avLst/>
          </a:prstGeom>
          <a:solidFill>
            <a:srgbClr val="0E8A6E"/>
          </a:solidFill>
          <a:ln w="12700">
            <a:solidFill>
              <a:srgbClr val="0E8A6E"/>
            </a:solidFill>
            <a:prstDash val="solid"/>
          </a:ln>
        </p:spPr>
      </p:sp>
      <p:pic>
        <p:nvPicPr>
          <p:cNvPr id="22" name="icon-FaChalkboardUser" descr="preencoded.png">
            <a:hlinkClick r:id="rId15" tooltip="For teachers" action="ppaction://hlinksldjump"/>
          </p:cNvPr>
          <p:cNvPicPr>
            <a:picLocks noChangeAspect="1"/>
          </p:cNvPicPr>
          <p:nvPr/>
        </p:nvPicPr>
        <p:blipFill>
          <a:blip r:embed="rId14"/>
          <a:stretch>
            <a:fillRect/>
          </a:stretch>
        </p:blipFill>
        <p:spPr>
          <a:xfrm>
            <a:off x="8595360" y="2194560"/>
            <a:ext cx="365760" cy="365760"/>
          </a:xfrm>
          <a:prstGeom prst="rect">
            <a:avLst/>
          </a:prstGeom>
        </p:spPr>
      </p:pic>
      <p:sp>
        <p:nvSpPr>
          <p:cNvPr id="23" name="Text 18"/>
          <p:cNvSpPr txBox="1"/>
          <p:nvPr/>
        </p:nvSpPr>
        <p:spPr>
          <a:xfrm>
            <a:off x="10744200" y="2011680"/>
            <a:ext cx="640080" cy="457200"/>
          </a:xfrm>
          <a:prstGeom prst="rect">
            <a:avLst/>
          </a:prstGeom>
          <a:noFill/>
          <a:ln/>
        </p:spPr>
        <p:txBody>
          <a:bodyPr wrap="square" lIns="0" tIns="0" rIns="0" bIns="0" rtlCol="0" anchor="ctr"/>
          <a:lstStyle/>
          <a:p>
            <a:pPr algn="r" indent="0" marL="0">
              <a:buNone/>
            </a:pPr>
            <a:r>
              <a:rPr lang="en-US" sz="2200" b="1" dirty="0">
                <a:solidFill>
                  <a:srgbClr val="0E8A6E"/>
                </a:solidFill>
                <a:latin typeface="Cambria" pitchFamily="34" charset="0"/>
                <a:ea typeface="Cambria" pitchFamily="34" charset="-122"/>
                <a:cs typeface="Cambria" pitchFamily="34" charset="-120"/>
              </a:rPr>
              <a:t>03</a:t>
            </a:r>
            <a:endParaRPr lang="en-US" sz="2200" dirty="0"/>
          </a:p>
        </p:txBody>
      </p:sp>
      <p:sp>
        <p:nvSpPr>
          <p:cNvPr id="24" name="Text 19"/>
          <p:cNvSpPr txBox="1"/>
          <p:nvPr/>
        </p:nvSpPr>
        <p:spPr>
          <a:xfrm>
            <a:off x="8412480" y="2834640"/>
            <a:ext cx="2971800" cy="411480"/>
          </a:xfrm>
          <a:prstGeom prst="rect">
            <a:avLst/>
          </a:prstGeom>
          <a:noFill/>
          <a:ln/>
        </p:spPr>
        <p:txBody>
          <a:bodyPr wrap="square" lIns="0" tIns="0" rIns="0" bIns="0" rtlCol="0" anchor="ctr"/>
          <a:lstStyle/>
          <a:p>
            <a:pPr indent="0" marL="0">
              <a:buNone/>
            </a:pPr>
            <a:r>
              <a:rPr lang="en-US" sz="1900" b="1" dirty="0">
                <a:solidFill>
                  <a:srgbClr val="0B3B36"/>
                </a:solidFill>
                <a:latin typeface="Cambria" pitchFamily="34" charset="0"/>
                <a:ea typeface="Cambria" pitchFamily="34" charset="-122"/>
                <a:cs typeface="Cambria" pitchFamily="34" charset="-120"/>
              </a:rPr>
              <a:t>For teachers</a:t>
            </a:r>
            <a:endParaRPr lang="en-US" sz="1900" dirty="0"/>
          </a:p>
        </p:txBody>
      </p:sp>
      <p:sp>
        <p:nvSpPr>
          <p:cNvPr id="25" name="Text 20"/>
          <p:cNvSpPr txBox="1"/>
          <p:nvPr/>
        </p:nvSpPr>
        <p:spPr>
          <a:xfrm>
            <a:off x="8412480" y="3246120"/>
            <a:ext cx="2971800" cy="411480"/>
          </a:xfrm>
          <a:prstGeom prst="rect">
            <a:avLst/>
          </a:prstGeom>
          <a:noFill/>
          <a:ln/>
        </p:spPr>
        <p:txBody>
          <a:bodyPr wrap="square" lIns="0" tIns="0" rIns="0" bIns="0" rtlCol="0" anchor="t"/>
          <a:lstStyle/>
          <a:p>
            <a:pPr indent="0" marL="0">
              <a:buNone/>
            </a:pPr>
            <a:r>
              <a:rPr lang="en-US" sz="1300" dirty="0">
                <a:solidFill>
                  <a:srgbClr val="5E6B70"/>
                </a:solidFill>
              </a:rPr>
              <a:t>Less paperwork, more teaching</a:t>
            </a:r>
            <a:endParaRPr lang="en-US" sz="1300" dirty="0"/>
          </a:p>
        </p:txBody>
      </p:sp>
      <p:sp>
        <p:nvSpPr>
          <p:cNvPr id="26" name="agenda-link-03">
            <a:hlinkClick r:id="rId16" tooltip="For teachers" action="ppaction://hlinksldjump"/>
          </p:cNvPr>
          <p:cNvSpPr/>
          <p:nvPr/>
        </p:nvSpPr>
        <p:spPr>
          <a:xfrm>
            <a:off x="8138160" y="1737360"/>
            <a:ext cx="3520440" cy="2057400"/>
          </a:xfrm>
          <a:prstGeom prst="rect">
            <a:avLst/>
          </a:prstGeom>
          <a:solidFill>
            <a:srgbClr val="FFFFFF">
              <a:alpha val="0"/>
            </a:srgbClr>
          </a:solidFill>
          <a:ln w="12700">
            <a:solidFill>
              <a:srgbClr val="FFFFFF">
                <a:alpha val="0"/>
              </a:srgbClr>
            </a:solidFill>
            <a:prstDash val="solid"/>
          </a:ln>
        </p:spPr>
      </p:sp>
      <p:sp>
        <p:nvSpPr>
          <p:cNvPr id="27" name="agenda-tile-04">
            <a:hlinkClick r:id="rId17" tooltip="For students" action="ppaction://hlinksldjump"/>
          </p:cNvPr>
          <p:cNvSpPr/>
          <p:nvPr/>
        </p:nvSpPr>
        <p:spPr>
          <a:xfrm>
            <a:off x="548640" y="4069080"/>
            <a:ext cx="3520440" cy="2057400"/>
          </a:xfrm>
          <a:prstGeom prst="roundRect">
            <a:avLst>
              <a:gd name="adj" fmla="val 6222"/>
            </a:avLst>
          </a:prstGeom>
          <a:solidFill>
            <a:srgbClr val="EFF5F2"/>
          </a:solidFill>
          <a:ln w="12700">
            <a:solidFill>
              <a:srgbClr val="EFF5F2"/>
            </a:solidFill>
            <a:prstDash val="solid"/>
          </a:ln>
          <a:effectLst>
            <a:outerShdw sx="100000" sy="100000" kx="0" ky="0" algn="bl" rotWithShape="0" blurRad="101600" dist="25400" dir="5400000">
              <a:srgbClr val="17242A">
                <a:alpha val="16000"/>
              </a:srgbClr>
            </a:outerShdw>
          </a:effectLst>
        </p:spPr>
      </p:sp>
      <p:sp>
        <p:nvSpPr>
          <p:cNvPr id="28" name="icon-bg-FaUserGraduate">
            <a:hlinkClick r:id="rId20" tooltip="For students" action="ppaction://hlinksldjump"/>
          </p:cNvPr>
          <p:cNvSpPr/>
          <p:nvPr/>
        </p:nvSpPr>
        <p:spPr>
          <a:xfrm>
            <a:off x="822960" y="4343400"/>
            <a:ext cx="731520" cy="731520"/>
          </a:xfrm>
          <a:prstGeom prst="ellipse">
            <a:avLst/>
          </a:prstGeom>
          <a:solidFill>
            <a:srgbClr val="E8762B"/>
          </a:solidFill>
          <a:ln w="12700">
            <a:solidFill>
              <a:srgbClr val="E8762B"/>
            </a:solidFill>
            <a:prstDash val="solid"/>
          </a:ln>
        </p:spPr>
      </p:sp>
      <p:pic>
        <p:nvPicPr>
          <p:cNvPr id="29" name="icon-FaUserGraduate" descr="preencoded.png">
            <a:hlinkClick r:id="rId20" tooltip="For students" action="ppaction://hlinksldjump"/>
          </p:cNvPr>
          <p:cNvPicPr>
            <a:picLocks noChangeAspect="1"/>
          </p:cNvPicPr>
          <p:nvPr/>
        </p:nvPicPr>
        <p:blipFill>
          <a:blip r:embed="rId19"/>
          <a:stretch>
            <a:fillRect/>
          </a:stretch>
        </p:blipFill>
        <p:spPr>
          <a:xfrm>
            <a:off x="1005840" y="4526280"/>
            <a:ext cx="365760" cy="365760"/>
          </a:xfrm>
          <a:prstGeom prst="rect">
            <a:avLst/>
          </a:prstGeom>
        </p:spPr>
      </p:pic>
      <p:sp>
        <p:nvSpPr>
          <p:cNvPr id="30" name="Text 24"/>
          <p:cNvSpPr txBox="1"/>
          <p:nvPr/>
        </p:nvSpPr>
        <p:spPr>
          <a:xfrm>
            <a:off x="3154680" y="4343400"/>
            <a:ext cx="640080" cy="457200"/>
          </a:xfrm>
          <a:prstGeom prst="rect">
            <a:avLst/>
          </a:prstGeom>
          <a:noFill/>
          <a:ln/>
        </p:spPr>
        <p:txBody>
          <a:bodyPr wrap="square" lIns="0" tIns="0" rIns="0" bIns="0" rtlCol="0" anchor="ctr"/>
          <a:lstStyle/>
          <a:p>
            <a:pPr algn="r" indent="0" marL="0">
              <a:buNone/>
            </a:pPr>
            <a:r>
              <a:rPr lang="en-US" sz="2200" b="1" dirty="0">
                <a:solidFill>
                  <a:srgbClr val="E8762B"/>
                </a:solidFill>
                <a:latin typeface="Cambria" pitchFamily="34" charset="0"/>
                <a:ea typeface="Cambria" pitchFamily="34" charset="-122"/>
                <a:cs typeface="Cambria" pitchFamily="34" charset="-120"/>
              </a:rPr>
              <a:t>04</a:t>
            </a:r>
            <a:endParaRPr lang="en-US" sz="2200" dirty="0"/>
          </a:p>
        </p:txBody>
      </p:sp>
      <p:sp>
        <p:nvSpPr>
          <p:cNvPr id="31" name="Text 25"/>
          <p:cNvSpPr txBox="1"/>
          <p:nvPr/>
        </p:nvSpPr>
        <p:spPr>
          <a:xfrm>
            <a:off x="822960" y="5166360"/>
            <a:ext cx="2971800" cy="411480"/>
          </a:xfrm>
          <a:prstGeom prst="rect">
            <a:avLst/>
          </a:prstGeom>
          <a:noFill/>
          <a:ln/>
        </p:spPr>
        <p:txBody>
          <a:bodyPr wrap="square" lIns="0" tIns="0" rIns="0" bIns="0" rtlCol="0" anchor="ctr"/>
          <a:lstStyle/>
          <a:p>
            <a:pPr indent="0" marL="0">
              <a:buNone/>
            </a:pPr>
            <a:r>
              <a:rPr lang="en-US" sz="1900" b="1" dirty="0">
                <a:solidFill>
                  <a:srgbClr val="0B3B36"/>
                </a:solidFill>
                <a:latin typeface="Cambria" pitchFamily="34" charset="0"/>
                <a:ea typeface="Cambria" pitchFamily="34" charset="-122"/>
                <a:cs typeface="Cambria" pitchFamily="34" charset="-120"/>
              </a:rPr>
              <a:t>For students</a:t>
            </a:r>
            <a:endParaRPr lang="en-US" sz="1900" dirty="0"/>
          </a:p>
        </p:txBody>
      </p:sp>
      <p:sp>
        <p:nvSpPr>
          <p:cNvPr id="32" name="Text 26"/>
          <p:cNvSpPr txBox="1"/>
          <p:nvPr/>
        </p:nvSpPr>
        <p:spPr>
          <a:xfrm>
            <a:off x="822960" y="5577840"/>
            <a:ext cx="2971800" cy="411480"/>
          </a:xfrm>
          <a:prstGeom prst="rect">
            <a:avLst/>
          </a:prstGeom>
          <a:noFill/>
          <a:ln/>
        </p:spPr>
        <p:txBody>
          <a:bodyPr wrap="square" lIns="0" tIns="0" rIns="0" bIns="0" rtlCol="0" anchor="t"/>
          <a:lstStyle/>
          <a:p>
            <a:pPr indent="0" marL="0">
              <a:buNone/>
            </a:pPr>
            <a:r>
              <a:rPr lang="en-US" sz="1300" dirty="0">
                <a:solidFill>
                  <a:srgbClr val="5E6B70"/>
                </a:solidFill>
              </a:rPr>
              <a:t>Learn alone, or with help</a:t>
            </a:r>
            <a:endParaRPr lang="en-US" sz="1300" dirty="0"/>
          </a:p>
        </p:txBody>
      </p:sp>
      <p:sp>
        <p:nvSpPr>
          <p:cNvPr id="33" name="agenda-link-04">
            <a:hlinkClick r:id="rId21" tooltip="For students" action="ppaction://hlinksldjump"/>
          </p:cNvPr>
          <p:cNvSpPr/>
          <p:nvPr/>
        </p:nvSpPr>
        <p:spPr>
          <a:xfrm>
            <a:off x="548640" y="4069080"/>
            <a:ext cx="3520440" cy="2057400"/>
          </a:xfrm>
          <a:prstGeom prst="rect">
            <a:avLst/>
          </a:prstGeom>
          <a:solidFill>
            <a:srgbClr val="FFFFFF">
              <a:alpha val="0"/>
            </a:srgbClr>
          </a:solidFill>
          <a:ln w="12700">
            <a:solidFill>
              <a:srgbClr val="FFFFFF">
                <a:alpha val="0"/>
              </a:srgbClr>
            </a:solidFill>
            <a:prstDash val="solid"/>
          </a:ln>
        </p:spPr>
      </p:sp>
      <p:sp>
        <p:nvSpPr>
          <p:cNvPr id="34" name="agenda-tile-05">
            <a:hlinkClick r:id="rId22" tooltip="AI, curriculum and trust" action="ppaction://hlinksldjump"/>
          </p:cNvPr>
          <p:cNvSpPr/>
          <p:nvPr/>
        </p:nvSpPr>
        <p:spPr>
          <a:xfrm>
            <a:off x="4343400" y="4069080"/>
            <a:ext cx="3520440" cy="2057400"/>
          </a:xfrm>
          <a:prstGeom prst="roundRect">
            <a:avLst>
              <a:gd name="adj" fmla="val 6222"/>
            </a:avLst>
          </a:prstGeom>
          <a:solidFill>
            <a:srgbClr val="EFF5F2"/>
          </a:solidFill>
          <a:ln w="12700">
            <a:solidFill>
              <a:srgbClr val="EFF5F2"/>
            </a:solidFill>
            <a:prstDash val="solid"/>
          </a:ln>
          <a:effectLst>
            <a:outerShdw sx="100000" sy="100000" kx="0" ky="0" algn="bl" rotWithShape="0" blurRad="101600" dist="25400" dir="5400000">
              <a:srgbClr val="17242A">
                <a:alpha val="16000"/>
              </a:srgbClr>
            </a:outerShdw>
          </a:effectLst>
        </p:spPr>
      </p:sp>
      <p:sp>
        <p:nvSpPr>
          <p:cNvPr id="35" name="icon-bg-FaBrain">
            <a:hlinkClick r:id="rId25" tooltip="AI, curriculum and trust" action="ppaction://hlinksldjump"/>
          </p:cNvPr>
          <p:cNvSpPr/>
          <p:nvPr/>
        </p:nvSpPr>
        <p:spPr>
          <a:xfrm>
            <a:off x="4617720" y="4343400"/>
            <a:ext cx="731520" cy="731520"/>
          </a:xfrm>
          <a:prstGeom prst="ellipse">
            <a:avLst/>
          </a:prstGeom>
          <a:solidFill>
            <a:srgbClr val="7A4FC9"/>
          </a:solidFill>
          <a:ln w="12700">
            <a:solidFill>
              <a:srgbClr val="7A4FC9"/>
            </a:solidFill>
            <a:prstDash val="solid"/>
          </a:ln>
        </p:spPr>
      </p:sp>
      <p:pic>
        <p:nvPicPr>
          <p:cNvPr id="36" name="icon-FaBrain" descr="preencoded.png">
            <a:hlinkClick r:id="rId25" tooltip="AI, curriculum and trust" action="ppaction://hlinksldjump"/>
          </p:cNvPr>
          <p:cNvPicPr>
            <a:picLocks noChangeAspect="1"/>
          </p:cNvPicPr>
          <p:nvPr/>
        </p:nvPicPr>
        <p:blipFill>
          <a:blip r:embed="rId24"/>
          <a:stretch>
            <a:fillRect/>
          </a:stretch>
        </p:blipFill>
        <p:spPr>
          <a:xfrm>
            <a:off x="4800600" y="4526280"/>
            <a:ext cx="365760" cy="365760"/>
          </a:xfrm>
          <a:prstGeom prst="rect">
            <a:avLst/>
          </a:prstGeom>
        </p:spPr>
      </p:pic>
      <p:sp>
        <p:nvSpPr>
          <p:cNvPr id="37" name="Text 30"/>
          <p:cNvSpPr txBox="1"/>
          <p:nvPr/>
        </p:nvSpPr>
        <p:spPr>
          <a:xfrm>
            <a:off x="6949440" y="4343400"/>
            <a:ext cx="640080" cy="457200"/>
          </a:xfrm>
          <a:prstGeom prst="rect">
            <a:avLst/>
          </a:prstGeom>
          <a:noFill/>
          <a:ln/>
        </p:spPr>
        <p:txBody>
          <a:bodyPr wrap="square" lIns="0" tIns="0" rIns="0" bIns="0" rtlCol="0" anchor="ctr"/>
          <a:lstStyle/>
          <a:p>
            <a:pPr algn="r" indent="0" marL="0">
              <a:buNone/>
            </a:pPr>
            <a:r>
              <a:rPr lang="en-US" sz="2200" b="1" dirty="0">
                <a:solidFill>
                  <a:srgbClr val="7A4FC9"/>
                </a:solidFill>
                <a:latin typeface="Cambria" pitchFamily="34" charset="0"/>
                <a:ea typeface="Cambria" pitchFamily="34" charset="-122"/>
                <a:cs typeface="Cambria" pitchFamily="34" charset="-120"/>
              </a:rPr>
              <a:t>05</a:t>
            </a:r>
            <a:endParaRPr lang="en-US" sz="2200" dirty="0"/>
          </a:p>
        </p:txBody>
      </p:sp>
      <p:sp>
        <p:nvSpPr>
          <p:cNvPr id="38" name="Text 31"/>
          <p:cNvSpPr txBox="1"/>
          <p:nvPr/>
        </p:nvSpPr>
        <p:spPr>
          <a:xfrm>
            <a:off x="4617720" y="5166360"/>
            <a:ext cx="2971800" cy="411480"/>
          </a:xfrm>
          <a:prstGeom prst="rect">
            <a:avLst/>
          </a:prstGeom>
          <a:noFill/>
          <a:ln/>
        </p:spPr>
        <p:txBody>
          <a:bodyPr wrap="square" lIns="0" tIns="0" rIns="0" bIns="0" rtlCol="0" anchor="ctr"/>
          <a:lstStyle/>
          <a:p>
            <a:pPr indent="0" marL="0">
              <a:buNone/>
            </a:pPr>
            <a:r>
              <a:rPr lang="en-US" sz="1900" b="1" dirty="0">
                <a:solidFill>
                  <a:srgbClr val="0B3B36"/>
                </a:solidFill>
                <a:latin typeface="Cambria" pitchFamily="34" charset="0"/>
                <a:ea typeface="Cambria" pitchFamily="34" charset="-122"/>
                <a:cs typeface="Cambria" pitchFamily="34" charset="-120"/>
              </a:rPr>
              <a:t>AI, curriculum and trust</a:t>
            </a:r>
            <a:endParaRPr lang="en-US" sz="1900" dirty="0"/>
          </a:p>
        </p:txBody>
      </p:sp>
      <p:sp>
        <p:nvSpPr>
          <p:cNvPr id="39" name="Text 32"/>
          <p:cNvSpPr txBox="1"/>
          <p:nvPr/>
        </p:nvSpPr>
        <p:spPr>
          <a:xfrm>
            <a:off x="4617720" y="5577840"/>
            <a:ext cx="2971800" cy="411480"/>
          </a:xfrm>
          <a:prstGeom prst="rect">
            <a:avLst/>
          </a:prstGeom>
          <a:noFill/>
          <a:ln/>
        </p:spPr>
        <p:txBody>
          <a:bodyPr wrap="square" lIns="0" tIns="0" rIns="0" bIns="0" rtlCol="0" anchor="t"/>
          <a:lstStyle/>
          <a:p>
            <a:pPr indent="0" marL="0">
              <a:buNone/>
            </a:pPr>
            <a:r>
              <a:rPr lang="en-US" sz="1300" dirty="0">
                <a:solidFill>
                  <a:srgbClr val="5E6B70"/>
                </a:solidFill>
              </a:rPr>
              <a:t>A small local model grounded in SCERT books</a:t>
            </a:r>
            <a:endParaRPr lang="en-US" sz="1300" dirty="0"/>
          </a:p>
        </p:txBody>
      </p:sp>
      <p:sp>
        <p:nvSpPr>
          <p:cNvPr id="40" name="agenda-link-05">
            <a:hlinkClick r:id="rId26" tooltip="AI, curriculum and trust" action="ppaction://hlinksldjump"/>
          </p:cNvPr>
          <p:cNvSpPr/>
          <p:nvPr/>
        </p:nvSpPr>
        <p:spPr>
          <a:xfrm>
            <a:off x="4343400" y="4069080"/>
            <a:ext cx="3520440" cy="2057400"/>
          </a:xfrm>
          <a:prstGeom prst="rect">
            <a:avLst/>
          </a:prstGeom>
          <a:solidFill>
            <a:srgbClr val="FFFFFF">
              <a:alpha val="0"/>
            </a:srgbClr>
          </a:solidFill>
          <a:ln w="12700">
            <a:solidFill>
              <a:srgbClr val="FFFFFF">
                <a:alpha val="0"/>
              </a:srgbClr>
            </a:solidFill>
            <a:prstDash val="solid"/>
          </a:ln>
        </p:spPr>
      </p:sp>
      <p:sp>
        <p:nvSpPr>
          <p:cNvPr id="41" name="agenda-tile-06">
            <a:hlinkClick r:id="rId27" tooltip="Deploy and roadmap" action="ppaction://hlinksldjump"/>
          </p:cNvPr>
          <p:cNvSpPr/>
          <p:nvPr/>
        </p:nvSpPr>
        <p:spPr>
          <a:xfrm>
            <a:off x="8138160" y="4069080"/>
            <a:ext cx="3520440" cy="2057400"/>
          </a:xfrm>
          <a:prstGeom prst="roundRect">
            <a:avLst>
              <a:gd name="adj" fmla="val 6222"/>
            </a:avLst>
          </a:prstGeom>
          <a:solidFill>
            <a:srgbClr val="EFF5F2"/>
          </a:solidFill>
          <a:ln w="12700">
            <a:solidFill>
              <a:srgbClr val="EFF5F2"/>
            </a:solidFill>
            <a:prstDash val="solid"/>
          </a:ln>
          <a:effectLst>
            <a:outerShdw sx="100000" sy="100000" kx="0" ky="0" algn="bl" rotWithShape="0" blurRad="101600" dist="25400" dir="5400000">
              <a:srgbClr val="17242A">
                <a:alpha val="16000"/>
              </a:srgbClr>
            </a:outerShdw>
          </a:effectLst>
        </p:spPr>
      </p:sp>
      <p:sp>
        <p:nvSpPr>
          <p:cNvPr id="42" name="icon-bg-FaRocket">
            <a:hlinkClick r:id="rId30" tooltip="Deploy and roadmap" action="ppaction://hlinksldjump"/>
          </p:cNvPr>
          <p:cNvSpPr/>
          <p:nvPr/>
        </p:nvSpPr>
        <p:spPr>
          <a:xfrm>
            <a:off x="8412480" y="4343400"/>
            <a:ext cx="731520" cy="731520"/>
          </a:xfrm>
          <a:prstGeom prst="ellipse">
            <a:avLst/>
          </a:prstGeom>
          <a:solidFill>
            <a:srgbClr val="0E8A6E"/>
          </a:solidFill>
          <a:ln w="12700">
            <a:solidFill>
              <a:srgbClr val="0E8A6E"/>
            </a:solidFill>
            <a:prstDash val="solid"/>
          </a:ln>
        </p:spPr>
      </p:sp>
      <p:pic>
        <p:nvPicPr>
          <p:cNvPr id="43" name="icon-FaRocket" descr="preencoded.png">
            <a:hlinkClick r:id="rId30" tooltip="Deploy and roadmap" action="ppaction://hlinksldjump"/>
          </p:cNvPr>
          <p:cNvPicPr>
            <a:picLocks noChangeAspect="1"/>
          </p:cNvPicPr>
          <p:nvPr/>
        </p:nvPicPr>
        <p:blipFill>
          <a:blip r:embed="rId29"/>
          <a:stretch>
            <a:fillRect/>
          </a:stretch>
        </p:blipFill>
        <p:spPr>
          <a:xfrm>
            <a:off x="8595360" y="4526280"/>
            <a:ext cx="365760" cy="365760"/>
          </a:xfrm>
          <a:prstGeom prst="rect">
            <a:avLst/>
          </a:prstGeom>
        </p:spPr>
      </p:pic>
      <p:sp>
        <p:nvSpPr>
          <p:cNvPr id="44" name="Text 36"/>
          <p:cNvSpPr txBox="1"/>
          <p:nvPr/>
        </p:nvSpPr>
        <p:spPr>
          <a:xfrm>
            <a:off x="10744200" y="4343400"/>
            <a:ext cx="640080" cy="457200"/>
          </a:xfrm>
          <a:prstGeom prst="rect">
            <a:avLst/>
          </a:prstGeom>
          <a:noFill/>
          <a:ln/>
        </p:spPr>
        <p:txBody>
          <a:bodyPr wrap="square" lIns="0" tIns="0" rIns="0" bIns="0" rtlCol="0" anchor="ctr"/>
          <a:lstStyle/>
          <a:p>
            <a:pPr algn="r" indent="0" marL="0">
              <a:buNone/>
            </a:pPr>
            <a:r>
              <a:rPr lang="en-US" sz="2200" b="1" dirty="0">
                <a:solidFill>
                  <a:srgbClr val="0E8A6E"/>
                </a:solidFill>
                <a:latin typeface="Cambria" pitchFamily="34" charset="0"/>
                <a:ea typeface="Cambria" pitchFamily="34" charset="-122"/>
                <a:cs typeface="Cambria" pitchFamily="34" charset="-120"/>
              </a:rPr>
              <a:t>06</a:t>
            </a:r>
            <a:endParaRPr lang="en-US" sz="2200" dirty="0"/>
          </a:p>
        </p:txBody>
      </p:sp>
      <p:sp>
        <p:nvSpPr>
          <p:cNvPr id="45" name="Text 37"/>
          <p:cNvSpPr txBox="1"/>
          <p:nvPr/>
        </p:nvSpPr>
        <p:spPr>
          <a:xfrm>
            <a:off x="8412480" y="5166360"/>
            <a:ext cx="2971800" cy="411480"/>
          </a:xfrm>
          <a:prstGeom prst="rect">
            <a:avLst/>
          </a:prstGeom>
          <a:noFill/>
          <a:ln/>
        </p:spPr>
        <p:txBody>
          <a:bodyPr wrap="square" lIns="0" tIns="0" rIns="0" bIns="0" rtlCol="0" anchor="ctr"/>
          <a:lstStyle/>
          <a:p>
            <a:pPr indent="0" marL="0">
              <a:buNone/>
            </a:pPr>
            <a:r>
              <a:rPr lang="en-US" sz="1900" b="1" dirty="0">
                <a:solidFill>
                  <a:srgbClr val="0B3B36"/>
                </a:solidFill>
                <a:latin typeface="Cambria" pitchFamily="34" charset="0"/>
                <a:ea typeface="Cambria" pitchFamily="34" charset="-122"/>
                <a:cs typeface="Cambria" pitchFamily="34" charset="-120"/>
              </a:rPr>
              <a:t>Deploy and roadmap</a:t>
            </a:r>
            <a:endParaRPr lang="en-US" sz="1900" dirty="0"/>
          </a:p>
        </p:txBody>
      </p:sp>
      <p:sp>
        <p:nvSpPr>
          <p:cNvPr id="46" name="Text 38"/>
          <p:cNvSpPr txBox="1"/>
          <p:nvPr/>
        </p:nvSpPr>
        <p:spPr>
          <a:xfrm>
            <a:off x="8412480" y="5577840"/>
            <a:ext cx="2971800" cy="411480"/>
          </a:xfrm>
          <a:prstGeom prst="rect">
            <a:avLst/>
          </a:prstGeom>
          <a:noFill/>
          <a:ln/>
        </p:spPr>
        <p:txBody>
          <a:bodyPr wrap="square" lIns="0" tIns="0" rIns="0" bIns="0" rtlCol="0" anchor="t"/>
          <a:lstStyle/>
          <a:p>
            <a:pPr indent="0" marL="0">
              <a:buNone/>
            </a:pPr>
            <a:r>
              <a:rPr lang="en-US" sz="1300" dirty="0">
                <a:solidFill>
                  <a:srgbClr val="5E6B70"/>
                </a:solidFill>
              </a:rPr>
              <a:t>Try it today, and where it goes next</a:t>
            </a:r>
            <a:endParaRPr lang="en-US" sz="1300" dirty="0"/>
          </a:p>
        </p:txBody>
      </p:sp>
      <p:sp>
        <p:nvSpPr>
          <p:cNvPr id="47" name="agenda-link-06">
            <a:hlinkClick r:id="rId31" tooltip="Deploy and roadmap" action="ppaction://hlinksldjump"/>
          </p:cNvPr>
          <p:cNvSpPr/>
          <p:nvPr/>
        </p:nvSpPr>
        <p:spPr>
          <a:xfrm>
            <a:off x="8138160" y="4069080"/>
            <a:ext cx="3520440" cy="2057400"/>
          </a:xfrm>
          <a:prstGeom prst="rect">
            <a:avLst/>
          </a:prstGeom>
          <a:solidFill>
            <a:srgbClr val="FFFFFF">
              <a:alpha val="0"/>
            </a:srgbClr>
          </a:solidFill>
          <a:ln w="12700">
            <a:solidFill>
              <a:srgbClr val="FFFFFF">
                <a:alpha val="0"/>
              </a:srgbClr>
            </a:solidFill>
            <a:prstDash val="solid"/>
          </a:ln>
        </p:spPr>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766560" cy="1188720"/>
          </a:xfrm>
          <a:prstGeom prst="rect">
            <a:avLst/>
          </a:prstGeom>
          <a:noFill/>
          <a:ln/>
        </p:spPr>
        <p:txBody>
          <a:bodyPr wrap="square" lIns="0" tIns="0" rIns="0" bIns="0" rtlCol="0" anchor="b"/>
          <a:lstStyle/>
          <a:p>
            <a:pPr algn="l" indent="0" marL="0">
              <a:buNone/>
            </a:pPr>
            <a:r>
              <a:rPr lang="en-US" sz="4400" b="1" dirty="0">
                <a:solidFill>
                  <a:schemeClr val="bg1"/>
                </a:solidFill>
                <a:latin typeface="Cambria" pitchFamily="34" charset="0"/>
                <a:ea typeface="Cambria" pitchFamily="34" charset="-122"/>
                <a:cs typeface="Cambria" pitchFamily="34" charset="-120"/>
              </a:rPr>
              <a:t>The idea</a:t>
            </a:r>
            <a:endParaRPr lang="en-US" sz="4400" dirty="0"/>
          </a:p>
        </p:txBody>
      </p:sp>
      <p:sp>
        <p:nvSpPr>
          <p:cNvPr id="3" name="Text 0"/>
          <p:cNvSpPr/>
          <p:nvPr>
            <p:ph idx="101" type="body" hasCustomPrompt="1"/>
          </p:nvPr>
        </p:nvSpPr>
        <p:spPr>
          <a:xfrm>
            <a:off x="731520" y="2788920"/>
            <a:ext cx="6400800" cy="1097280"/>
          </a:xfrm>
          <a:prstGeom prst="rect">
            <a:avLst/>
          </a:prstGeom>
          <a:noFill/>
          <a:ln/>
        </p:spPr>
        <p:txBody>
          <a:bodyPr wrap="square" lIns="0" tIns="0" rIns="0" bIns="0" rtlCol="0" anchor="t"/>
          <a:lstStyle/>
          <a:p>
            <a:pPr indent="0" marL="0">
              <a:buNone/>
            </a:pPr>
            <a:r>
              <a:rPr lang="en-US" sz="1800" dirty="0">
                <a:solidFill>
                  <a:schemeClr val="bg2"/>
                </a:solidFill>
              </a:rPr>
              <a:t>Why HAMAR SHIKSHA, and the platform at a glance</a:t>
            </a:r>
            <a:endParaRPr lang="en-US" sz="1800" dirty="0"/>
          </a:p>
        </p:txBody>
      </p:sp>
      <p:sp>
        <p:nvSpPr>
          <p:cNvPr id="4" name="Text 2"/>
          <p:cNvSpPr txBox="1"/>
          <p:nvPr/>
        </p:nvSpPr>
        <p:spPr>
          <a:xfrm>
            <a:off x="731520" y="685800"/>
            <a:ext cx="1828800" cy="731520"/>
          </a:xfrm>
          <a:prstGeom prst="rect">
            <a:avLst/>
          </a:prstGeom>
          <a:noFill/>
          <a:ln/>
        </p:spPr>
        <p:txBody>
          <a:bodyPr wrap="square" lIns="0" tIns="0" rIns="0" bIns="0" rtlCol="0" anchor="ctr"/>
          <a:lstStyle/>
          <a:p>
            <a:pPr indent="0" marL="0">
              <a:buNone/>
            </a:pPr>
            <a:r>
              <a:rPr lang="en-US" sz="4000" b="1" dirty="0">
                <a:solidFill>
                  <a:srgbClr val="C9921A"/>
                </a:solidFill>
                <a:latin typeface="Cambria" pitchFamily="34" charset="0"/>
                <a:ea typeface="Cambria" pitchFamily="34" charset="-122"/>
                <a:cs typeface="Cambria" pitchFamily="34" charset="-120"/>
              </a:rPr>
              <a:t>01</a:t>
            </a:r>
            <a:endParaRPr lang="en-US" sz="4000" dirty="0"/>
          </a:p>
        </p:txBody>
      </p:sp>
      <p:sp>
        <p:nvSpPr>
          <p:cNvPr id="5" name="Text 3"/>
          <p:cNvSpPr txBox="1"/>
          <p:nvPr/>
        </p:nvSpPr>
        <p:spPr>
          <a:xfrm>
            <a:off x="8001000" y="1417320"/>
            <a:ext cx="3474720" cy="320040"/>
          </a:xfrm>
          <a:prstGeom prst="rect">
            <a:avLst/>
          </a:prstGeom>
          <a:noFill/>
          <a:ln/>
        </p:spPr>
        <p:txBody>
          <a:bodyPr wrap="square" lIns="0" tIns="0" rIns="0" bIns="0" rtlCol="0" anchor="t"/>
          <a:lstStyle/>
          <a:p>
            <a:pPr indent="0" marL="0">
              <a:buNone/>
            </a:pPr>
            <a:r>
              <a:rPr lang="en-US" sz="1200" b="1" spc="200" kern="0" dirty="0">
                <a:solidFill>
                  <a:srgbClr val="C9921A"/>
                </a:solidFill>
              </a:rPr>
              <a:t>IN THIS SECTION</a:t>
            </a:r>
            <a:endParaRPr lang="en-US" sz="1200" dirty="0"/>
          </a:p>
        </p:txBody>
      </p:sp>
      <p:sp>
        <p:nvSpPr>
          <p:cNvPr id="6" name="menu-challenge"/>
          <p:cNvSpPr/>
          <p:nvPr/>
        </p:nvSpPr>
        <p:spPr>
          <a:xfrm>
            <a:off x="8001000" y="1828800"/>
            <a:ext cx="3611880" cy="457200"/>
          </a:xfrm>
          <a:prstGeom prst="roundRect">
            <a:avLst>
              <a:gd name="adj" fmla="val 20000"/>
            </a:avLst>
          </a:prstGeom>
          <a:solidFill>
            <a:srgbClr val="134E47"/>
          </a:solidFill>
          <a:ln>
            <a:solidFill>
              <a:srgbClr val="134E47"/>
            </a:solidFill>
          </a:ln>
        </p:spPr>
        <p:txBody>
          <a:bodyPr wrap="square" lIns="0" tIns="152400" rIns="127000" bIns="0" rtlCol="0" anchor="ctr"/>
          <a:lstStyle/>
          <a:p>
            <a:pPr algn="l" indent="0" marL="0">
              <a:buNone/>
            </a:pPr>
            <a:r>
              <a:rPr lang="en-US" sz="1300" dirty="0">
                <a:solidFill>
                  <a:srgbClr val="FFFFFF"/>
                </a:solidFill>
              </a:rPr>
              <a:t>01   The challenge and our answer  →</a:t>
            </a:r>
            <a:endParaRPr lang="en-US" sz="1300" dirty="0"/>
          </a:p>
        </p:txBody>
      </p:sp>
      <p:sp>
        <p:nvSpPr>
          <p:cNvPr id="7" name="menu-link-challenge">
            <a:hlinkClick r:id="rId1" tooltip="The challenge and our answer" action="ppaction://hlinksldjump"/>
          </p:cNvPr>
          <p:cNvSpPr/>
          <p:nvPr/>
        </p:nvSpPr>
        <p:spPr>
          <a:xfrm>
            <a:off x="8001000" y="1828800"/>
            <a:ext cx="3611880" cy="457200"/>
          </a:xfrm>
          <a:prstGeom prst="rect">
            <a:avLst/>
          </a:prstGeom>
          <a:solidFill>
            <a:srgbClr val="FFFFFF">
              <a:alpha val="0"/>
            </a:srgbClr>
          </a:solidFill>
          <a:ln w="12700">
            <a:solidFill>
              <a:srgbClr val="FFFFFF">
                <a:alpha val="0"/>
              </a:srgbClr>
            </a:solidFill>
            <a:prstDash val="solid"/>
          </a:ln>
        </p:spPr>
      </p:sp>
      <p:sp>
        <p:nvSpPr>
          <p:cNvPr id="8" name="menu-glance"/>
          <p:cNvSpPr/>
          <p:nvPr/>
        </p:nvSpPr>
        <p:spPr>
          <a:xfrm>
            <a:off x="8001000" y="2395728"/>
            <a:ext cx="3611880" cy="457200"/>
          </a:xfrm>
          <a:prstGeom prst="roundRect">
            <a:avLst>
              <a:gd name="adj" fmla="val 20000"/>
            </a:avLst>
          </a:prstGeom>
          <a:solidFill>
            <a:srgbClr val="134E47"/>
          </a:solidFill>
          <a:ln>
            <a:solidFill>
              <a:srgbClr val="134E47"/>
            </a:solidFill>
          </a:ln>
        </p:spPr>
        <p:txBody>
          <a:bodyPr wrap="square" lIns="0" tIns="152400" rIns="127000" bIns="0" rtlCol="0" anchor="ctr"/>
          <a:lstStyle/>
          <a:p>
            <a:pPr algn="l" indent="0" marL="0">
              <a:buNone/>
            </a:pPr>
            <a:r>
              <a:rPr lang="en-US" sz="1300" dirty="0">
                <a:solidFill>
                  <a:srgbClr val="FFFFFF"/>
                </a:solidFill>
              </a:rPr>
              <a:t>02   One platform, three portals  →</a:t>
            </a:r>
            <a:endParaRPr lang="en-US" sz="1300" dirty="0"/>
          </a:p>
        </p:txBody>
      </p:sp>
      <p:sp>
        <p:nvSpPr>
          <p:cNvPr id="9" name="menu-link-glance">
            <a:hlinkClick r:id="rId2" tooltip="One platform, three portals" action="ppaction://hlinksldjump"/>
          </p:cNvPr>
          <p:cNvSpPr/>
          <p:nvPr/>
        </p:nvSpPr>
        <p:spPr>
          <a:xfrm>
            <a:off x="8001000" y="2395728"/>
            <a:ext cx="3611880" cy="457200"/>
          </a:xfrm>
          <a:prstGeom prst="rect">
            <a:avLst/>
          </a:prstGeom>
          <a:solidFill>
            <a:srgbClr val="FFFFFF">
              <a:alpha val="0"/>
            </a:srgbClr>
          </a:solidFill>
          <a:ln w="12700">
            <a:solidFill>
              <a:srgbClr val="FFFFFF">
                <a:alpha val="0"/>
              </a:srgbClr>
            </a:solidFill>
            <a:prstDash val="solid"/>
          </a:ln>
        </p:spPr>
      </p:sp>
      <p:sp>
        <p:nvSpPr>
          <p:cNvPr id="10" name="menu-objectives"/>
          <p:cNvSpPr/>
          <p:nvPr/>
        </p:nvSpPr>
        <p:spPr>
          <a:xfrm>
            <a:off x="8001000" y="2962656"/>
            <a:ext cx="3611880" cy="457200"/>
          </a:xfrm>
          <a:prstGeom prst="roundRect">
            <a:avLst>
              <a:gd name="adj" fmla="val 20000"/>
            </a:avLst>
          </a:prstGeom>
          <a:solidFill>
            <a:srgbClr val="134E47"/>
          </a:solidFill>
          <a:ln>
            <a:solidFill>
              <a:srgbClr val="134E47"/>
            </a:solidFill>
          </a:ln>
        </p:spPr>
        <p:txBody>
          <a:bodyPr wrap="square" lIns="0" tIns="152400" rIns="127000" bIns="0" rtlCol="0" anchor="ctr"/>
          <a:lstStyle/>
          <a:p>
            <a:pPr algn="l" indent="0" marL="0">
              <a:buNone/>
            </a:pPr>
            <a:r>
              <a:rPr lang="en-US" sz="1300" dirty="0">
                <a:solidFill>
                  <a:srgbClr val="FFFFFF"/>
                </a:solidFill>
              </a:rPr>
              <a:t>03   All 16 objectives covered  →</a:t>
            </a:r>
            <a:endParaRPr lang="en-US" sz="1300" dirty="0"/>
          </a:p>
        </p:txBody>
      </p:sp>
      <p:sp>
        <p:nvSpPr>
          <p:cNvPr id="11" name="menu-link-objectives">
            <a:hlinkClick r:id="rId3" tooltip="All 16 objectives covered" action="ppaction://hlinksldjump"/>
          </p:cNvPr>
          <p:cNvSpPr/>
          <p:nvPr/>
        </p:nvSpPr>
        <p:spPr>
          <a:xfrm>
            <a:off x="8001000" y="2962656"/>
            <a:ext cx="3611880" cy="457200"/>
          </a:xfrm>
          <a:prstGeom prst="rect">
            <a:avLst/>
          </a:prstGeom>
          <a:solidFill>
            <a:srgbClr val="FFFFFF">
              <a:alpha val="0"/>
            </a:srgbClr>
          </a:solidFill>
          <a:ln w="12700">
            <a:solidFill>
              <a:srgbClr val="FFFFFF">
                <a:alpha val="0"/>
              </a:srgbClr>
            </a:solidFill>
            <a:prstDash val="solid"/>
          </a:ln>
        </p:spPr>
      </p:sp>
      <p:sp>
        <p:nvSpPr>
          <p:cNvPr id="12" name="icon-bg-FaLightbulb"/>
          <p:cNvSpPr/>
          <p:nvPr/>
        </p:nvSpPr>
        <p:spPr>
          <a:xfrm>
            <a:off x="731520" y="4206240"/>
            <a:ext cx="1097280" cy="1097280"/>
          </a:xfrm>
          <a:prstGeom prst="ellipse">
            <a:avLst/>
          </a:prstGeom>
          <a:solidFill>
            <a:srgbClr val="C9921A"/>
          </a:solidFill>
          <a:ln w="12700">
            <a:solidFill>
              <a:srgbClr val="C9921A"/>
            </a:solidFill>
            <a:prstDash val="solid"/>
          </a:ln>
        </p:spPr>
      </p:sp>
      <p:pic>
        <p:nvPicPr>
          <p:cNvPr id="13" name="icon-FaLightbulb" descr="preencoded.png">    </p:cNvPr>
          <p:cNvPicPr>
            <a:picLocks noChangeAspect="1"/>
          </p:cNvPicPr>
          <p:nvPr/>
        </p:nvPicPr>
        <p:blipFill>
          <a:blip r:embed="rId4"/>
          <a:stretch>
            <a:fillRect/>
          </a:stretch>
        </p:blipFill>
        <p:spPr>
          <a:xfrm>
            <a:off x="1005840" y="4480560"/>
            <a:ext cx="548640" cy="548640"/>
          </a:xfrm>
          <a:prstGeom prst="rect">
            <a:avLst/>
          </a:prstGeom>
        </p:spPr>
      </p:pic>
      <p:sp>
        <p:nvSpPr>
          <p:cNvPr id="14" name="button--Agenda"/>
          <p:cNvSpPr/>
          <p:nvPr/>
        </p:nvSpPr>
        <p:spPr>
          <a:xfrm>
            <a:off x="731520" y="5760720"/>
            <a:ext cx="1280160" cy="384048"/>
          </a:xfrm>
          <a:prstGeom prst="roundRect">
            <a:avLst>
              <a:gd name="adj" fmla="val 54762"/>
            </a:avLst>
          </a:prstGeom>
          <a:solidFill>
            <a:srgbClr val="134E47"/>
          </a:solidFill>
          <a:ln>
            <a:solidFill>
              <a:srgbClr val="134E47"/>
            </a:solidFill>
          </a:ln>
        </p:spPr>
        <p:txBody>
          <a:bodyPr wrap="square" lIns="0" tIns="0" rIns="0" bIns="0" rtlCol="0" anchor="ctr"/>
          <a:lstStyle/>
          <a:p>
            <a:pPr algn="ctr" indent="0" marL="0">
              <a:buNone/>
            </a:pPr>
            <a:r>
              <a:rPr lang="en-US" sz="1200" b="1" dirty="0">
                <a:solidFill>
                  <a:srgbClr val="FFFFFF"/>
                </a:solidFill>
              </a:rPr>
              <a:t>☰  Agenda</a:t>
            </a:r>
            <a:endParaRPr lang="en-US" sz="1200" dirty="0"/>
          </a:p>
        </p:txBody>
      </p:sp>
      <p:sp>
        <p:nvSpPr>
          <p:cNvPr id="15" name="button-link--Agenda">
            <a:hlinkClick r:id="rId5" tooltip="Back to the agenda" action="ppaction://hlinksldjump"/>
          </p:cNvPr>
          <p:cNvSpPr/>
          <p:nvPr/>
        </p:nvSpPr>
        <p:spPr>
          <a:xfrm>
            <a:off x="731520" y="5760720"/>
            <a:ext cx="1280160" cy="384048"/>
          </a:xfrm>
          <a:prstGeom prst="rect">
            <a:avLst/>
          </a:prstGeom>
          <a:solidFill>
            <a:srgbClr val="FFFFFF">
              <a:alpha val="0"/>
            </a:srgbClr>
          </a:solidFill>
          <a:ln w="12700">
            <a:solidFill>
              <a:srgbClr val="FFFFFF">
                <a:alpha val="0"/>
              </a:srgbClr>
            </a:solidFill>
            <a:prstDash val="solid"/>
          </a:ln>
        </p:spPr>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3</a:t>
            </a:fld>
            <a:endParaRPr lang="en-US"/>
          </a:p>
        </p:txBody>
      </p:sp>
    </p:spTree>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59536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The challenge, and our answer</a:t>
            </a:r>
            <a:endParaRPr lang="en-US" sz="3000" dirty="0"/>
          </a:p>
        </p:txBody>
      </p:sp>
      <p:sp>
        <p:nvSpPr>
          <p:cNvPr id="3" name="button--Agenda"/>
          <p:cNvSpPr/>
          <p:nvPr/>
        </p:nvSpPr>
        <p:spPr>
          <a:xfrm>
            <a:off x="9372600" y="502920"/>
            <a:ext cx="1097280" cy="365760"/>
          </a:xfrm>
          <a:prstGeom prst="roundRect">
            <a:avLst>
              <a:gd name="adj" fmla="val 57500"/>
            </a:avLst>
          </a:prstGeom>
          <a:solidFill>
            <a:srgbClr val="EFF5F2"/>
          </a:solidFill>
          <a:ln>
            <a:solidFill>
              <a:srgbClr val="EFF5F2"/>
            </a:solidFill>
          </a:ln>
        </p:spPr>
        <p:txBody>
          <a:bodyPr wrap="square" lIns="0" tIns="0" rIns="0" bIns="0" rtlCol="0" anchor="ctr"/>
          <a:lstStyle/>
          <a:p>
            <a:pPr algn="ctr" indent="0" marL="0">
              <a:buNone/>
            </a:pPr>
            <a:r>
              <a:rPr lang="en-US" sz="1200" b="1" dirty="0">
                <a:solidFill>
                  <a:srgbClr val="0B3B36"/>
                </a:solidFill>
              </a:rPr>
              <a:t>☰  Agenda</a:t>
            </a:r>
            <a:endParaRPr lang="en-US" sz="1200" dirty="0"/>
          </a:p>
        </p:txBody>
      </p:sp>
      <p:sp>
        <p:nvSpPr>
          <p:cNvPr id="4" name="button-link--Agenda">
            <a:hlinkClick r:id="rId1" tooltip="Back to the agenda" action="ppaction://hlinksldjump"/>
          </p:cNvPr>
          <p:cNvSpPr/>
          <p:nvPr/>
        </p:nvSpPr>
        <p:spPr>
          <a:xfrm>
            <a:off x="9372600" y="502920"/>
            <a:ext cx="1097280" cy="365760"/>
          </a:xfrm>
          <a:prstGeom prst="rect">
            <a:avLst/>
          </a:prstGeom>
          <a:solidFill>
            <a:srgbClr val="FFFFFF">
              <a:alpha val="0"/>
            </a:srgbClr>
          </a:solidFill>
          <a:ln w="12700">
            <a:solidFill>
              <a:srgbClr val="FFFFFF">
                <a:alpha val="0"/>
              </a:srgbClr>
            </a:solidFill>
            <a:prstDash val="solid"/>
          </a:ln>
        </p:spPr>
      </p:sp>
      <p:sp>
        <p:nvSpPr>
          <p:cNvPr id="5" name="button-Live-demo-"/>
          <p:cNvSpPr/>
          <p:nvPr/>
        </p:nvSpPr>
        <p:spPr>
          <a:xfrm>
            <a:off x="10561320" y="502920"/>
            <a:ext cx="1097280" cy="365760"/>
          </a:xfrm>
          <a:prstGeom prst="roundRect">
            <a:avLst>
              <a:gd name="adj" fmla="val 57500"/>
            </a:avLst>
          </a:prstGeom>
          <a:solidFill>
            <a:srgbClr val="0B3B36"/>
          </a:solidFill>
          <a:ln>
            <a:solidFill>
              <a:srgbClr val="0B3B36"/>
            </a:solidFill>
          </a:ln>
        </p:spPr>
        <p:txBody>
          <a:bodyPr wrap="square" lIns="0" tIns="0" rIns="0" bIns="0" rtlCol="0" anchor="ctr"/>
          <a:lstStyle/>
          <a:p>
            <a:pPr algn="ctr" indent="0" marL="0">
              <a:buNone/>
            </a:pPr>
            <a:r>
              <a:rPr lang="en-US" sz="1200" b="1" dirty="0">
                <a:solidFill>
                  <a:srgbClr val="FFFFFF"/>
                </a:solidFill>
              </a:rPr>
              <a:t>Live demo ↗</a:t>
            </a:r>
            <a:endParaRPr lang="en-US" sz="1200" dirty="0"/>
          </a:p>
        </p:txBody>
      </p:sp>
      <p:sp>
        <p:nvSpPr>
          <p:cNvPr id="6" name="button-link-Live-demo-">
            <a:hlinkClick r:id="rId2" tooltip="Open the live demo"/>
          </p:cNvPr>
          <p:cNvSpPr/>
          <p:nvPr/>
        </p:nvSpPr>
        <p:spPr>
          <a:xfrm>
            <a:off x="10561320" y="502920"/>
            <a:ext cx="1097280" cy="365760"/>
          </a:xfrm>
          <a:prstGeom prst="rect">
            <a:avLst/>
          </a:prstGeom>
          <a:solidFill>
            <a:srgbClr val="FFFFFF">
              <a:alpha val="0"/>
            </a:srgbClr>
          </a:solidFill>
          <a:ln w="12700">
            <a:solidFill>
              <a:srgbClr val="FFFFFF">
                <a:alpha val="0"/>
              </a:srgbClr>
            </a:solidFill>
            <a:prstDash val="solid"/>
          </a:ln>
        </p:spPr>
      </p:sp>
      <p:sp>
        <p:nvSpPr>
          <p:cNvPr id="7" name="card-problem"/>
          <p:cNvSpPr/>
          <p:nvPr/>
        </p:nvSpPr>
        <p:spPr>
          <a:xfrm>
            <a:off x="548640" y="1325880"/>
            <a:ext cx="5349240" cy="4800600"/>
          </a:xfrm>
          <a:prstGeom prst="roundRect">
            <a:avLst>
              <a:gd name="adj" fmla="val 2286"/>
            </a:avLst>
          </a:prstGeom>
          <a:solidFill>
            <a:srgbClr val="FDF1E7"/>
          </a:solidFill>
          <a:ln w="12700">
            <a:solidFill>
              <a:srgbClr val="FDF1E7"/>
            </a:solidFill>
            <a:prstDash val="solid"/>
          </a:ln>
          <a:effectLst>
            <a:outerShdw sx="100000" sy="100000" kx="0" ky="0" algn="bl" rotWithShape="0" blurRad="101600" dist="25400" dir="5400000">
              <a:srgbClr val="17242A">
                <a:alpha val="16000"/>
              </a:srgbClr>
            </a:outerShdw>
          </a:effectLst>
        </p:spPr>
      </p:sp>
      <p:sp>
        <p:nvSpPr>
          <p:cNvPr id="8" name="card-answer"/>
          <p:cNvSpPr/>
          <p:nvPr/>
        </p:nvSpPr>
        <p:spPr>
          <a:xfrm>
            <a:off x="6263640" y="1325880"/>
            <a:ext cx="5349240" cy="4800600"/>
          </a:xfrm>
          <a:prstGeom prst="roundRect">
            <a:avLst>
              <a:gd name="adj" fmla="val 2286"/>
            </a:avLst>
          </a:prstGeom>
          <a:solidFill>
            <a:srgbClr val="EFF5F2"/>
          </a:solidFill>
          <a:ln w="12700">
            <a:solidFill>
              <a:srgbClr val="EFF5F2"/>
            </a:solidFill>
            <a:prstDash val="solid"/>
          </a:ln>
          <a:effectLst>
            <a:outerShdw sx="100000" sy="100000" kx="0" ky="0" algn="bl" rotWithShape="0" blurRad="101600" dist="25400" dir="5400000">
              <a:srgbClr val="17242A">
                <a:alpha val="16000"/>
              </a:srgbClr>
            </a:outerShdw>
          </a:effectLst>
        </p:spPr>
      </p:sp>
      <p:sp>
        <p:nvSpPr>
          <p:cNvPr id="9" name="Text 7"/>
          <p:cNvSpPr txBox="1"/>
          <p:nvPr/>
        </p:nvSpPr>
        <p:spPr>
          <a:xfrm>
            <a:off x="868680" y="1508760"/>
            <a:ext cx="4572000" cy="411480"/>
          </a:xfrm>
          <a:prstGeom prst="rect">
            <a:avLst/>
          </a:prstGeom>
          <a:noFill/>
          <a:ln/>
        </p:spPr>
        <p:txBody>
          <a:bodyPr wrap="square" lIns="0" tIns="0" rIns="0" bIns="0" rtlCol="0" anchor="t"/>
          <a:lstStyle/>
          <a:p>
            <a:pPr indent="0" marL="0">
              <a:buNone/>
            </a:pPr>
            <a:r>
              <a:rPr lang="en-US" sz="2000" b="1" dirty="0">
                <a:solidFill>
                  <a:srgbClr val="B4531C"/>
                </a:solidFill>
                <a:latin typeface="Cambria" pitchFamily="34" charset="0"/>
                <a:ea typeface="Cambria" pitchFamily="34" charset="-122"/>
                <a:cs typeface="Cambria" pitchFamily="34" charset="-120"/>
              </a:rPr>
              <a:t>Today</a:t>
            </a:r>
            <a:endParaRPr lang="en-US" sz="2000" dirty="0"/>
          </a:p>
        </p:txBody>
      </p:sp>
      <p:sp>
        <p:nvSpPr>
          <p:cNvPr id="10" name="Text 8"/>
          <p:cNvSpPr txBox="1"/>
          <p:nvPr/>
        </p:nvSpPr>
        <p:spPr>
          <a:xfrm>
            <a:off x="6583680" y="1508760"/>
            <a:ext cx="4572000" cy="411480"/>
          </a:xfrm>
          <a:prstGeom prst="rect">
            <a:avLst/>
          </a:prstGeom>
          <a:noFill/>
          <a:ln/>
        </p:spPr>
        <p:txBody>
          <a:bodyPr wrap="square" lIns="0" tIns="0" rIns="0" bIns="0" rtlCol="0" anchor="t"/>
          <a:lstStyle/>
          <a:p>
            <a:pPr indent="0" marL="0">
              <a:buNone/>
            </a:pPr>
            <a:r>
              <a:rPr lang="en-US" sz="2000" b="1" dirty="0">
                <a:solidFill>
                  <a:srgbClr val="0E8A6E"/>
                </a:solidFill>
                <a:latin typeface="Cambria" pitchFamily="34" charset="0"/>
                <a:ea typeface="Cambria" pitchFamily="34" charset="-122"/>
                <a:cs typeface="Cambria" pitchFamily="34" charset="-120"/>
              </a:rPr>
              <a:t>With HAMAR SHIKSHA</a:t>
            </a:r>
            <a:endParaRPr lang="en-US" sz="2000" dirty="0"/>
          </a:p>
        </p:txBody>
      </p:sp>
      <p:sp>
        <p:nvSpPr>
          <p:cNvPr id="11" name="icon-bg-FaClipboardList"/>
          <p:cNvSpPr/>
          <p:nvPr/>
        </p:nvSpPr>
        <p:spPr>
          <a:xfrm>
            <a:off x="868680" y="2103120"/>
            <a:ext cx="502920" cy="502920"/>
          </a:xfrm>
          <a:prstGeom prst="ellipse">
            <a:avLst/>
          </a:prstGeom>
          <a:solidFill>
            <a:srgbClr val="F6D3B8"/>
          </a:solidFill>
          <a:ln w="12700">
            <a:solidFill>
              <a:srgbClr val="F6D3B8"/>
            </a:solidFill>
            <a:prstDash val="solid"/>
          </a:ln>
        </p:spPr>
      </p:sp>
      <p:pic>
        <p:nvPicPr>
          <p:cNvPr id="12" name="icon-FaClipboardList" descr="preencoded.png">    </p:cNvPr>
          <p:cNvPicPr>
            <a:picLocks noChangeAspect="1"/>
          </p:cNvPicPr>
          <p:nvPr/>
        </p:nvPicPr>
        <p:blipFill>
          <a:blip r:embed="rId3"/>
          <a:stretch>
            <a:fillRect/>
          </a:stretch>
        </p:blipFill>
        <p:spPr>
          <a:xfrm>
            <a:off x="994410" y="2228850"/>
            <a:ext cx="251460" cy="251460"/>
          </a:xfrm>
          <a:prstGeom prst="rect">
            <a:avLst/>
          </a:prstGeom>
        </p:spPr>
      </p:pic>
      <p:sp>
        <p:nvSpPr>
          <p:cNvPr id="13" name="Text 10"/>
          <p:cNvSpPr txBox="1"/>
          <p:nvPr/>
        </p:nvSpPr>
        <p:spPr>
          <a:xfrm>
            <a:off x="1554480" y="2103120"/>
            <a:ext cx="4160520" cy="685800"/>
          </a:xfrm>
          <a:prstGeom prst="rect">
            <a:avLst/>
          </a:prstGeom>
          <a:noFill/>
          <a:ln/>
        </p:spPr>
        <p:txBody>
          <a:bodyPr wrap="square" lIns="0" tIns="0" rIns="0" bIns="0" rtlCol="0" anchor="ctr"/>
          <a:lstStyle/>
          <a:p>
            <a:pPr indent="0" marL="0">
              <a:buNone/>
            </a:pPr>
            <a:r>
              <a:rPr lang="en-US" sz="1400" dirty="0">
                <a:solidFill>
                  <a:srgbClr val="17242A"/>
                </a:solidFill>
              </a:rPr>
              <a:t>Teachers spend hours on registers and reports instead of teaching</a:t>
            </a:r>
            <a:endParaRPr lang="en-US" sz="1400" dirty="0"/>
          </a:p>
        </p:txBody>
      </p:sp>
      <p:sp>
        <p:nvSpPr>
          <p:cNvPr id="14" name="icon-bg-FaCircleCheck"/>
          <p:cNvSpPr/>
          <p:nvPr/>
        </p:nvSpPr>
        <p:spPr>
          <a:xfrm>
            <a:off x="6583680" y="2103120"/>
            <a:ext cx="502920" cy="502920"/>
          </a:xfrm>
          <a:prstGeom prst="ellipse">
            <a:avLst/>
          </a:prstGeom>
          <a:solidFill>
            <a:srgbClr val="CFE8DF"/>
          </a:solidFill>
          <a:ln w="12700">
            <a:solidFill>
              <a:srgbClr val="CFE8DF"/>
            </a:solidFill>
            <a:prstDash val="solid"/>
          </a:ln>
        </p:spPr>
      </p:sp>
      <p:pic>
        <p:nvPicPr>
          <p:cNvPr id="15" name="icon-FaCircleCheck" descr="preencoded.png">    </p:cNvPr>
          <p:cNvPicPr>
            <a:picLocks noChangeAspect="1"/>
          </p:cNvPicPr>
          <p:nvPr/>
        </p:nvPicPr>
        <p:blipFill>
          <a:blip r:embed="rId4"/>
          <a:stretch>
            <a:fillRect/>
          </a:stretch>
        </p:blipFill>
        <p:spPr>
          <a:xfrm>
            <a:off x="6709410" y="2228850"/>
            <a:ext cx="251460" cy="251460"/>
          </a:xfrm>
          <a:prstGeom prst="rect">
            <a:avLst/>
          </a:prstGeom>
        </p:spPr>
      </p:pic>
      <p:sp>
        <p:nvSpPr>
          <p:cNvPr id="16" name="Text 12"/>
          <p:cNvSpPr txBox="1"/>
          <p:nvPr/>
        </p:nvSpPr>
        <p:spPr>
          <a:xfrm>
            <a:off x="7269480" y="2103120"/>
            <a:ext cx="4160520" cy="685800"/>
          </a:xfrm>
          <a:prstGeom prst="rect">
            <a:avLst/>
          </a:prstGeom>
          <a:noFill/>
          <a:ln/>
        </p:spPr>
        <p:txBody>
          <a:bodyPr wrap="square" lIns="0" tIns="0" rIns="0" bIns="0" rtlCol="0" anchor="ctr"/>
          <a:lstStyle/>
          <a:p>
            <a:pPr indent="0" marL="0">
              <a:buNone/>
            </a:pPr>
            <a:r>
              <a:rPr lang="en-US" sz="1400" dirty="0">
                <a:solidFill>
                  <a:srgbClr val="17242A"/>
                </a:solidFill>
              </a:rPr>
              <a:t>One tap to record what was taught; dashboards and reports build themselves</a:t>
            </a:r>
            <a:endParaRPr lang="en-US" sz="1400" dirty="0"/>
          </a:p>
        </p:txBody>
      </p:sp>
      <p:sp>
        <p:nvSpPr>
          <p:cNvPr id="17" name="icon-bg-FaUserSlash"/>
          <p:cNvSpPr/>
          <p:nvPr/>
        </p:nvSpPr>
        <p:spPr>
          <a:xfrm>
            <a:off x="868680" y="2889504"/>
            <a:ext cx="502920" cy="502920"/>
          </a:xfrm>
          <a:prstGeom prst="ellipse">
            <a:avLst/>
          </a:prstGeom>
          <a:solidFill>
            <a:srgbClr val="F6D3B8"/>
          </a:solidFill>
          <a:ln w="12700">
            <a:solidFill>
              <a:srgbClr val="F6D3B8"/>
            </a:solidFill>
            <a:prstDash val="solid"/>
          </a:ln>
        </p:spPr>
      </p:sp>
      <p:pic>
        <p:nvPicPr>
          <p:cNvPr id="18" name="icon-FaUserSlash" descr="preencoded.png">    </p:cNvPr>
          <p:cNvPicPr>
            <a:picLocks noChangeAspect="1"/>
          </p:cNvPicPr>
          <p:nvPr/>
        </p:nvPicPr>
        <p:blipFill>
          <a:blip r:embed="rId5"/>
          <a:stretch>
            <a:fillRect/>
          </a:stretch>
        </p:blipFill>
        <p:spPr>
          <a:xfrm>
            <a:off x="994410" y="3015234"/>
            <a:ext cx="251460" cy="251460"/>
          </a:xfrm>
          <a:prstGeom prst="rect">
            <a:avLst/>
          </a:prstGeom>
        </p:spPr>
      </p:pic>
      <p:sp>
        <p:nvSpPr>
          <p:cNvPr id="19" name="Text 14"/>
          <p:cNvSpPr txBox="1"/>
          <p:nvPr/>
        </p:nvSpPr>
        <p:spPr>
          <a:xfrm>
            <a:off x="1554480" y="2889504"/>
            <a:ext cx="4160520" cy="685800"/>
          </a:xfrm>
          <a:prstGeom prst="rect">
            <a:avLst/>
          </a:prstGeom>
          <a:noFill/>
          <a:ln/>
        </p:spPr>
        <p:txBody>
          <a:bodyPr wrap="square" lIns="0" tIns="0" rIns="0" bIns="0" rtlCol="0" anchor="ctr"/>
          <a:lstStyle/>
          <a:p>
            <a:pPr indent="0" marL="0">
              <a:buNone/>
            </a:pPr>
            <a:r>
              <a:rPr lang="en-US" sz="1400" dirty="0">
                <a:solidFill>
                  <a:srgbClr val="17242A"/>
                </a:solidFill>
              </a:rPr>
              <a:t>Many schools lack a teacher, or expertise, for some subjects</a:t>
            </a:r>
            <a:endParaRPr lang="en-US" sz="1400" dirty="0"/>
          </a:p>
        </p:txBody>
      </p:sp>
      <p:sp>
        <p:nvSpPr>
          <p:cNvPr id="20" name="icon-bg-FaCircleCheck"/>
          <p:cNvSpPr/>
          <p:nvPr/>
        </p:nvSpPr>
        <p:spPr>
          <a:xfrm>
            <a:off x="6583680" y="2889504"/>
            <a:ext cx="502920" cy="502920"/>
          </a:xfrm>
          <a:prstGeom prst="ellipse">
            <a:avLst/>
          </a:prstGeom>
          <a:solidFill>
            <a:srgbClr val="CFE8DF"/>
          </a:solidFill>
          <a:ln w="12700">
            <a:solidFill>
              <a:srgbClr val="CFE8DF"/>
            </a:solidFill>
            <a:prstDash val="solid"/>
          </a:ln>
        </p:spPr>
      </p:sp>
      <p:pic>
        <p:nvPicPr>
          <p:cNvPr id="21" name="icon-FaCircleCheck" descr="preencoded.png">    </p:cNvPr>
          <p:cNvPicPr>
            <a:picLocks noChangeAspect="1"/>
          </p:cNvPicPr>
          <p:nvPr/>
        </p:nvPicPr>
        <p:blipFill>
          <a:blip r:embed="rId6"/>
          <a:stretch>
            <a:fillRect/>
          </a:stretch>
        </p:blipFill>
        <p:spPr>
          <a:xfrm>
            <a:off x="6709410" y="3015234"/>
            <a:ext cx="251460" cy="251460"/>
          </a:xfrm>
          <a:prstGeom prst="rect">
            <a:avLst/>
          </a:prstGeom>
        </p:spPr>
      </p:pic>
      <p:sp>
        <p:nvSpPr>
          <p:cNvPr id="22" name="Text 16"/>
          <p:cNvSpPr txBox="1"/>
          <p:nvPr/>
        </p:nvSpPr>
        <p:spPr>
          <a:xfrm>
            <a:off x="7269480" y="2889504"/>
            <a:ext cx="4160520" cy="685800"/>
          </a:xfrm>
          <a:prstGeom prst="rect">
            <a:avLst/>
          </a:prstGeom>
          <a:noFill/>
          <a:ln/>
        </p:spPr>
        <p:txBody>
          <a:bodyPr wrap="square" lIns="0" tIns="0" rIns="0" bIns="0" rtlCol="0" anchor="ctr"/>
          <a:lstStyle/>
          <a:p>
            <a:pPr indent="0" marL="0">
              <a:buNone/>
            </a:pPr>
            <a:r>
              <a:rPr lang="en-US" sz="1400" dirty="0">
                <a:solidFill>
                  <a:srgbClr val="17242A"/>
                </a:solidFill>
              </a:rPr>
              <a:t>Teacher Saathi and the AI Class support teaching from the approved textbooks</a:t>
            </a:r>
            <a:endParaRPr lang="en-US" sz="1400" dirty="0"/>
          </a:p>
        </p:txBody>
      </p:sp>
      <p:sp>
        <p:nvSpPr>
          <p:cNvPr id="23" name="icon-bg-FaEyeSlash"/>
          <p:cNvSpPr/>
          <p:nvPr/>
        </p:nvSpPr>
        <p:spPr>
          <a:xfrm>
            <a:off x="868680" y="3675888"/>
            <a:ext cx="502920" cy="502920"/>
          </a:xfrm>
          <a:prstGeom prst="ellipse">
            <a:avLst/>
          </a:prstGeom>
          <a:solidFill>
            <a:srgbClr val="F6D3B8"/>
          </a:solidFill>
          <a:ln w="12700">
            <a:solidFill>
              <a:srgbClr val="F6D3B8"/>
            </a:solidFill>
            <a:prstDash val="solid"/>
          </a:ln>
        </p:spPr>
      </p:sp>
      <p:pic>
        <p:nvPicPr>
          <p:cNvPr id="24" name="icon-FaEyeSlash" descr="preencoded.png">    </p:cNvPr>
          <p:cNvPicPr>
            <a:picLocks noChangeAspect="1"/>
          </p:cNvPicPr>
          <p:nvPr/>
        </p:nvPicPr>
        <p:blipFill>
          <a:blip r:embed="rId7"/>
          <a:stretch>
            <a:fillRect/>
          </a:stretch>
        </p:blipFill>
        <p:spPr>
          <a:xfrm>
            <a:off x="994410" y="3801618"/>
            <a:ext cx="251460" cy="251460"/>
          </a:xfrm>
          <a:prstGeom prst="rect">
            <a:avLst/>
          </a:prstGeom>
        </p:spPr>
      </p:pic>
      <p:sp>
        <p:nvSpPr>
          <p:cNvPr id="25" name="Text 18"/>
          <p:cNvSpPr txBox="1"/>
          <p:nvPr/>
        </p:nvSpPr>
        <p:spPr>
          <a:xfrm>
            <a:off x="1554480" y="3675888"/>
            <a:ext cx="4160520" cy="685800"/>
          </a:xfrm>
          <a:prstGeom prst="rect">
            <a:avLst/>
          </a:prstGeom>
          <a:noFill/>
          <a:ln/>
        </p:spPr>
        <p:txBody>
          <a:bodyPr wrap="square" lIns="0" tIns="0" rIns="0" bIns="0" rtlCol="0" anchor="ctr"/>
          <a:lstStyle/>
          <a:p>
            <a:pPr indent="0" marL="0">
              <a:buNone/>
            </a:pPr>
            <a:r>
              <a:rPr lang="en-US" sz="1400" dirty="0">
                <a:solidFill>
                  <a:srgbClr val="17242A"/>
                </a:solidFill>
              </a:rPr>
              <a:t>Children who fall behind or stop coming are noticed late</a:t>
            </a:r>
            <a:endParaRPr lang="en-US" sz="1400" dirty="0"/>
          </a:p>
        </p:txBody>
      </p:sp>
      <p:sp>
        <p:nvSpPr>
          <p:cNvPr id="26" name="icon-bg-FaCircleCheck"/>
          <p:cNvSpPr/>
          <p:nvPr/>
        </p:nvSpPr>
        <p:spPr>
          <a:xfrm>
            <a:off x="6583680" y="3675888"/>
            <a:ext cx="502920" cy="502920"/>
          </a:xfrm>
          <a:prstGeom prst="ellipse">
            <a:avLst/>
          </a:prstGeom>
          <a:solidFill>
            <a:srgbClr val="CFE8DF"/>
          </a:solidFill>
          <a:ln w="12700">
            <a:solidFill>
              <a:srgbClr val="CFE8DF"/>
            </a:solidFill>
            <a:prstDash val="solid"/>
          </a:ln>
        </p:spPr>
      </p:sp>
      <p:pic>
        <p:nvPicPr>
          <p:cNvPr id="27" name="icon-FaCircleCheck" descr="preencoded.png">    </p:cNvPr>
          <p:cNvPicPr>
            <a:picLocks noChangeAspect="1"/>
          </p:cNvPicPr>
          <p:nvPr/>
        </p:nvPicPr>
        <p:blipFill>
          <a:blip r:embed="rId8"/>
          <a:stretch>
            <a:fillRect/>
          </a:stretch>
        </p:blipFill>
        <p:spPr>
          <a:xfrm>
            <a:off x="6709410" y="3801618"/>
            <a:ext cx="251460" cy="251460"/>
          </a:xfrm>
          <a:prstGeom prst="rect">
            <a:avLst/>
          </a:prstGeom>
        </p:spPr>
      </p:pic>
      <p:sp>
        <p:nvSpPr>
          <p:cNvPr id="28" name="Text 20"/>
          <p:cNvSpPr txBox="1"/>
          <p:nvPr/>
        </p:nvSpPr>
        <p:spPr>
          <a:xfrm>
            <a:off x="7269480" y="3675888"/>
            <a:ext cx="4160520" cy="685800"/>
          </a:xfrm>
          <a:prstGeom prst="rect">
            <a:avLst/>
          </a:prstGeom>
          <a:noFill/>
          <a:ln/>
        </p:spPr>
        <p:txBody>
          <a:bodyPr wrap="square" lIns="0" tIns="0" rIns="0" bIns="0" rtlCol="0" anchor="ctr"/>
          <a:lstStyle/>
          <a:p>
            <a:pPr indent="0" marL="0">
              <a:buNone/>
            </a:pPr>
            <a:r>
              <a:rPr lang="en-US" sz="1400" dirty="0">
                <a:solidFill>
                  <a:srgbClr val="17242A"/>
                </a:solidFill>
              </a:rPr>
              <a:t>Learning profiles, priority lists and attendance follow-up for every child</a:t>
            </a:r>
            <a:endParaRPr lang="en-US" sz="1400" dirty="0"/>
          </a:p>
        </p:txBody>
      </p:sp>
      <p:sp>
        <p:nvSpPr>
          <p:cNvPr id="29" name="icon-bg-FaWifi"/>
          <p:cNvSpPr/>
          <p:nvPr/>
        </p:nvSpPr>
        <p:spPr>
          <a:xfrm>
            <a:off x="868680" y="4462272"/>
            <a:ext cx="502920" cy="502920"/>
          </a:xfrm>
          <a:prstGeom prst="ellipse">
            <a:avLst/>
          </a:prstGeom>
          <a:solidFill>
            <a:srgbClr val="F6D3B8"/>
          </a:solidFill>
          <a:ln w="12700">
            <a:solidFill>
              <a:srgbClr val="F6D3B8"/>
            </a:solidFill>
            <a:prstDash val="solid"/>
          </a:ln>
        </p:spPr>
      </p:sp>
      <p:pic>
        <p:nvPicPr>
          <p:cNvPr id="30" name="icon-FaWifi" descr="preencoded.png">    </p:cNvPr>
          <p:cNvPicPr>
            <a:picLocks noChangeAspect="1"/>
          </p:cNvPicPr>
          <p:nvPr/>
        </p:nvPicPr>
        <p:blipFill>
          <a:blip r:embed="rId9"/>
          <a:stretch>
            <a:fillRect/>
          </a:stretch>
        </p:blipFill>
        <p:spPr>
          <a:xfrm>
            <a:off x="994410" y="4588002"/>
            <a:ext cx="251460" cy="251460"/>
          </a:xfrm>
          <a:prstGeom prst="rect">
            <a:avLst/>
          </a:prstGeom>
        </p:spPr>
      </p:pic>
      <p:sp>
        <p:nvSpPr>
          <p:cNvPr id="31" name="Text 22"/>
          <p:cNvSpPr txBox="1"/>
          <p:nvPr/>
        </p:nvSpPr>
        <p:spPr>
          <a:xfrm>
            <a:off x="1554480" y="4462272"/>
            <a:ext cx="4160520" cy="685800"/>
          </a:xfrm>
          <a:prstGeom prst="rect">
            <a:avLst/>
          </a:prstGeom>
          <a:noFill/>
          <a:ln/>
        </p:spPr>
        <p:txBody>
          <a:bodyPr wrap="square" lIns="0" tIns="0" rIns="0" bIns="0" rtlCol="0" anchor="ctr"/>
          <a:lstStyle/>
          <a:p>
            <a:pPr indent="0" marL="0">
              <a:buNone/>
            </a:pPr>
            <a:r>
              <a:rPr lang="en-US" sz="1400" dirty="0">
                <a:solidFill>
                  <a:srgbClr val="17242A"/>
                </a:solidFill>
              </a:rPr>
              <a:t>Remote schools have weak or no internet</a:t>
            </a:r>
            <a:endParaRPr lang="en-US" sz="1400" dirty="0"/>
          </a:p>
        </p:txBody>
      </p:sp>
      <p:sp>
        <p:nvSpPr>
          <p:cNvPr id="32" name="icon-bg-FaCircleCheck"/>
          <p:cNvSpPr/>
          <p:nvPr/>
        </p:nvSpPr>
        <p:spPr>
          <a:xfrm>
            <a:off x="6583680" y="4462272"/>
            <a:ext cx="502920" cy="502920"/>
          </a:xfrm>
          <a:prstGeom prst="ellipse">
            <a:avLst/>
          </a:prstGeom>
          <a:solidFill>
            <a:srgbClr val="CFE8DF"/>
          </a:solidFill>
          <a:ln w="12700">
            <a:solidFill>
              <a:srgbClr val="CFE8DF"/>
            </a:solidFill>
            <a:prstDash val="solid"/>
          </a:ln>
        </p:spPr>
      </p:sp>
      <p:pic>
        <p:nvPicPr>
          <p:cNvPr id="33" name="icon-FaCircleCheck" descr="preencoded.png">    </p:cNvPr>
          <p:cNvPicPr>
            <a:picLocks noChangeAspect="1"/>
          </p:cNvPicPr>
          <p:nvPr/>
        </p:nvPicPr>
        <p:blipFill>
          <a:blip r:embed="rId10"/>
          <a:stretch>
            <a:fillRect/>
          </a:stretch>
        </p:blipFill>
        <p:spPr>
          <a:xfrm>
            <a:off x="6709410" y="4588002"/>
            <a:ext cx="251460" cy="251460"/>
          </a:xfrm>
          <a:prstGeom prst="rect">
            <a:avLst/>
          </a:prstGeom>
        </p:spPr>
      </p:pic>
      <p:sp>
        <p:nvSpPr>
          <p:cNvPr id="34" name="Text 24"/>
          <p:cNvSpPr txBox="1"/>
          <p:nvPr/>
        </p:nvSpPr>
        <p:spPr>
          <a:xfrm>
            <a:off x="7269480" y="4462272"/>
            <a:ext cx="4160520" cy="685800"/>
          </a:xfrm>
          <a:prstGeom prst="rect">
            <a:avLst/>
          </a:prstGeom>
          <a:noFill/>
          <a:ln/>
        </p:spPr>
        <p:txBody>
          <a:bodyPr wrap="square" lIns="0" tIns="0" rIns="0" bIns="0" rtlCol="0" anchor="ctr"/>
          <a:lstStyle/>
          <a:p>
            <a:pPr indent="0" marL="0">
              <a:buNone/>
            </a:pPr>
            <a:r>
              <a:rPr lang="en-US" sz="1400" dirty="0">
                <a:solidFill>
                  <a:srgbClr val="17242A"/>
                </a:solidFill>
              </a:rPr>
              <a:t>Offline app; queued work syncs safely later; the AI model runs locally</a:t>
            </a:r>
            <a:endParaRPr lang="en-US" sz="1400" dirty="0"/>
          </a:p>
        </p:txBody>
      </p:sp>
      <p:sp>
        <p:nvSpPr>
          <p:cNvPr id="35" name="icon-bg-FaLayerGroup"/>
          <p:cNvSpPr/>
          <p:nvPr/>
        </p:nvSpPr>
        <p:spPr>
          <a:xfrm>
            <a:off x="868680" y="5248656"/>
            <a:ext cx="502920" cy="502920"/>
          </a:xfrm>
          <a:prstGeom prst="ellipse">
            <a:avLst/>
          </a:prstGeom>
          <a:solidFill>
            <a:srgbClr val="F6D3B8"/>
          </a:solidFill>
          <a:ln w="12700">
            <a:solidFill>
              <a:srgbClr val="F6D3B8"/>
            </a:solidFill>
            <a:prstDash val="solid"/>
          </a:ln>
        </p:spPr>
      </p:sp>
      <p:pic>
        <p:nvPicPr>
          <p:cNvPr id="36" name="icon-FaLayerGroup" descr="preencoded.png">    </p:cNvPr>
          <p:cNvPicPr>
            <a:picLocks noChangeAspect="1"/>
          </p:cNvPicPr>
          <p:nvPr/>
        </p:nvPicPr>
        <p:blipFill>
          <a:blip r:embed="rId11"/>
          <a:stretch>
            <a:fillRect/>
          </a:stretch>
        </p:blipFill>
        <p:spPr>
          <a:xfrm>
            <a:off x="994410" y="5374386"/>
            <a:ext cx="251460" cy="251460"/>
          </a:xfrm>
          <a:prstGeom prst="rect">
            <a:avLst/>
          </a:prstGeom>
        </p:spPr>
      </p:pic>
      <p:sp>
        <p:nvSpPr>
          <p:cNvPr id="37" name="Text 26"/>
          <p:cNvSpPr txBox="1"/>
          <p:nvPr/>
        </p:nvSpPr>
        <p:spPr>
          <a:xfrm>
            <a:off x="1554480" y="5248656"/>
            <a:ext cx="4160520" cy="685800"/>
          </a:xfrm>
          <a:prstGeom prst="rect">
            <a:avLst/>
          </a:prstGeom>
          <a:noFill/>
          <a:ln/>
        </p:spPr>
        <p:txBody>
          <a:bodyPr wrap="square" lIns="0" tIns="0" rIns="0" bIns="0" rtlCol="0" anchor="ctr"/>
          <a:lstStyle/>
          <a:p>
            <a:pPr indent="0" marL="0">
              <a:buNone/>
            </a:pPr>
            <a:r>
              <a:rPr lang="en-US" sz="1400" dirty="0">
                <a:solidFill>
                  <a:srgbClr val="17242A"/>
                </a:solidFill>
              </a:rPr>
              <a:t>Data sits in separate systems; officers cannot see the whole picture</a:t>
            </a:r>
            <a:endParaRPr lang="en-US" sz="1400" dirty="0"/>
          </a:p>
        </p:txBody>
      </p:sp>
      <p:sp>
        <p:nvSpPr>
          <p:cNvPr id="38" name="icon-bg-FaCircleCheck"/>
          <p:cNvSpPr/>
          <p:nvPr/>
        </p:nvSpPr>
        <p:spPr>
          <a:xfrm>
            <a:off x="6583680" y="5248656"/>
            <a:ext cx="502920" cy="502920"/>
          </a:xfrm>
          <a:prstGeom prst="ellipse">
            <a:avLst/>
          </a:prstGeom>
          <a:solidFill>
            <a:srgbClr val="CFE8DF"/>
          </a:solidFill>
          <a:ln w="12700">
            <a:solidFill>
              <a:srgbClr val="CFE8DF"/>
            </a:solidFill>
            <a:prstDash val="solid"/>
          </a:ln>
        </p:spPr>
      </p:sp>
      <p:pic>
        <p:nvPicPr>
          <p:cNvPr id="39" name="icon-FaCircleCheck" descr="preencoded.png">    </p:cNvPr>
          <p:cNvPicPr>
            <a:picLocks noChangeAspect="1"/>
          </p:cNvPicPr>
          <p:nvPr/>
        </p:nvPicPr>
        <p:blipFill>
          <a:blip r:embed="rId12"/>
          <a:stretch>
            <a:fillRect/>
          </a:stretch>
        </p:blipFill>
        <p:spPr>
          <a:xfrm>
            <a:off x="6709410" y="5374386"/>
            <a:ext cx="251460" cy="251460"/>
          </a:xfrm>
          <a:prstGeom prst="rect">
            <a:avLst/>
          </a:prstGeom>
        </p:spPr>
      </p:pic>
      <p:sp>
        <p:nvSpPr>
          <p:cNvPr id="40" name="Text 28"/>
          <p:cNvSpPr txBox="1"/>
          <p:nvPr/>
        </p:nvSpPr>
        <p:spPr>
          <a:xfrm>
            <a:off x="7269480" y="5248656"/>
            <a:ext cx="4160520" cy="685800"/>
          </a:xfrm>
          <a:prstGeom prst="rect">
            <a:avLst/>
          </a:prstGeom>
          <a:noFill/>
          <a:ln/>
        </p:spPr>
        <p:txBody>
          <a:bodyPr wrap="square" lIns="0" tIns="0" rIns="0" bIns="0" rtlCol="0" anchor="ctr"/>
          <a:lstStyle/>
          <a:p>
            <a:pPr indent="0" marL="0">
              <a:buNone/>
            </a:pPr>
            <a:r>
              <a:rPr lang="en-US" sz="1400" dirty="0">
                <a:solidFill>
                  <a:srgbClr val="17242A"/>
                </a:solidFill>
              </a:rPr>
              <a:t>One learner record and a command centre from state to classroom</a:t>
            </a:r>
            <a:endParaRPr lang="en-US" sz="1400" dirty="0"/>
          </a:p>
        </p:txBody>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59536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One platform, three portals</a:t>
            </a:r>
            <a:endParaRPr lang="en-US" sz="3000" dirty="0"/>
          </a:p>
        </p:txBody>
      </p:sp>
      <p:sp>
        <p:nvSpPr>
          <p:cNvPr id="3" name="button--Agenda"/>
          <p:cNvSpPr/>
          <p:nvPr/>
        </p:nvSpPr>
        <p:spPr>
          <a:xfrm>
            <a:off x="9372600" y="502920"/>
            <a:ext cx="1097280" cy="365760"/>
          </a:xfrm>
          <a:prstGeom prst="roundRect">
            <a:avLst>
              <a:gd name="adj" fmla="val 57500"/>
            </a:avLst>
          </a:prstGeom>
          <a:solidFill>
            <a:srgbClr val="EFF5F2"/>
          </a:solidFill>
          <a:ln>
            <a:solidFill>
              <a:srgbClr val="EFF5F2"/>
            </a:solidFill>
          </a:ln>
        </p:spPr>
        <p:txBody>
          <a:bodyPr wrap="square" lIns="0" tIns="0" rIns="0" bIns="0" rtlCol="0" anchor="ctr"/>
          <a:lstStyle/>
          <a:p>
            <a:pPr algn="ctr" indent="0" marL="0">
              <a:buNone/>
            </a:pPr>
            <a:r>
              <a:rPr lang="en-US" sz="1200" b="1" dirty="0">
                <a:solidFill>
                  <a:srgbClr val="0B3B36"/>
                </a:solidFill>
              </a:rPr>
              <a:t>☰  Agenda</a:t>
            </a:r>
            <a:endParaRPr lang="en-US" sz="1200" dirty="0"/>
          </a:p>
        </p:txBody>
      </p:sp>
      <p:sp>
        <p:nvSpPr>
          <p:cNvPr id="4" name="button-link--Agenda">
            <a:hlinkClick r:id="rId1" tooltip="Back to the agenda" action="ppaction://hlinksldjump"/>
          </p:cNvPr>
          <p:cNvSpPr/>
          <p:nvPr/>
        </p:nvSpPr>
        <p:spPr>
          <a:xfrm>
            <a:off x="9372600" y="502920"/>
            <a:ext cx="1097280" cy="365760"/>
          </a:xfrm>
          <a:prstGeom prst="rect">
            <a:avLst/>
          </a:prstGeom>
          <a:solidFill>
            <a:srgbClr val="FFFFFF">
              <a:alpha val="0"/>
            </a:srgbClr>
          </a:solidFill>
          <a:ln w="12700">
            <a:solidFill>
              <a:srgbClr val="FFFFFF">
                <a:alpha val="0"/>
              </a:srgbClr>
            </a:solidFill>
            <a:prstDash val="solid"/>
          </a:ln>
        </p:spPr>
      </p:sp>
      <p:sp>
        <p:nvSpPr>
          <p:cNvPr id="5" name="button-Live-demo-"/>
          <p:cNvSpPr/>
          <p:nvPr/>
        </p:nvSpPr>
        <p:spPr>
          <a:xfrm>
            <a:off x="10561320" y="502920"/>
            <a:ext cx="1097280" cy="365760"/>
          </a:xfrm>
          <a:prstGeom prst="roundRect">
            <a:avLst>
              <a:gd name="adj" fmla="val 57500"/>
            </a:avLst>
          </a:prstGeom>
          <a:solidFill>
            <a:srgbClr val="0B3B36"/>
          </a:solidFill>
          <a:ln>
            <a:solidFill>
              <a:srgbClr val="0B3B36"/>
            </a:solidFill>
          </a:ln>
        </p:spPr>
        <p:txBody>
          <a:bodyPr wrap="square" lIns="0" tIns="0" rIns="0" bIns="0" rtlCol="0" anchor="ctr"/>
          <a:lstStyle/>
          <a:p>
            <a:pPr algn="ctr" indent="0" marL="0">
              <a:buNone/>
            </a:pPr>
            <a:r>
              <a:rPr lang="en-US" sz="1200" b="1" dirty="0">
                <a:solidFill>
                  <a:srgbClr val="FFFFFF"/>
                </a:solidFill>
              </a:rPr>
              <a:t>Live demo ↗</a:t>
            </a:r>
            <a:endParaRPr lang="en-US" sz="1200" dirty="0"/>
          </a:p>
        </p:txBody>
      </p:sp>
      <p:sp>
        <p:nvSpPr>
          <p:cNvPr id="6" name="button-link-Live-demo-">
            <a:hlinkClick r:id="rId2" tooltip="Open the live demo"/>
          </p:cNvPr>
          <p:cNvSpPr/>
          <p:nvPr/>
        </p:nvSpPr>
        <p:spPr>
          <a:xfrm>
            <a:off x="10561320" y="502920"/>
            <a:ext cx="1097280" cy="365760"/>
          </a:xfrm>
          <a:prstGeom prst="rect">
            <a:avLst/>
          </a:prstGeom>
          <a:solidFill>
            <a:srgbClr val="FFFFFF">
              <a:alpha val="0"/>
            </a:srgbClr>
          </a:solidFill>
          <a:ln w="12700">
            <a:solidFill>
              <a:srgbClr val="FFFFFF">
                <a:alpha val="0"/>
              </a:srgbClr>
            </a:solidFill>
            <a:prstDash val="solid"/>
          </a:ln>
        </p:spPr>
      </p:sp>
      <p:sp>
        <p:nvSpPr>
          <p:cNvPr id="7" name="core"/>
          <p:cNvSpPr/>
          <p:nvPr/>
        </p:nvSpPr>
        <p:spPr>
          <a:xfrm>
            <a:off x="4160520" y="2148840"/>
            <a:ext cx="3886200" cy="2331720"/>
          </a:xfrm>
          <a:prstGeom prst="roundRect">
            <a:avLst>
              <a:gd name="adj" fmla="val 4706"/>
            </a:avLst>
          </a:prstGeom>
          <a:solidFill>
            <a:srgbClr val="0B3B36"/>
          </a:solidFill>
          <a:ln w="12700">
            <a:solidFill>
              <a:srgbClr val="0B3B36"/>
            </a:solidFill>
            <a:prstDash val="solid"/>
          </a:ln>
          <a:effectLst>
            <a:outerShdw sx="100000" sy="100000" kx="0" ky="0" algn="bl" rotWithShape="0" blurRad="101600" dist="25400" dir="5400000">
              <a:srgbClr val="17242A">
                <a:alpha val="16000"/>
              </a:srgbClr>
            </a:outerShdw>
          </a:effectLst>
        </p:spPr>
      </p:sp>
      <p:sp>
        <p:nvSpPr>
          <p:cNvPr id="8" name="Text 6"/>
          <p:cNvSpPr txBox="1"/>
          <p:nvPr/>
        </p:nvSpPr>
        <p:spPr>
          <a:xfrm>
            <a:off x="4434840" y="2331720"/>
            <a:ext cx="3383280" cy="320040"/>
          </a:xfrm>
          <a:prstGeom prst="rect">
            <a:avLst/>
          </a:prstGeom>
          <a:noFill/>
          <a:ln/>
        </p:spPr>
        <p:txBody>
          <a:bodyPr wrap="square" lIns="0" tIns="0" rIns="0" bIns="0" rtlCol="0" anchor="t"/>
          <a:lstStyle/>
          <a:p>
            <a:pPr indent="0" marL="0">
              <a:buNone/>
            </a:pPr>
            <a:r>
              <a:rPr lang="en-US" sz="1200" b="1" spc="200" kern="0" dirty="0">
                <a:solidFill>
                  <a:srgbClr val="F6B783"/>
                </a:solidFill>
              </a:rPr>
              <a:t>SHARED CORE</a:t>
            </a:r>
            <a:endParaRPr lang="en-US" sz="1200" dirty="0"/>
          </a:p>
        </p:txBody>
      </p:sp>
      <p:sp>
        <p:nvSpPr>
          <p:cNvPr id="9" name="Text 7"/>
          <p:cNvSpPr/>
          <p:nvPr/>
        </p:nvSpPr>
        <p:spPr>
          <a:xfrm>
            <a:off x="4434840" y="2697480"/>
            <a:ext cx="3474720" cy="1645920"/>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rgbClr val="FFFFFF"/>
                </a:solidFill>
              </a:rPr>
              <a:t>Gyan SLM (local AI model)</a:t>
            </a:r>
            <a:endParaRPr lang="en-US" sz="1500" dirty="0"/>
          </a:p>
          <a:p>
            <a:pPr marL="203200" indent="-203200">
              <a:spcAft>
                <a:spcPts val="600"/>
              </a:spcAft>
              <a:buSzPct val="100000"/>
              <a:buChar char="•"/>
            </a:pPr>
            <a:r>
              <a:rPr lang="en-US" sz="1500" dirty="0">
                <a:solidFill>
                  <a:srgbClr val="FFFFFF"/>
                </a:solidFill>
              </a:rPr>
              <a:t>Curriculum knowledge base (SCERT books)</a:t>
            </a:r>
            <a:endParaRPr lang="en-US" sz="1500" dirty="0"/>
          </a:p>
          <a:p>
            <a:pPr marL="203200" indent="-203200">
              <a:spcAft>
                <a:spcPts val="600"/>
              </a:spcAft>
              <a:buSzPct val="100000"/>
              <a:buChar char="•"/>
            </a:pPr>
            <a:r>
              <a:rPr lang="en-US" sz="1500" dirty="0">
                <a:solidFill>
                  <a:srgbClr val="FFFFFF"/>
                </a:solidFill>
              </a:rPr>
              <a:t>One continuous learner record</a:t>
            </a:r>
            <a:endParaRPr lang="en-US" sz="1500" dirty="0"/>
          </a:p>
        </p:txBody>
      </p:sp>
      <p:sp>
        <p:nvSpPr>
          <p:cNvPr id="10" name="portal-Admin portal"/>
          <p:cNvSpPr/>
          <p:nvPr/>
        </p:nvSpPr>
        <p:spPr>
          <a:xfrm>
            <a:off x="548640" y="1371600"/>
            <a:ext cx="3291840" cy="2148840"/>
          </a:xfrm>
          <a:prstGeom prst="roundRect">
            <a:avLst>
              <a:gd name="adj" fmla="val 5106"/>
            </a:avLst>
          </a:prstGeom>
          <a:solidFill>
            <a:srgbClr val="EFF5F2"/>
          </a:solidFill>
          <a:ln w="12700">
            <a:solidFill>
              <a:srgbClr val="EFF5F2"/>
            </a:solidFill>
            <a:prstDash val="solid"/>
          </a:ln>
          <a:effectLst>
            <a:outerShdw sx="100000" sy="100000" kx="0" ky="0" algn="bl" rotWithShape="0" blurRad="101600" dist="25400" dir="5400000">
              <a:srgbClr val="17242A">
                <a:alpha val="16000"/>
              </a:srgbClr>
            </a:outerShdw>
          </a:effectLst>
        </p:spPr>
      </p:sp>
      <p:sp>
        <p:nvSpPr>
          <p:cNvPr id="11" name="icon-bg-FaMapLocationDot">
            <a:hlinkClick r:id="rId5" tooltip="Open Admin portal" action="ppaction://hlinksldjump"/>
          </p:cNvPr>
          <p:cNvSpPr/>
          <p:nvPr/>
        </p:nvSpPr>
        <p:spPr>
          <a:xfrm>
            <a:off x="777240" y="1600200"/>
            <a:ext cx="594360" cy="594360"/>
          </a:xfrm>
          <a:prstGeom prst="ellipse">
            <a:avLst/>
          </a:prstGeom>
          <a:solidFill>
            <a:srgbClr val="1F4E8C"/>
          </a:solidFill>
          <a:ln w="12700">
            <a:solidFill>
              <a:srgbClr val="1F4E8C"/>
            </a:solidFill>
            <a:prstDash val="solid"/>
          </a:ln>
        </p:spPr>
      </p:sp>
      <p:pic>
        <p:nvPicPr>
          <p:cNvPr id="12" name="icon-FaMapLocationDot" descr="preencoded.png">
            <a:hlinkClick r:id="rId5" tooltip="Open Admin portal" action="ppaction://hlinksldjump"/>
          </p:cNvPr>
          <p:cNvPicPr>
            <a:picLocks noChangeAspect="1"/>
          </p:cNvPicPr>
          <p:nvPr/>
        </p:nvPicPr>
        <p:blipFill>
          <a:blip r:embed="rId4"/>
          <a:stretch>
            <a:fillRect/>
          </a:stretch>
        </p:blipFill>
        <p:spPr>
          <a:xfrm>
            <a:off x="925830" y="1748790"/>
            <a:ext cx="297180" cy="297180"/>
          </a:xfrm>
          <a:prstGeom prst="rect">
            <a:avLst/>
          </a:prstGeom>
        </p:spPr>
      </p:pic>
      <p:sp>
        <p:nvSpPr>
          <p:cNvPr id="13" name="Text 10"/>
          <p:cNvSpPr txBox="1"/>
          <p:nvPr/>
        </p:nvSpPr>
        <p:spPr>
          <a:xfrm>
            <a:off x="1508760" y="1673352"/>
            <a:ext cx="2194560" cy="457200"/>
          </a:xfrm>
          <a:prstGeom prst="rect">
            <a:avLst/>
          </a:prstGeom>
          <a:noFill/>
          <a:ln/>
        </p:spPr>
        <p:txBody>
          <a:bodyPr wrap="square" lIns="0" tIns="0" rIns="0" bIns="0" rtlCol="0" anchor="t"/>
          <a:lstStyle/>
          <a:p>
            <a:pPr indent="0" marL="0">
              <a:buNone/>
            </a:pPr>
            <a:r>
              <a:rPr lang="en-US" sz="1700" b="1" dirty="0">
                <a:solidFill>
                  <a:srgbClr val="1F4E8C"/>
                </a:solidFill>
                <a:latin typeface="Cambria" pitchFamily="34" charset="0"/>
                <a:ea typeface="Cambria" pitchFamily="34" charset="-122"/>
                <a:cs typeface="Cambria" pitchFamily="34" charset="-120"/>
              </a:rPr>
              <a:t>Admin portal  →</a:t>
            </a:r>
            <a:endParaRPr lang="en-US" sz="1700" dirty="0"/>
          </a:p>
        </p:txBody>
      </p:sp>
      <p:sp>
        <p:nvSpPr>
          <p:cNvPr id="14" name="Text 11"/>
          <p:cNvSpPr txBox="1"/>
          <p:nvPr/>
        </p:nvSpPr>
        <p:spPr>
          <a:xfrm>
            <a:off x="777240" y="2331720"/>
            <a:ext cx="2880360" cy="1051560"/>
          </a:xfrm>
          <a:prstGeom prst="rect">
            <a:avLst/>
          </a:prstGeom>
          <a:noFill/>
          <a:ln/>
        </p:spPr>
        <p:txBody>
          <a:bodyPr wrap="square" lIns="0" tIns="0" rIns="0" bIns="0" rtlCol="0" anchor="t"/>
          <a:lstStyle/>
          <a:p>
            <a:pPr indent="0" marL="0">
              <a:buNone/>
            </a:pPr>
            <a:r>
              <a:rPr lang="en-US" sz="1300" dirty="0">
                <a:solidFill>
                  <a:srgbClr val="17242A"/>
                </a:solidFill>
              </a:rPr>
              <a:t>Command Centre · map by division · grades · follow-up · digital use · recognition</a:t>
            </a:r>
            <a:endParaRPr lang="en-US" sz="1300" dirty="0"/>
          </a:p>
        </p:txBody>
      </p:sp>
      <p:sp>
        <p:nvSpPr>
          <p:cNvPr id="15" name="link-Admin portal">
            <a:hlinkClick r:id="rId6" tooltip="Open Admin portal" action="ppaction://hlinksldjump"/>
          </p:cNvPr>
          <p:cNvSpPr/>
          <p:nvPr/>
        </p:nvSpPr>
        <p:spPr>
          <a:xfrm>
            <a:off x="548640" y="1371600"/>
            <a:ext cx="3291840" cy="2148840"/>
          </a:xfrm>
          <a:prstGeom prst="rect">
            <a:avLst/>
          </a:prstGeom>
          <a:solidFill>
            <a:srgbClr val="FFFFFF">
              <a:alpha val="0"/>
            </a:srgbClr>
          </a:solidFill>
          <a:ln w="12700">
            <a:solidFill>
              <a:srgbClr val="FFFFFF">
                <a:alpha val="0"/>
              </a:srgbClr>
            </a:solidFill>
            <a:prstDash val="solid"/>
          </a:ln>
        </p:spPr>
      </p:sp>
      <p:sp>
        <p:nvSpPr>
          <p:cNvPr id="16" name="portal-Teacher portal"/>
          <p:cNvSpPr/>
          <p:nvPr/>
        </p:nvSpPr>
        <p:spPr>
          <a:xfrm>
            <a:off x="548640" y="3977640"/>
            <a:ext cx="3291840" cy="2148840"/>
          </a:xfrm>
          <a:prstGeom prst="roundRect">
            <a:avLst>
              <a:gd name="adj" fmla="val 5106"/>
            </a:avLst>
          </a:prstGeom>
          <a:solidFill>
            <a:srgbClr val="EFF5F2"/>
          </a:solidFill>
          <a:ln w="12700">
            <a:solidFill>
              <a:srgbClr val="EFF5F2"/>
            </a:solidFill>
            <a:prstDash val="solid"/>
          </a:ln>
          <a:effectLst>
            <a:outerShdw sx="100000" sy="100000" kx="0" ky="0" algn="bl" rotWithShape="0" blurRad="101600" dist="25400" dir="5400000">
              <a:srgbClr val="17242A">
                <a:alpha val="16000"/>
              </a:srgbClr>
            </a:outerShdw>
          </a:effectLst>
        </p:spPr>
      </p:sp>
      <p:sp>
        <p:nvSpPr>
          <p:cNvPr id="17" name="icon-bg-FaChalkboardUser">
            <a:hlinkClick r:id="rId9" tooltip="Open Teacher portal" action="ppaction://hlinksldjump"/>
          </p:cNvPr>
          <p:cNvSpPr/>
          <p:nvPr/>
        </p:nvSpPr>
        <p:spPr>
          <a:xfrm>
            <a:off x="777240" y="4206240"/>
            <a:ext cx="594360" cy="594360"/>
          </a:xfrm>
          <a:prstGeom prst="ellipse">
            <a:avLst/>
          </a:prstGeom>
          <a:solidFill>
            <a:srgbClr val="0E8A6E"/>
          </a:solidFill>
          <a:ln w="12700">
            <a:solidFill>
              <a:srgbClr val="0E8A6E"/>
            </a:solidFill>
            <a:prstDash val="solid"/>
          </a:ln>
        </p:spPr>
      </p:sp>
      <p:pic>
        <p:nvPicPr>
          <p:cNvPr id="18" name="icon-FaChalkboardUser" descr="preencoded.png">
            <a:hlinkClick r:id="rId9" tooltip="Open Teacher portal" action="ppaction://hlinksldjump"/>
          </p:cNvPr>
          <p:cNvPicPr>
            <a:picLocks noChangeAspect="1"/>
          </p:cNvPicPr>
          <p:nvPr/>
        </p:nvPicPr>
        <p:blipFill>
          <a:blip r:embed="rId8"/>
          <a:stretch>
            <a:fillRect/>
          </a:stretch>
        </p:blipFill>
        <p:spPr>
          <a:xfrm>
            <a:off x="925830" y="4354830"/>
            <a:ext cx="297180" cy="297180"/>
          </a:xfrm>
          <a:prstGeom prst="rect">
            <a:avLst/>
          </a:prstGeom>
        </p:spPr>
      </p:pic>
      <p:sp>
        <p:nvSpPr>
          <p:cNvPr id="19" name="Text 15"/>
          <p:cNvSpPr txBox="1"/>
          <p:nvPr/>
        </p:nvSpPr>
        <p:spPr>
          <a:xfrm>
            <a:off x="1508760" y="4279392"/>
            <a:ext cx="2194560" cy="457200"/>
          </a:xfrm>
          <a:prstGeom prst="rect">
            <a:avLst/>
          </a:prstGeom>
          <a:noFill/>
          <a:ln/>
        </p:spPr>
        <p:txBody>
          <a:bodyPr wrap="square" lIns="0" tIns="0" rIns="0" bIns="0" rtlCol="0" anchor="t"/>
          <a:lstStyle/>
          <a:p>
            <a:pPr indent="0" marL="0">
              <a:buNone/>
            </a:pPr>
            <a:r>
              <a:rPr lang="en-US" sz="1700" b="1" dirty="0">
                <a:solidFill>
                  <a:srgbClr val="0E8A6E"/>
                </a:solidFill>
                <a:latin typeface="Cambria" pitchFamily="34" charset="0"/>
                <a:ea typeface="Cambria" pitchFamily="34" charset="-122"/>
                <a:cs typeface="Cambria" pitchFamily="34" charset="-120"/>
              </a:rPr>
              <a:t>Teacher portal  →</a:t>
            </a:r>
            <a:endParaRPr lang="en-US" sz="1700" dirty="0"/>
          </a:p>
        </p:txBody>
      </p:sp>
      <p:sp>
        <p:nvSpPr>
          <p:cNvPr id="20" name="Text 16"/>
          <p:cNvSpPr txBox="1"/>
          <p:nvPr/>
        </p:nvSpPr>
        <p:spPr>
          <a:xfrm>
            <a:off x="777240" y="4937760"/>
            <a:ext cx="2880360" cy="1051560"/>
          </a:xfrm>
          <a:prstGeom prst="rect">
            <a:avLst/>
          </a:prstGeom>
          <a:noFill/>
          <a:ln/>
        </p:spPr>
        <p:txBody>
          <a:bodyPr wrap="square" lIns="0" tIns="0" rIns="0" bIns="0" rtlCol="0" anchor="t"/>
          <a:lstStyle/>
          <a:p>
            <a:pPr indent="0" marL="0">
              <a:buNone/>
            </a:pPr>
            <a:r>
              <a:rPr lang="en-US" sz="1300" dirty="0">
                <a:solidFill>
                  <a:srgbClr val="17242A"/>
                </a:solidFill>
              </a:rPr>
              <a:t>Teacher Saathi · Pariksha · priorities · attendance · student help</a:t>
            </a:r>
            <a:endParaRPr lang="en-US" sz="1300" dirty="0"/>
          </a:p>
        </p:txBody>
      </p:sp>
      <p:sp>
        <p:nvSpPr>
          <p:cNvPr id="21" name="link-Teacher portal">
            <a:hlinkClick r:id="rId10" tooltip="Open Teacher portal" action="ppaction://hlinksldjump"/>
          </p:cNvPr>
          <p:cNvSpPr/>
          <p:nvPr/>
        </p:nvSpPr>
        <p:spPr>
          <a:xfrm>
            <a:off x="548640" y="3977640"/>
            <a:ext cx="3291840" cy="2148840"/>
          </a:xfrm>
          <a:prstGeom prst="rect">
            <a:avLst/>
          </a:prstGeom>
          <a:solidFill>
            <a:srgbClr val="FFFFFF">
              <a:alpha val="0"/>
            </a:srgbClr>
          </a:solidFill>
          <a:ln w="12700">
            <a:solidFill>
              <a:srgbClr val="FFFFFF">
                <a:alpha val="0"/>
              </a:srgbClr>
            </a:solidFill>
            <a:prstDash val="solid"/>
          </a:ln>
        </p:spPr>
      </p:sp>
      <p:sp>
        <p:nvSpPr>
          <p:cNvPr id="22" name="portal-Student app"/>
          <p:cNvSpPr/>
          <p:nvPr/>
        </p:nvSpPr>
        <p:spPr>
          <a:xfrm>
            <a:off x="8366760" y="1371600"/>
            <a:ext cx="3291840" cy="2148840"/>
          </a:xfrm>
          <a:prstGeom prst="roundRect">
            <a:avLst>
              <a:gd name="adj" fmla="val 5106"/>
            </a:avLst>
          </a:prstGeom>
          <a:solidFill>
            <a:srgbClr val="EFF5F2"/>
          </a:solidFill>
          <a:ln w="12700">
            <a:solidFill>
              <a:srgbClr val="EFF5F2"/>
            </a:solidFill>
            <a:prstDash val="solid"/>
          </a:ln>
          <a:effectLst>
            <a:outerShdw sx="100000" sy="100000" kx="0" ky="0" algn="bl" rotWithShape="0" blurRad="101600" dist="25400" dir="5400000">
              <a:srgbClr val="17242A">
                <a:alpha val="16000"/>
              </a:srgbClr>
            </a:outerShdw>
          </a:effectLst>
        </p:spPr>
      </p:sp>
      <p:sp>
        <p:nvSpPr>
          <p:cNvPr id="23" name="icon-bg-FaUserGraduate">
            <a:hlinkClick r:id="rId13" tooltip="Open Student app" action="ppaction://hlinksldjump"/>
          </p:cNvPr>
          <p:cNvSpPr/>
          <p:nvPr/>
        </p:nvSpPr>
        <p:spPr>
          <a:xfrm>
            <a:off x="8595360" y="1600200"/>
            <a:ext cx="594360" cy="594360"/>
          </a:xfrm>
          <a:prstGeom prst="ellipse">
            <a:avLst/>
          </a:prstGeom>
          <a:solidFill>
            <a:srgbClr val="E8762B"/>
          </a:solidFill>
          <a:ln w="12700">
            <a:solidFill>
              <a:srgbClr val="E8762B"/>
            </a:solidFill>
            <a:prstDash val="solid"/>
          </a:ln>
        </p:spPr>
      </p:sp>
      <p:pic>
        <p:nvPicPr>
          <p:cNvPr id="24" name="icon-FaUserGraduate" descr="preencoded.png">
            <a:hlinkClick r:id="rId13" tooltip="Open Student app" action="ppaction://hlinksldjump"/>
          </p:cNvPr>
          <p:cNvPicPr>
            <a:picLocks noChangeAspect="1"/>
          </p:cNvPicPr>
          <p:nvPr/>
        </p:nvPicPr>
        <p:blipFill>
          <a:blip r:embed="rId12"/>
          <a:stretch>
            <a:fillRect/>
          </a:stretch>
        </p:blipFill>
        <p:spPr>
          <a:xfrm>
            <a:off x="8743950" y="1748790"/>
            <a:ext cx="297180" cy="297180"/>
          </a:xfrm>
          <a:prstGeom prst="rect">
            <a:avLst/>
          </a:prstGeom>
        </p:spPr>
      </p:pic>
      <p:sp>
        <p:nvSpPr>
          <p:cNvPr id="25" name="Text 20"/>
          <p:cNvSpPr txBox="1"/>
          <p:nvPr/>
        </p:nvSpPr>
        <p:spPr>
          <a:xfrm>
            <a:off x="9326880" y="1673352"/>
            <a:ext cx="2194560" cy="457200"/>
          </a:xfrm>
          <a:prstGeom prst="rect">
            <a:avLst/>
          </a:prstGeom>
          <a:noFill/>
          <a:ln/>
        </p:spPr>
        <p:txBody>
          <a:bodyPr wrap="square" lIns="0" tIns="0" rIns="0" bIns="0" rtlCol="0" anchor="t"/>
          <a:lstStyle/>
          <a:p>
            <a:pPr indent="0" marL="0">
              <a:buNone/>
            </a:pPr>
            <a:r>
              <a:rPr lang="en-US" sz="1700" b="1" dirty="0">
                <a:solidFill>
                  <a:srgbClr val="E8762B"/>
                </a:solidFill>
                <a:latin typeface="Cambria" pitchFamily="34" charset="0"/>
                <a:ea typeface="Cambria" pitchFamily="34" charset="-122"/>
                <a:cs typeface="Cambria" pitchFamily="34" charset="-120"/>
              </a:rPr>
              <a:t>Student app  →</a:t>
            </a:r>
            <a:endParaRPr lang="en-US" sz="1700" dirty="0"/>
          </a:p>
        </p:txBody>
      </p:sp>
      <p:sp>
        <p:nvSpPr>
          <p:cNvPr id="26" name="Text 21"/>
          <p:cNvSpPr txBox="1"/>
          <p:nvPr/>
        </p:nvSpPr>
        <p:spPr>
          <a:xfrm>
            <a:off x="8595360" y="2331720"/>
            <a:ext cx="2880360" cy="1051560"/>
          </a:xfrm>
          <a:prstGeom prst="rect">
            <a:avLst/>
          </a:prstGeom>
          <a:noFill/>
          <a:ln/>
        </p:spPr>
        <p:txBody>
          <a:bodyPr wrap="square" lIns="0" tIns="0" rIns="0" bIns="0" rtlCol="0" anchor="t"/>
          <a:lstStyle/>
          <a:p>
            <a:pPr indent="0" marL="0">
              <a:buNone/>
            </a:pPr>
            <a:r>
              <a:rPr lang="en-US" sz="1300" dirty="0">
                <a:solidFill>
                  <a:srgbClr val="17242A"/>
                </a:solidFill>
              </a:rPr>
              <a:t>AI Class tutor · practice · revision · textbooks · doubts · badges</a:t>
            </a:r>
            <a:endParaRPr lang="en-US" sz="1300" dirty="0"/>
          </a:p>
        </p:txBody>
      </p:sp>
      <p:sp>
        <p:nvSpPr>
          <p:cNvPr id="27" name="link-Student app">
            <a:hlinkClick r:id="rId14" tooltip="Open Student app" action="ppaction://hlinksldjump"/>
          </p:cNvPr>
          <p:cNvSpPr/>
          <p:nvPr/>
        </p:nvSpPr>
        <p:spPr>
          <a:xfrm>
            <a:off x="8366760" y="1371600"/>
            <a:ext cx="3291840" cy="2148840"/>
          </a:xfrm>
          <a:prstGeom prst="rect">
            <a:avLst/>
          </a:prstGeom>
          <a:solidFill>
            <a:srgbClr val="FFFFFF">
              <a:alpha val="0"/>
            </a:srgbClr>
          </a:solidFill>
          <a:ln w="12700">
            <a:solidFill>
              <a:srgbClr val="FFFFFF">
                <a:alpha val="0"/>
              </a:srgbClr>
            </a:solidFill>
            <a:prstDash val="solid"/>
          </a:ln>
        </p:spPr>
      </p:sp>
      <p:sp>
        <p:nvSpPr>
          <p:cNvPr id="28" name="portal-Works offline"/>
          <p:cNvSpPr/>
          <p:nvPr/>
        </p:nvSpPr>
        <p:spPr>
          <a:xfrm>
            <a:off x="8366760" y="3977640"/>
            <a:ext cx="3291840" cy="2148840"/>
          </a:xfrm>
          <a:prstGeom prst="roundRect">
            <a:avLst>
              <a:gd name="adj" fmla="val 5106"/>
            </a:avLst>
          </a:prstGeom>
          <a:solidFill>
            <a:srgbClr val="EFF5F2"/>
          </a:solidFill>
          <a:ln w="12700">
            <a:solidFill>
              <a:srgbClr val="EFF5F2"/>
            </a:solidFill>
            <a:prstDash val="solid"/>
          </a:ln>
          <a:effectLst>
            <a:outerShdw sx="100000" sy="100000" kx="0" ky="0" algn="bl" rotWithShape="0" blurRad="101600" dist="25400" dir="5400000">
              <a:srgbClr val="17242A">
                <a:alpha val="16000"/>
              </a:srgbClr>
            </a:outerShdw>
          </a:effectLst>
        </p:spPr>
      </p:sp>
      <p:sp>
        <p:nvSpPr>
          <p:cNvPr id="29" name="icon-bg-FaWifi">
            <a:hlinkClick r:id="rId17" tooltip="Open Works offline" action="ppaction://hlinksldjump"/>
          </p:cNvPr>
          <p:cNvSpPr/>
          <p:nvPr/>
        </p:nvSpPr>
        <p:spPr>
          <a:xfrm>
            <a:off x="8595360" y="4206240"/>
            <a:ext cx="594360" cy="594360"/>
          </a:xfrm>
          <a:prstGeom prst="ellipse">
            <a:avLst/>
          </a:prstGeom>
          <a:solidFill>
            <a:srgbClr val="7A4FC9"/>
          </a:solidFill>
          <a:ln w="12700">
            <a:solidFill>
              <a:srgbClr val="7A4FC9"/>
            </a:solidFill>
            <a:prstDash val="solid"/>
          </a:ln>
        </p:spPr>
      </p:sp>
      <p:pic>
        <p:nvPicPr>
          <p:cNvPr id="30" name="icon-FaWifi" descr="preencoded.png">
            <a:hlinkClick r:id="rId17" tooltip="Open Works offline" action="ppaction://hlinksldjump"/>
          </p:cNvPr>
          <p:cNvPicPr>
            <a:picLocks noChangeAspect="1"/>
          </p:cNvPicPr>
          <p:nvPr/>
        </p:nvPicPr>
        <p:blipFill>
          <a:blip r:embed="rId16"/>
          <a:stretch>
            <a:fillRect/>
          </a:stretch>
        </p:blipFill>
        <p:spPr>
          <a:xfrm>
            <a:off x="8743950" y="4354830"/>
            <a:ext cx="297180" cy="297180"/>
          </a:xfrm>
          <a:prstGeom prst="rect">
            <a:avLst/>
          </a:prstGeom>
        </p:spPr>
      </p:pic>
      <p:sp>
        <p:nvSpPr>
          <p:cNvPr id="31" name="Text 25"/>
          <p:cNvSpPr txBox="1"/>
          <p:nvPr/>
        </p:nvSpPr>
        <p:spPr>
          <a:xfrm>
            <a:off x="9326880" y="4279392"/>
            <a:ext cx="2194560" cy="457200"/>
          </a:xfrm>
          <a:prstGeom prst="rect">
            <a:avLst/>
          </a:prstGeom>
          <a:noFill/>
          <a:ln/>
        </p:spPr>
        <p:txBody>
          <a:bodyPr wrap="square" lIns="0" tIns="0" rIns="0" bIns="0" rtlCol="0" anchor="t"/>
          <a:lstStyle/>
          <a:p>
            <a:pPr indent="0" marL="0">
              <a:buNone/>
            </a:pPr>
            <a:r>
              <a:rPr lang="en-US" sz="1700" b="1" dirty="0">
                <a:solidFill>
                  <a:srgbClr val="7A4FC9"/>
                </a:solidFill>
                <a:latin typeface="Cambria" pitchFamily="34" charset="0"/>
                <a:ea typeface="Cambria" pitchFamily="34" charset="-122"/>
                <a:cs typeface="Cambria" pitchFamily="34" charset="-120"/>
              </a:rPr>
              <a:t>Works offline  →</a:t>
            </a:r>
            <a:endParaRPr lang="en-US" sz="1700" dirty="0"/>
          </a:p>
        </p:txBody>
      </p:sp>
      <p:sp>
        <p:nvSpPr>
          <p:cNvPr id="32" name="Text 26"/>
          <p:cNvSpPr txBox="1"/>
          <p:nvPr/>
        </p:nvSpPr>
        <p:spPr>
          <a:xfrm>
            <a:off x="8595360" y="4937760"/>
            <a:ext cx="2880360" cy="1051560"/>
          </a:xfrm>
          <a:prstGeom prst="rect">
            <a:avLst/>
          </a:prstGeom>
          <a:noFill/>
          <a:ln/>
        </p:spPr>
        <p:txBody>
          <a:bodyPr wrap="square" lIns="0" tIns="0" rIns="0" bIns="0" rtlCol="0" anchor="t"/>
          <a:lstStyle/>
          <a:p>
            <a:pPr indent="0" marL="0">
              <a:buNone/>
            </a:pPr>
            <a:r>
              <a:rPr lang="en-US" sz="1300" dirty="0">
                <a:solidFill>
                  <a:srgbClr val="17242A"/>
                </a:solidFill>
              </a:rPr>
              <a:t>Cached lessons and quizzes; attendance and answers sync later</a:t>
            </a:r>
            <a:endParaRPr lang="en-US" sz="1300" dirty="0"/>
          </a:p>
        </p:txBody>
      </p:sp>
      <p:sp>
        <p:nvSpPr>
          <p:cNvPr id="33" name="link-Works offline">
            <a:hlinkClick r:id="rId18" tooltip="Open Works offline" action="ppaction://hlinksldjump"/>
          </p:cNvPr>
          <p:cNvSpPr/>
          <p:nvPr/>
        </p:nvSpPr>
        <p:spPr>
          <a:xfrm>
            <a:off x="8366760" y="3977640"/>
            <a:ext cx="3291840" cy="2148840"/>
          </a:xfrm>
          <a:prstGeom prst="rect">
            <a:avLst/>
          </a:prstGeom>
          <a:solidFill>
            <a:srgbClr val="FFFFFF">
              <a:alpha val="0"/>
            </a:srgbClr>
          </a:solidFill>
          <a:ln w="12700">
            <a:solidFill>
              <a:srgbClr val="FFFFFF">
                <a:alpha val="0"/>
              </a:srgbClr>
            </a:solidFill>
            <a:prstDash val="solid"/>
          </a:ln>
        </p:spPr>
      </p:sp>
      <p:sp>
        <p:nvSpPr>
          <p:cNvPr id="34" name="Text 28"/>
          <p:cNvSpPr txBox="1"/>
          <p:nvPr/>
        </p:nvSpPr>
        <p:spPr>
          <a:xfrm>
            <a:off x="548640" y="6172200"/>
            <a:ext cx="8686800" cy="274320"/>
          </a:xfrm>
          <a:prstGeom prst="rect">
            <a:avLst/>
          </a:prstGeom>
          <a:noFill/>
          <a:ln/>
        </p:spPr>
        <p:txBody>
          <a:bodyPr wrap="square" lIns="0" tIns="0" rIns="0" bIns="0" rtlCol="0" anchor="t"/>
          <a:lstStyle/>
          <a:p>
            <a:pPr indent="0" marL="0">
              <a:buNone/>
            </a:pPr>
            <a:r>
              <a:rPr lang="en-US" sz="1200" i="1" dirty="0">
                <a:solidFill>
                  <a:srgbClr val="5E6B70"/>
                </a:solidFill>
              </a:rPr>
              <a:t>Four modules on the shared core: Teacher Saathi · AI Class · Pariksha Engine · Command Centre</a:t>
            </a:r>
            <a:endParaRPr lang="en-US" sz="1200" dirty="0"/>
          </a:p>
        </p:txBody>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59536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All 16 project objectives are covered</a:t>
            </a:r>
            <a:endParaRPr lang="en-US" sz="3000" dirty="0"/>
          </a:p>
        </p:txBody>
      </p:sp>
      <p:sp>
        <p:nvSpPr>
          <p:cNvPr id="3" name="button--Agenda"/>
          <p:cNvSpPr/>
          <p:nvPr/>
        </p:nvSpPr>
        <p:spPr>
          <a:xfrm>
            <a:off x="9372600" y="502920"/>
            <a:ext cx="1097280" cy="365760"/>
          </a:xfrm>
          <a:prstGeom prst="roundRect">
            <a:avLst>
              <a:gd name="adj" fmla="val 57500"/>
            </a:avLst>
          </a:prstGeom>
          <a:solidFill>
            <a:srgbClr val="EFF5F2"/>
          </a:solidFill>
          <a:ln>
            <a:solidFill>
              <a:srgbClr val="EFF5F2"/>
            </a:solidFill>
          </a:ln>
        </p:spPr>
        <p:txBody>
          <a:bodyPr wrap="square" lIns="0" tIns="0" rIns="0" bIns="0" rtlCol="0" anchor="ctr"/>
          <a:lstStyle/>
          <a:p>
            <a:pPr algn="ctr" indent="0" marL="0">
              <a:buNone/>
            </a:pPr>
            <a:r>
              <a:rPr lang="en-US" sz="1200" b="1" dirty="0">
                <a:solidFill>
                  <a:srgbClr val="0B3B36"/>
                </a:solidFill>
              </a:rPr>
              <a:t>☰  Agenda</a:t>
            </a:r>
            <a:endParaRPr lang="en-US" sz="1200" dirty="0"/>
          </a:p>
        </p:txBody>
      </p:sp>
      <p:sp>
        <p:nvSpPr>
          <p:cNvPr id="4" name="button-link--Agenda">
            <a:hlinkClick r:id="rId1" tooltip="Back to the agenda" action="ppaction://hlinksldjump"/>
          </p:cNvPr>
          <p:cNvSpPr/>
          <p:nvPr/>
        </p:nvSpPr>
        <p:spPr>
          <a:xfrm>
            <a:off x="9372600" y="502920"/>
            <a:ext cx="1097280" cy="365760"/>
          </a:xfrm>
          <a:prstGeom prst="rect">
            <a:avLst/>
          </a:prstGeom>
          <a:solidFill>
            <a:srgbClr val="FFFFFF">
              <a:alpha val="0"/>
            </a:srgbClr>
          </a:solidFill>
          <a:ln w="12700">
            <a:solidFill>
              <a:srgbClr val="FFFFFF">
                <a:alpha val="0"/>
              </a:srgbClr>
            </a:solidFill>
            <a:prstDash val="solid"/>
          </a:ln>
        </p:spPr>
      </p:sp>
      <p:sp>
        <p:nvSpPr>
          <p:cNvPr id="5" name="button-Live-demo-"/>
          <p:cNvSpPr/>
          <p:nvPr/>
        </p:nvSpPr>
        <p:spPr>
          <a:xfrm>
            <a:off x="10561320" y="502920"/>
            <a:ext cx="1097280" cy="365760"/>
          </a:xfrm>
          <a:prstGeom prst="roundRect">
            <a:avLst>
              <a:gd name="adj" fmla="val 57500"/>
            </a:avLst>
          </a:prstGeom>
          <a:solidFill>
            <a:srgbClr val="0B3B36"/>
          </a:solidFill>
          <a:ln>
            <a:solidFill>
              <a:srgbClr val="0B3B36"/>
            </a:solidFill>
          </a:ln>
        </p:spPr>
        <p:txBody>
          <a:bodyPr wrap="square" lIns="0" tIns="0" rIns="0" bIns="0" rtlCol="0" anchor="ctr"/>
          <a:lstStyle/>
          <a:p>
            <a:pPr algn="ctr" indent="0" marL="0">
              <a:buNone/>
            </a:pPr>
            <a:r>
              <a:rPr lang="en-US" sz="1200" b="1" dirty="0">
                <a:solidFill>
                  <a:srgbClr val="FFFFFF"/>
                </a:solidFill>
              </a:rPr>
              <a:t>Live demo ↗</a:t>
            </a:r>
            <a:endParaRPr lang="en-US" sz="1200" dirty="0"/>
          </a:p>
        </p:txBody>
      </p:sp>
      <p:sp>
        <p:nvSpPr>
          <p:cNvPr id="6" name="button-link-Live-demo-">
            <a:hlinkClick r:id="rId2" tooltip="Open the live demo"/>
          </p:cNvPr>
          <p:cNvSpPr/>
          <p:nvPr/>
        </p:nvSpPr>
        <p:spPr>
          <a:xfrm>
            <a:off x="10561320" y="502920"/>
            <a:ext cx="1097280" cy="365760"/>
          </a:xfrm>
          <a:prstGeom prst="rect">
            <a:avLst/>
          </a:prstGeom>
          <a:solidFill>
            <a:srgbClr val="FFFFFF">
              <a:alpha val="0"/>
            </a:srgbClr>
          </a:solidFill>
          <a:ln w="12700">
            <a:solidFill>
              <a:srgbClr val="FFFFFF">
                <a:alpha val="0"/>
              </a:srgbClr>
            </a:solidFill>
            <a:prstDash val="solid"/>
          </a:ln>
        </p:spPr>
      </p:sp>
      <p:sp>
        <p:nvSpPr>
          <p:cNvPr id="7" name="objective-1"/>
          <p:cNvSpPr/>
          <p:nvPr/>
        </p:nvSpPr>
        <p:spPr>
          <a:xfrm>
            <a:off x="548640" y="1325880"/>
            <a:ext cx="2670048" cy="1097280"/>
          </a:xfrm>
          <a:prstGeom prst="roundRect">
            <a:avLst>
              <a:gd name="adj" fmla="val 8333"/>
            </a:avLst>
          </a:prstGeom>
          <a:solidFill>
            <a:srgbClr val="EFF5F2"/>
          </a:solidFill>
          <a:ln>
            <a:solidFill>
              <a:srgbClr val="EFF5F2"/>
            </a:solidFill>
          </a:ln>
        </p:spPr>
        <p:txBody>
          <a:bodyPr wrap="square" lIns="0" tIns="177800" rIns="152400" bIns="0" rtlCol="0" anchor="ctr"/>
          <a:lstStyle/>
          <a:p>
            <a:pPr indent="0" marL="0">
              <a:buNone/>
            </a:pPr>
            <a:r>
              <a:rPr lang="en-US" sz="1800" b="1" dirty="0">
                <a:solidFill>
                  <a:srgbClr val="E8762B"/>
                </a:solidFill>
                <a:latin typeface="Cambria" pitchFamily="34" charset="0"/>
                <a:ea typeface="Cambria" pitchFamily="34" charset="-122"/>
                <a:cs typeface="Cambria" pitchFamily="34" charset="-120"/>
              </a:rPr>
              <a:t>01  </a:t>
            </a:r>
            <a:pPr indent="0" marL="0">
              <a:buNone/>
            </a:pPr>
            <a:r>
              <a:rPr lang="en-US" sz="1400" b="1" dirty="0">
                <a:solidFill>
                  <a:srgbClr val="0B3B36"/>
                </a:solidFill>
              </a:rPr>
              <a:t>Academic planning &amp; milestones</a:t>
            </a:r>
            <a:endParaRPr lang="en-US" sz="1800" dirty="0"/>
          </a:p>
        </p:txBody>
      </p:sp>
      <p:pic>
        <p:nvPicPr>
          <p:cNvPr id="8" name="check-1" descr="preencoded.png">    </p:cNvPr>
          <p:cNvPicPr>
            <a:picLocks noChangeAspect="1"/>
          </p:cNvPicPr>
          <p:nvPr/>
        </p:nvPicPr>
        <p:blipFill>
          <a:blip r:embed="rId3"/>
          <a:stretch>
            <a:fillRect/>
          </a:stretch>
        </p:blipFill>
        <p:spPr>
          <a:xfrm>
            <a:off x="2871216" y="1435608"/>
            <a:ext cx="219456" cy="219456"/>
          </a:xfrm>
          <a:prstGeom prst="rect">
            <a:avLst/>
          </a:prstGeom>
        </p:spPr>
      </p:pic>
      <p:sp>
        <p:nvSpPr>
          <p:cNvPr id="9" name="objective-link-1">
            <a:hlinkClick r:id="rId4" tooltip="See it" action="ppaction://hlinksldjump"/>
          </p:cNvPr>
          <p:cNvSpPr/>
          <p:nvPr/>
        </p:nvSpPr>
        <p:spPr>
          <a:xfrm>
            <a:off x="548640" y="1325880"/>
            <a:ext cx="2670048" cy="1097280"/>
          </a:xfrm>
          <a:prstGeom prst="rect">
            <a:avLst/>
          </a:prstGeom>
          <a:solidFill>
            <a:srgbClr val="FFFFFF">
              <a:alpha val="0"/>
            </a:srgbClr>
          </a:solidFill>
          <a:ln w="12700">
            <a:solidFill>
              <a:srgbClr val="FFFFFF">
                <a:alpha val="0"/>
              </a:srgbClr>
            </a:solidFill>
            <a:prstDash val="solid"/>
          </a:ln>
        </p:spPr>
      </p:sp>
      <p:sp>
        <p:nvSpPr>
          <p:cNvPr id="10" name="objective-2"/>
          <p:cNvSpPr/>
          <p:nvPr/>
        </p:nvSpPr>
        <p:spPr>
          <a:xfrm>
            <a:off x="3346704" y="1325880"/>
            <a:ext cx="2670048" cy="1097280"/>
          </a:xfrm>
          <a:prstGeom prst="roundRect">
            <a:avLst>
              <a:gd name="adj" fmla="val 8333"/>
            </a:avLst>
          </a:prstGeom>
          <a:solidFill>
            <a:srgbClr val="EFF5F2"/>
          </a:solidFill>
          <a:ln>
            <a:solidFill>
              <a:srgbClr val="EFF5F2"/>
            </a:solidFill>
          </a:ln>
        </p:spPr>
        <p:txBody>
          <a:bodyPr wrap="square" lIns="0" tIns="177800" rIns="152400" bIns="0" rtlCol="0" anchor="ctr"/>
          <a:lstStyle/>
          <a:p>
            <a:pPr indent="0" marL="0">
              <a:buNone/>
            </a:pPr>
            <a:r>
              <a:rPr lang="en-US" sz="1800" b="1" dirty="0">
                <a:solidFill>
                  <a:srgbClr val="E8762B"/>
                </a:solidFill>
                <a:latin typeface="Cambria" pitchFamily="34" charset="0"/>
                <a:ea typeface="Cambria" pitchFamily="34" charset="-122"/>
                <a:cs typeface="Cambria" pitchFamily="34" charset="-120"/>
              </a:rPr>
              <a:t>02  </a:t>
            </a:r>
            <a:pPr indent="0" marL="0">
              <a:buNone/>
            </a:pPr>
            <a:r>
              <a:rPr lang="en-US" sz="1400" b="1" dirty="0">
                <a:solidFill>
                  <a:srgbClr val="0B3B36"/>
                </a:solidFill>
              </a:rPr>
              <a:t>Milestone tracking &amp; grading</a:t>
            </a:r>
            <a:endParaRPr lang="en-US" sz="1800" dirty="0"/>
          </a:p>
        </p:txBody>
      </p:sp>
      <p:pic>
        <p:nvPicPr>
          <p:cNvPr id="11" name="check-2" descr="preencoded.png">    </p:cNvPr>
          <p:cNvPicPr>
            <a:picLocks noChangeAspect="1"/>
          </p:cNvPicPr>
          <p:nvPr/>
        </p:nvPicPr>
        <p:blipFill>
          <a:blip r:embed="rId5"/>
          <a:stretch>
            <a:fillRect/>
          </a:stretch>
        </p:blipFill>
        <p:spPr>
          <a:xfrm>
            <a:off x="5669280" y="1435608"/>
            <a:ext cx="219456" cy="219456"/>
          </a:xfrm>
          <a:prstGeom prst="rect">
            <a:avLst/>
          </a:prstGeom>
        </p:spPr>
      </p:pic>
      <p:sp>
        <p:nvSpPr>
          <p:cNvPr id="12" name="objective-link-2">
            <a:hlinkClick r:id="rId6" tooltip="See it" action="ppaction://hlinksldjump"/>
          </p:cNvPr>
          <p:cNvSpPr/>
          <p:nvPr/>
        </p:nvSpPr>
        <p:spPr>
          <a:xfrm>
            <a:off x="3346704" y="1325880"/>
            <a:ext cx="2670048" cy="1097280"/>
          </a:xfrm>
          <a:prstGeom prst="rect">
            <a:avLst/>
          </a:prstGeom>
          <a:solidFill>
            <a:srgbClr val="FFFFFF">
              <a:alpha val="0"/>
            </a:srgbClr>
          </a:solidFill>
          <a:ln w="12700">
            <a:solidFill>
              <a:srgbClr val="FFFFFF">
                <a:alpha val="0"/>
              </a:srgbClr>
            </a:solidFill>
            <a:prstDash val="solid"/>
          </a:ln>
        </p:spPr>
      </p:sp>
      <p:sp>
        <p:nvSpPr>
          <p:cNvPr id="13" name="objective-3"/>
          <p:cNvSpPr/>
          <p:nvPr/>
        </p:nvSpPr>
        <p:spPr>
          <a:xfrm>
            <a:off x="6144768" y="1325880"/>
            <a:ext cx="2670048" cy="1097280"/>
          </a:xfrm>
          <a:prstGeom prst="roundRect">
            <a:avLst>
              <a:gd name="adj" fmla="val 8333"/>
            </a:avLst>
          </a:prstGeom>
          <a:solidFill>
            <a:srgbClr val="EFF5F2"/>
          </a:solidFill>
          <a:ln>
            <a:solidFill>
              <a:srgbClr val="EFF5F2"/>
            </a:solidFill>
          </a:ln>
        </p:spPr>
        <p:txBody>
          <a:bodyPr wrap="square" lIns="0" tIns="177800" rIns="152400" bIns="0" rtlCol="0" anchor="ctr"/>
          <a:lstStyle/>
          <a:p>
            <a:pPr indent="0" marL="0">
              <a:buNone/>
            </a:pPr>
            <a:r>
              <a:rPr lang="en-US" sz="1800" b="1" dirty="0">
                <a:solidFill>
                  <a:srgbClr val="E8762B"/>
                </a:solidFill>
                <a:latin typeface="Cambria" pitchFamily="34" charset="0"/>
                <a:ea typeface="Cambria" pitchFamily="34" charset="-122"/>
                <a:cs typeface="Cambria" pitchFamily="34" charset="-120"/>
              </a:rPr>
              <a:t>03  </a:t>
            </a:r>
            <a:pPr indent="0" marL="0">
              <a:buNone/>
            </a:pPr>
            <a:r>
              <a:rPr lang="en-US" sz="1400" b="1" dirty="0">
                <a:solidFill>
                  <a:srgbClr val="0B3B36"/>
                </a:solidFill>
              </a:rPr>
              <a:t>Teacher expertise gaps</a:t>
            </a:r>
            <a:endParaRPr lang="en-US" sz="1800" dirty="0"/>
          </a:p>
        </p:txBody>
      </p:sp>
      <p:pic>
        <p:nvPicPr>
          <p:cNvPr id="14" name="check-3" descr="preencoded.png">    </p:cNvPr>
          <p:cNvPicPr>
            <a:picLocks noChangeAspect="1"/>
          </p:cNvPicPr>
          <p:nvPr/>
        </p:nvPicPr>
        <p:blipFill>
          <a:blip r:embed="rId7"/>
          <a:stretch>
            <a:fillRect/>
          </a:stretch>
        </p:blipFill>
        <p:spPr>
          <a:xfrm>
            <a:off x="8467344" y="1435608"/>
            <a:ext cx="219456" cy="219456"/>
          </a:xfrm>
          <a:prstGeom prst="rect">
            <a:avLst/>
          </a:prstGeom>
        </p:spPr>
      </p:pic>
      <p:sp>
        <p:nvSpPr>
          <p:cNvPr id="15" name="objective-link-3">
            <a:hlinkClick r:id="rId8" tooltip="See it" action="ppaction://hlinksldjump"/>
          </p:cNvPr>
          <p:cNvSpPr/>
          <p:nvPr/>
        </p:nvSpPr>
        <p:spPr>
          <a:xfrm>
            <a:off x="6144768" y="1325880"/>
            <a:ext cx="2670048" cy="1097280"/>
          </a:xfrm>
          <a:prstGeom prst="rect">
            <a:avLst/>
          </a:prstGeom>
          <a:solidFill>
            <a:srgbClr val="FFFFFF">
              <a:alpha val="0"/>
            </a:srgbClr>
          </a:solidFill>
          <a:ln w="12700">
            <a:solidFill>
              <a:srgbClr val="FFFFFF">
                <a:alpha val="0"/>
              </a:srgbClr>
            </a:solidFill>
            <a:prstDash val="solid"/>
          </a:ln>
        </p:spPr>
      </p:sp>
      <p:sp>
        <p:nvSpPr>
          <p:cNvPr id="16" name="objective-4"/>
          <p:cNvSpPr/>
          <p:nvPr/>
        </p:nvSpPr>
        <p:spPr>
          <a:xfrm>
            <a:off x="8942832" y="1325880"/>
            <a:ext cx="2670048" cy="1097280"/>
          </a:xfrm>
          <a:prstGeom prst="roundRect">
            <a:avLst>
              <a:gd name="adj" fmla="val 8333"/>
            </a:avLst>
          </a:prstGeom>
          <a:solidFill>
            <a:srgbClr val="EFF5F2"/>
          </a:solidFill>
          <a:ln>
            <a:solidFill>
              <a:srgbClr val="EFF5F2"/>
            </a:solidFill>
          </a:ln>
        </p:spPr>
        <p:txBody>
          <a:bodyPr wrap="square" lIns="0" tIns="177800" rIns="152400" bIns="0" rtlCol="0" anchor="ctr"/>
          <a:lstStyle/>
          <a:p>
            <a:pPr indent="0" marL="0">
              <a:buNone/>
            </a:pPr>
            <a:r>
              <a:rPr lang="en-US" sz="1800" b="1" dirty="0">
                <a:solidFill>
                  <a:srgbClr val="E8762B"/>
                </a:solidFill>
                <a:latin typeface="Cambria" pitchFamily="34" charset="0"/>
                <a:ea typeface="Cambria" pitchFamily="34" charset="-122"/>
                <a:cs typeface="Cambria" pitchFamily="34" charset="-120"/>
              </a:rPr>
              <a:t>04  </a:t>
            </a:r>
            <a:pPr indent="0" marL="0">
              <a:buNone/>
            </a:pPr>
            <a:r>
              <a:rPr lang="en-US" sz="1400" b="1" dirty="0">
                <a:solidFill>
                  <a:srgbClr val="0B3B36"/>
                </a:solidFill>
              </a:rPr>
              <a:t>AI support &amp; AI classes</a:t>
            </a:r>
            <a:endParaRPr lang="en-US" sz="1800" dirty="0"/>
          </a:p>
        </p:txBody>
      </p:sp>
      <p:pic>
        <p:nvPicPr>
          <p:cNvPr id="17" name="check-4" descr="preencoded.png">    </p:cNvPr>
          <p:cNvPicPr>
            <a:picLocks noChangeAspect="1"/>
          </p:cNvPicPr>
          <p:nvPr/>
        </p:nvPicPr>
        <p:blipFill>
          <a:blip r:embed="rId9"/>
          <a:stretch>
            <a:fillRect/>
          </a:stretch>
        </p:blipFill>
        <p:spPr>
          <a:xfrm>
            <a:off x="11265408" y="1435608"/>
            <a:ext cx="219456" cy="219456"/>
          </a:xfrm>
          <a:prstGeom prst="rect">
            <a:avLst/>
          </a:prstGeom>
        </p:spPr>
      </p:pic>
      <p:sp>
        <p:nvSpPr>
          <p:cNvPr id="18" name="objective-link-4">
            <a:hlinkClick r:id="rId10" tooltip="See it" action="ppaction://hlinksldjump"/>
          </p:cNvPr>
          <p:cNvSpPr/>
          <p:nvPr/>
        </p:nvSpPr>
        <p:spPr>
          <a:xfrm>
            <a:off x="8942832" y="1325880"/>
            <a:ext cx="2670048" cy="1097280"/>
          </a:xfrm>
          <a:prstGeom prst="rect">
            <a:avLst/>
          </a:prstGeom>
          <a:solidFill>
            <a:srgbClr val="FFFFFF">
              <a:alpha val="0"/>
            </a:srgbClr>
          </a:solidFill>
          <a:ln w="12700">
            <a:solidFill>
              <a:srgbClr val="FFFFFF">
                <a:alpha val="0"/>
              </a:srgbClr>
            </a:solidFill>
            <a:prstDash val="solid"/>
          </a:ln>
        </p:spPr>
      </p:sp>
      <p:sp>
        <p:nvSpPr>
          <p:cNvPr id="19" name="objective-5"/>
          <p:cNvSpPr/>
          <p:nvPr/>
        </p:nvSpPr>
        <p:spPr>
          <a:xfrm>
            <a:off x="548640" y="2542032"/>
            <a:ext cx="2670048" cy="1097280"/>
          </a:xfrm>
          <a:prstGeom prst="roundRect">
            <a:avLst>
              <a:gd name="adj" fmla="val 8333"/>
            </a:avLst>
          </a:prstGeom>
          <a:solidFill>
            <a:srgbClr val="EFF5F2"/>
          </a:solidFill>
          <a:ln>
            <a:solidFill>
              <a:srgbClr val="EFF5F2"/>
            </a:solidFill>
          </a:ln>
        </p:spPr>
        <p:txBody>
          <a:bodyPr wrap="square" lIns="0" tIns="177800" rIns="152400" bIns="0" rtlCol="0" anchor="ctr"/>
          <a:lstStyle/>
          <a:p>
            <a:pPr indent="0" marL="0">
              <a:buNone/>
            </a:pPr>
            <a:r>
              <a:rPr lang="en-US" sz="1800" b="1" dirty="0">
                <a:solidFill>
                  <a:srgbClr val="E8762B"/>
                </a:solidFill>
                <a:latin typeface="Cambria" pitchFamily="34" charset="0"/>
                <a:ea typeface="Cambria" pitchFamily="34" charset="-122"/>
                <a:cs typeface="Cambria" pitchFamily="34" charset="-120"/>
              </a:rPr>
              <a:t>05  </a:t>
            </a:r>
            <a:pPr indent="0" marL="0">
              <a:buNone/>
            </a:pPr>
            <a:r>
              <a:rPr lang="en-US" sz="1400" b="1" dirty="0">
                <a:solidFill>
                  <a:srgbClr val="0B3B36"/>
                </a:solidFill>
              </a:rPr>
              <a:t>Classroom continuity</a:t>
            </a:r>
            <a:endParaRPr lang="en-US" sz="1800" dirty="0"/>
          </a:p>
        </p:txBody>
      </p:sp>
      <p:pic>
        <p:nvPicPr>
          <p:cNvPr id="20" name="check-5" descr="preencoded.png">    </p:cNvPr>
          <p:cNvPicPr>
            <a:picLocks noChangeAspect="1"/>
          </p:cNvPicPr>
          <p:nvPr/>
        </p:nvPicPr>
        <p:blipFill>
          <a:blip r:embed="rId11"/>
          <a:stretch>
            <a:fillRect/>
          </a:stretch>
        </p:blipFill>
        <p:spPr>
          <a:xfrm>
            <a:off x="2871216" y="2651760"/>
            <a:ext cx="219456" cy="219456"/>
          </a:xfrm>
          <a:prstGeom prst="rect">
            <a:avLst/>
          </a:prstGeom>
        </p:spPr>
      </p:pic>
      <p:sp>
        <p:nvSpPr>
          <p:cNvPr id="21" name="objective-link-5">
            <a:hlinkClick r:id="rId12" tooltip="See it" action="ppaction://hlinksldjump"/>
          </p:cNvPr>
          <p:cNvSpPr/>
          <p:nvPr/>
        </p:nvSpPr>
        <p:spPr>
          <a:xfrm>
            <a:off x="548640" y="2542032"/>
            <a:ext cx="2670048" cy="1097280"/>
          </a:xfrm>
          <a:prstGeom prst="rect">
            <a:avLst/>
          </a:prstGeom>
          <a:solidFill>
            <a:srgbClr val="FFFFFF">
              <a:alpha val="0"/>
            </a:srgbClr>
          </a:solidFill>
          <a:ln w="12700">
            <a:solidFill>
              <a:srgbClr val="FFFFFF">
                <a:alpha val="0"/>
              </a:srgbClr>
            </a:solidFill>
            <a:prstDash val="solid"/>
          </a:ln>
        </p:spPr>
      </p:sp>
      <p:sp>
        <p:nvSpPr>
          <p:cNvPr id="22" name="objective-6"/>
          <p:cNvSpPr/>
          <p:nvPr/>
        </p:nvSpPr>
        <p:spPr>
          <a:xfrm>
            <a:off x="3346704" y="2542032"/>
            <a:ext cx="2670048" cy="1097280"/>
          </a:xfrm>
          <a:prstGeom prst="roundRect">
            <a:avLst>
              <a:gd name="adj" fmla="val 8333"/>
            </a:avLst>
          </a:prstGeom>
          <a:solidFill>
            <a:srgbClr val="EFF5F2"/>
          </a:solidFill>
          <a:ln>
            <a:solidFill>
              <a:srgbClr val="EFF5F2"/>
            </a:solidFill>
          </a:ln>
        </p:spPr>
        <p:txBody>
          <a:bodyPr wrap="square" lIns="0" tIns="177800" rIns="152400" bIns="0" rtlCol="0" anchor="ctr"/>
          <a:lstStyle/>
          <a:p>
            <a:pPr indent="0" marL="0">
              <a:buNone/>
            </a:pPr>
            <a:r>
              <a:rPr lang="en-US" sz="1800" b="1" dirty="0">
                <a:solidFill>
                  <a:srgbClr val="E8762B"/>
                </a:solidFill>
                <a:latin typeface="Cambria" pitchFamily="34" charset="0"/>
                <a:ea typeface="Cambria" pitchFamily="34" charset="-122"/>
                <a:cs typeface="Cambria" pitchFamily="34" charset="-120"/>
              </a:rPr>
              <a:t>06  </a:t>
            </a:r>
            <a:pPr indent="0" marL="0">
              <a:buNone/>
            </a:pPr>
            <a:r>
              <a:rPr lang="en-US" sz="1400" b="1" dirty="0">
                <a:solidFill>
                  <a:srgbClr val="0B3B36"/>
                </a:solidFill>
              </a:rPr>
              <a:t>Less teacher workload</a:t>
            </a:r>
            <a:endParaRPr lang="en-US" sz="1800" dirty="0"/>
          </a:p>
        </p:txBody>
      </p:sp>
      <p:pic>
        <p:nvPicPr>
          <p:cNvPr id="23" name="check-6" descr="preencoded.png">    </p:cNvPr>
          <p:cNvPicPr>
            <a:picLocks noChangeAspect="1"/>
          </p:cNvPicPr>
          <p:nvPr/>
        </p:nvPicPr>
        <p:blipFill>
          <a:blip r:embed="rId13"/>
          <a:stretch>
            <a:fillRect/>
          </a:stretch>
        </p:blipFill>
        <p:spPr>
          <a:xfrm>
            <a:off x="5669280" y="2651760"/>
            <a:ext cx="219456" cy="219456"/>
          </a:xfrm>
          <a:prstGeom prst="rect">
            <a:avLst/>
          </a:prstGeom>
        </p:spPr>
      </p:pic>
      <p:sp>
        <p:nvSpPr>
          <p:cNvPr id="24" name="objective-link-6">
            <a:hlinkClick r:id="rId14" tooltip="See it" action="ppaction://hlinksldjump"/>
          </p:cNvPr>
          <p:cNvSpPr/>
          <p:nvPr/>
        </p:nvSpPr>
        <p:spPr>
          <a:xfrm>
            <a:off x="3346704" y="2542032"/>
            <a:ext cx="2670048" cy="1097280"/>
          </a:xfrm>
          <a:prstGeom prst="rect">
            <a:avLst/>
          </a:prstGeom>
          <a:solidFill>
            <a:srgbClr val="FFFFFF">
              <a:alpha val="0"/>
            </a:srgbClr>
          </a:solidFill>
          <a:ln w="12700">
            <a:solidFill>
              <a:srgbClr val="FFFFFF">
                <a:alpha val="0"/>
              </a:srgbClr>
            </a:solidFill>
            <a:prstDash val="solid"/>
          </a:ln>
        </p:spPr>
      </p:sp>
      <p:sp>
        <p:nvSpPr>
          <p:cNvPr id="25" name="objective-7"/>
          <p:cNvSpPr/>
          <p:nvPr/>
        </p:nvSpPr>
        <p:spPr>
          <a:xfrm>
            <a:off x="6144768" y="2542032"/>
            <a:ext cx="2670048" cy="1097280"/>
          </a:xfrm>
          <a:prstGeom prst="roundRect">
            <a:avLst>
              <a:gd name="adj" fmla="val 8333"/>
            </a:avLst>
          </a:prstGeom>
          <a:solidFill>
            <a:srgbClr val="EFF5F2"/>
          </a:solidFill>
          <a:ln>
            <a:solidFill>
              <a:srgbClr val="EFF5F2"/>
            </a:solidFill>
          </a:ln>
        </p:spPr>
        <p:txBody>
          <a:bodyPr wrap="square" lIns="0" tIns="177800" rIns="152400" bIns="0" rtlCol="0" anchor="ctr"/>
          <a:lstStyle/>
          <a:p>
            <a:pPr indent="0" marL="0">
              <a:buNone/>
            </a:pPr>
            <a:r>
              <a:rPr lang="en-US" sz="1800" b="1" dirty="0">
                <a:solidFill>
                  <a:srgbClr val="E8762B"/>
                </a:solidFill>
                <a:latin typeface="Cambria" pitchFamily="34" charset="0"/>
                <a:ea typeface="Cambria" pitchFamily="34" charset="-122"/>
                <a:cs typeface="Cambria" pitchFamily="34" charset="-120"/>
              </a:rPr>
              <a:t>07  </a:t>
            </a:r>
            <a:pPr indent="0" marL="0">
              <a:buNone/>
            </a:pPr>
            <a:r>
              <a:rPr lang="en-US" sz="1400" b="1" dirty="0">
                <a:solidFill>
                  <a:srgbClr val="0B3B36"/>
                </a:solidFill>
              </a:rPr>
              <a:t>Unit, quarterly, annual tests</a:t>
            </a:r>
            <a:endParaRPr lang="en-US" sz="1800" dirty="0"/>
          </a:p>
        </p:txBody>
      </p:sp>
      <p:pic>
        <p:nvPicPr>
          <p:cNvPr id="26" name="check-7" descr="preencoded.png">    </p:cNvPr>
          <p:cNvPicPr>
            <a:picLocks noChangeAspect="1"/>
          </p:cNvPicPr>
          <p:nvPr/>
        </p:nvPicPr>
        <p:blipFill>
          <a:blip r:embed="rId15"/>
          <a:stretch>
            <a:fillRect/>
          </a:stretch>
        </p:blipFill>
        <p:spPr>
          <a:xfrm>
            <a:off x="8467344" y="2651760"/>
            <a:ext cx="219456" cy="219456"/>
          </a:xfrm>
          <a:prstGeom prst="rect">
            <a:avLst/>
          </a:prstGeom>
        </p:spPr>
      </p:pic>
      <p:sp>
        <p:nvSpPr>
          <p:cNvPr id="27" name="objective-link-7">
            <a:hlinkClick r:id="rId16" tooltip="See it" action="ppaction://hlinksldjump"/>
          </p:cNvPr>
          <p:cNvSpPr/>
          <p:nvPr/>
        </p:nvSpPr>
        <p:spPr>
          <a:xfrm>
            <a:off x="6144768" y="2542032"/>
            <a:ext cx="2670048" cy="1097280"/>
          </a:xfrm>
          <a:prstGeom prst="rect">
            <a:avLst/>
          </a:prstGeom>
          <a:solidFill>
            <a:srgbClr val="FFFFFF">
              <a:alpha val="0"/>
            </a:srgbClr>
          </a:solidFill>
          <a:ln w="12700">
            <a:solidFill>
              <a:srgbClr val="FFFFFF">
                <a:alpha val="0"/>
              </a:srgbClr>
            </a:solidFill>
            <a:prstDash val="solid"/>
          </a:ln>
        </p:spPr>
      </p:sp>
      <p:sp>
        <p:nvSpPr>
          <p:cNvPr id="28" name="objective-8"/>
          <p:cNvSpPr/>
          <p:nvPr/>
        </p:nvSpPr>
        <p:spPr>
          <a:xfrm>
            <a:off x="8942832" y="2542032"/>
            <a:ext cx="2670048" cy="1097280"/>
          </a:xfrm>
          <a:prstGeom prst="roundRect">
            <a:avLst>
              <a:gd name="adj" fmla="val 8333"/>
            </a:avLst>
          </a:prstGeom>
          <a:solidFill>
            <a:srgbClr val="EFF5F2"/>
          </a:solidFill>
          <a:ln>
            <a:solidFill>
              <a:srgbClr val="EFF5F2"/>
            </a:solidFill>
          </a:ln>
        </p:spPr>
        <p:txBody>
          <a:bodyPr wrap="square" lIns="0" tIns="177800" rIns="152400" bIns="0" rtlCol="0" anchor="ctr"/>
          <a:lstStyle/>
          <a:p>
            <a:pPr indent="0" marL="0">
              <a:buNone/>
            </a:pPr>
            <a:r>
              <a:rPr lang="en-US" sz="1800" b="1" dirty="0">
                <a:solidFill>
                  <a:srgbClr val="E8762B"/>
                </a:solidFill>
                <a:latin typeface="Cambria" pitchFamily="34" charset="0"/>
                <a:ea typeface="Cambria" pitchFamily="34" charset="-122"/>
                <a:cs typeface="Cambria" pitchFamily="34" charset="-120"/>
              </a:rPr>
              <a:t>08  </a:t>
            </a:r>
            <a:pPr indent="0" marL="0">
              <a:buNone/>
            </a:pPr>
            <a:r>
              <a:rPr lang="en-US" sz="1400" b="1" dirty="0">
                <a:solidFill>
                  <a:srgbClr val="0B3B36"/>
                </a:solidFill>
              </a:rPr>
              <a:t>Child-wise learning profile</a:t>
            </a:r>
            <a:endParaRPr lang="en-US" sz="1800" dirty="0"/>
          </a:p>
        </p:txBody>
      </p:sp>
      <p:pic>
        <p:nvPicPr>
          <p:cNvPr id="29" name="check-8" descr="preencoded.png">    </p:cNvPr>
          <p:cNvPicPr>
            <a:picLocks noChangeAspect="1"/>
          </p:cNvPicPr>
          <p:nvPr/>
        </p:nvPicPr>
        <p:blipFill>
          <a:blip r:embed="rId17"/>
          <a:stretch>
            <a:fillRect/>
          </a:stretch>
        </p:blipFill>
        <p:spPr>
          <a:xfrm>
            <a:off x="11265408" y="2651760"/>
            <a:ext cx="219456" cy="219456"/>
          </a:xfrm>
          <a:prstGeom prst="rect">
            <a:avLst/>
          </a:prstGeom>
        </p:spPr>
      </p:pic>
      <p:sp>
        <p:nvSpPr>
          <p:cNvPr id="30" name="objective-link-8">
            <a:hlinkClick r:id="rId18" tooltip="See it" action="ppaction://hlinksldjump"/>
          </p:cNvPr>
          <p:cNvSpPr/>
          <p:nvPr/>
        </p:nvSpPr>
        <p:spPr>
          <a:xfrm>
            <a:off x="8942832" y="2542032"/>
            <a:ext cx="2670048" cy="1097280"/>
          </a:xfrm>
          <a:prstGeom prst="rect">
            <a:avLst/>
          </a:prstGeom>
          <a:solidFill>
            <a:srgbClr val="FFFFFF">
              <a:alpha val="0"/>
            </a:srgbClr>
          </a:solidFill>
          <a:ln w="12700">
            <a:solidFill>
              <a:srgbClr val="FFFFFF">
                <a:alpha val="0"/>
              </a:srgbClr>
            </a:solidFill>
            <a:prstDash val="solid"/>
          </a:ln>
        </p:spPr>
      </p:sp>
      <p:sp>
        <p:nvSpPr>
          <p:cNvPr id="31" name="objective-9"/>
          <p:cNvSpPr/>
          <p:nvPr/>
        </p:nvSpPr>
        <p:spPr>
          <a:xfrm>
            <a:off x="548640" y="3758184"/>
            <a:ext cx="2670048" cy="1097280"/>
          </a:xfrm>
          <a:prstGeom prst="roundRect">
            <a:avLst>
              <a:gd name="adj" fmla="val 8333"/>
            </a:avLst>
          </a:prstGeom>
          <a:solidFill>
            <a:srgbClr val="EFF5F2"/>
          </a:solidFill>
          <a:ln>
            <a:solidFill>
              <a:srgbClr val="EFF5F2"/>
            </a:solidFill>
          </a:ln>
        </p:spPr>
        <p:txBody>
          <a:bodyPr wrap="square" lIns="0" tIns="177800" rIns="152400" bIns="0" rtlCol="0" anchor="ctr"/>
          <a:lstStyle/>
          <a:p>
            <a:pPr indent="0" marL="0">
              <a:buNone/>
            </a:pPr>
            <a:r>
              <a:rPr lang="en-US" sz="1800" b="1" dirty="0">
                <a:solidFill>
                  <a:srgbClr val="E8762B"/>
                </a:solidFill>
                <a:latin typeface="Cambria" pitchFamily="34" charset="0"/>
                <a:ea typeface="Cambria" pitchFamily="34" charset="-122"/>
                <a:cs typeface="Cambria" pitchFamily="34" charset="-120"/>
              </a:rPr>
              <a:t>09  </a:t>
            </a:r>
            <a:pPr indent="0" marL="0">
              <a:buNone/>
            </a:pPr>
            <a:r>
              <a:rPr lang="en-US" sz="1400" b="1" dirty="0">
                <a:solidFill>
                  <a:srgbClr val="0B3B36"/>
                </a:solidFill>
              </a:rPr>
              <a:t>Automated analytics</a:t>
            </a:r>
            <a:endParaRPr lang="en-US" sz="1800" dirty="0"/>
          </a:p>
        </p:txBody>
      </p:sp>
      <p:pic>
        <p:nvPicPr>
          <p:cNvPr id="32" name="check-9" descr="preencoded.png">    </p:cNvPr>
          <p:cNvPicPr>
            <a:picLocks noChangeAspect="1"/>
          </p:cNvPicPr>
          <p:nvPr/>
        </p:nvPicPr>
        <p:blipFill>
          <a:blip r:embed="rId19"/>
          <a:stretch>
            <a:fillRect/>
          </a:stretch>
        </p:blipFill>
        <p:spPr>
          <a:xfrm>
            <a:off x="2871216" y="3867912"/>
            <a:ext cx="219456" cy="219456"/>
          </a:xfrm>
          <a:prstGeom prst="rect">
            <a:avLst/>
          </a:prstGeom>
        </p:spPr>
      </p:pic>
      <p:sp>
        <p:nvSpPr>
          <p:cNvPr id="33" name="objective-link-9">
            <a:hlinkClick r:id="rId20" tooltip="See it" action="ppaction://hlinksldjump"/>
          </p:cNvPr>
          <p:cNvSpPr/>
          <p:nvPr/>
        </p:nvSpPr>
        <p:spPr>
          <a:xfrm>
            <a:off x="548640" y="3758184"/>
            <a:ext cx="2670048" cy="1097280"/>
          </a:xfrm>
          <a:prstGeom prst="rect">
            <a:avLst/>
          </a:prstGeom>
          <a:solidFill>
            <a:srgbClr val="FFFFFF">
              <a:alpha val="0"/>
            </a:srgbClr>
          </a:solidFill>
          <a:ln w="12700">
            <a:solidFill>
              <a:srgbClr val="FFFFFF">
                <a:alpha val="0"/>
              </a:srgbClr>
            </a:solidFill>
            <a:prstDash val="solid"/>
          </a:ln>
        </p:spPr>
      </p:sp>
      <p:sp>
        <p:nvSpPr>
          <p:cNvPr id="34" name="objective-10"/>
          <p:cNvSpPr/>
          <p:nvPr/>
        </p:nvSpPr>
        <p:spPr>
          <a:xfrm>
            <a:off x="3346704" y="3758184"/>
            <a:ext cx="2670048" cy="1097280"/>
          </a:xfrm>
          <a:prstGeom prst="roundRect">
            <a:avLst>
              <a:gd name="adj" fmla="val 8333"/>
            </a:avLst>
          </a:prstGeom>
          <a:solidFill>
            <a:srgbClr val="EFF5F2"/>
          </a:solidFill>
          <a:ln>
            <a:solidFill>
              <a:srgbClr val="EFF5F2"/>
            </a:solidFill>
          </a:ln>
        </p:spPr>
        <p:txBody>
          <a:bodyPr wrap="square" lIns="0" tIns="177800" rIns="152400" bIns="0" rtlCol="0" anchor="ctr"/>
          <a:lstStyle/>
          <a:p>
            <a:pPr indent="0" marL="0">
              <a:buNone/>
            </a:pPr>
            <a:r>
              <a:rPr lang="en-US" sz="1800" b="1" dirty="0">
                <a:solidFill>
                  <a:srgbClr val="E8762B"/>
                </a:solidFill>
                <a:latin typeface="Cambria" pitchFamily="34" charset="0"/>
                <a:ea typeface="Cambria" pitchFamily="34" charset="-122"/>
                <a:cs typeface="Cambria" pitchFamily="34" charset="-120"/>
              </a:rPr>
              <a:t>10  </a:t>
            </a:r>
            <a:pPr indent="0" marL="0">
              <a:buNone/>
            </a:pPr>
            <a:r>
              <a:rPr lang="en-US" sz="1400" b="1" dirty="0">
                <a:solidFill>
                  <a:srgbClr val="0B3B36"/>
                </a:solidFill>
              </a:rPr>
              <a:t>Attendance–learning link</a:t>
            </a:r>
            <a:endParaRPr lang="en-US" sz="1800" dirty="0"/>
          </a:p>
        </p:txBody>
      </p:sp>
      <p:pic>
        <p:nvPicPr>
          <p:cNvPr id="35" name="check-10" descr="preencoded.png">    </p:cNvPr>
          <p:cNvPicPr>
            <a:picLocks noChangeAspect="1"/>
          </p:cNvPicPr>
          <p:nvPr/>
        </p:nvPicPr>
        <p:blipFill>
          <a:blip r:embed="rId21"/>
          <a:stretch>
            <a:fillRect/>
          </a:stretch>
        </p:blipFill>
        <p:spPr>
          <a:xfrm>
            <a:off x="5669280" y="3867912"/>
            <a:ext cx="219456" cy="219456"/>
          </a:xfrm>
          <a:prstGeom prst="rect">
            <a:avLst/>
          </a:prstGeom>
        </p:spPr>
      </p:pic>
      <p:sp>
        <p:nvSpPr>
          <p:cNvPr id="36" name="objective-link-10">
            <a:hlinkClick r:id="rId22" tooltip="See it" action="ppaction://hlinksldjump"/>
          </p:cNvPr>
          <p:cNvSpPr/>
          <p:nvPr/>
        </p:nvSpPr>
        <p:spPr>
          <a:xfrm>
            <a:off x="3346704" y="3758184"/>
            <a:ext cx="2670048" cy="1097280"/>
          </a:xfrm>
          <a:prstGeom prst="rect">
            <a:avLst/>
          </a:prstGeom>
          <a:solidFill>
            <a:srgbClr val="FFFFFF">
              <a:alpha val="0"/>
            </a:srgbClr>
          </a:solidFill>
          <a:ln w="12700">
            <a:solidFill>
              <a:srgbClr val="FFFFFF">
                <a:alpha val="0"/>
              </a:srgbClr>
            </a:solidFill>
            <a:prstDash val="solid"/>
          </a:ln>
        </p:spPr>
      </p:sp>
      <p:sp>
        <p:nvSpPr>
          <p:cNvPr id="37" name="objective-11"/>
          <p:cNvSpPr/>
          <p:nvPr/>
        </p:nvSpPr>
        <p:spPr>
          <a:xfrm>
            <a:off x="6144768" y="3758184"/>
            <a:ext cx="2670048" cy="1097280"/>
          </a:xfrm>
          <a:prstGeom prst="roundRect">
            <a:avLst>
              <a:gd name="adj" fmla="val 8333"/>
            </a:avLst>
          </a:prstGeom>
          <a:solidFill>
            <a:srgbClr val="EFF5F2"/>
          </a:solidFill>
          <a:ln>
            <a:solidFill>
              <a:srgbClr val="EFF5F2"/>
            </a:solidFill>
          </a:ln>
        </p:spPr>
        <p:txBody>
          <a:bodyPr wrap="square" lIns="0" tIns="177800" rIns="152400" bIns="0" rtlCol="0" anchor="ctr"/>
          <a:lstStyle/>
          <a:p>
            <a:pPr indent="0" marL="0">
              <a:buNone/>
            </a:pPr>
            <a:r>
              <a:rPr lang="en-US" sz="1800" b="1" dirty="0">
                <a:solidFill>
                  <a:srgbClr val="E8762B"/>
                </a:solidFill>
                <a:latin typeface="Cambria" pitchFamily="34" charset="0"/>
                <a:ea typeface="Cambria" pitchFamily="34" charset="-122"/>
                <a:cs typeface="Cambria" pitchFamily="34" charset="-120"/>
              </a:rPr>
              <a:t>11  </a:t>
            </a:r>
            <a:pPr indent="0" marL="0">
              <a:buNone/>
            </a:pPr>
            <a:r>
              <a:rPr lang="en-US" sz="1400" b="1" dirty="0">
                <a:solidFill>
                  <a:srgbClr val="0B3B36"/>
                </a:solidFill>
              </a:rPr>
              <a:t>Personalised remedial support</a:t>
            </a:r>
            <a:endParaRPr lang="en-US" sz="1800" dirty="0"/>
          </a:p>
        </p:txBody>
      </p:sp>
      <p:pic>
        <p:nvPicPr>
          <p:cNvPr id="38" name="check-11" descr="preencoded.png">    </p:cNvPr>
          <p:cNvPicPr>
            <a:picLocks noChangeAspect="1"/>
          </p:cNvPicPr>
          <p:nvPr/>
        </p:nvPicPr>
        <p:blipFill>
          <a:blip r:embed="rId23"/>
          <a:stretch>
            <a:fillRect/>
          </a:stretch>
        </p:blipFill>
        <p:spPr>
          <a:xfrm>
            <a:off x="8467344" y="3867912"/>
            <a:ext cx="219456" cy="219456"/>
          </a:xfrm>
          <a:prstGeom prst="rect">
            <a:avLst/>
          </a:prstGeom>
        </p:spPr>
      </p:pic>
      <p:sp>
        <p:nvSpPr>
          <p:cNvPr id="39" name="objective-link-11">
            <a:hlinkClick r:id="rId24" tooltip="See it" action="ppaction://hlinksldjump"/>
          </p:cNvPr>
          <p:cNvSpPr/>
          <p:nvPr/>
        </p:nvSpPr>
        <p:spPr>
          <a:xfrm>
            <a:off x="6144768" y="3758184"/>
            <a:ext cx="2670048" cy="1097280"/>
          </a:xfrm>
          <a:prstGeom prst="rect">
            <a:avLst/>
          </a:prstGeom>
          <a:solidFill>
            <a:srgbClr val="FFFFFF">
              <a:alpha val="0"/>
            </a:srgbClr>
          </a:solidFill>
          <a:ln w="12700">
            <a:solidFill>
              <a:srgbClr val="FFFFFF">
                <a:alpha val="0"/>
              </a:srgbClr>
            </a:solidFill>
            <a:prstDash val="solid"/>
          </a:ln>
        </p:spPr>
      </p:sp>
      <p:sp>
        <p:nvSpPr>
          <p:cNvPr id="40" name="objective-12"/>
          <p:cNvSpPr/>
          <p:nvPr/>
        </p:nvSpPr>
        <p:spPr>
          <a:xfrm>
            <a:off x="8942832" y="3758184"/>
            <a:ext cx="2670048" cy="1097280"/>
          </a:xfrm>
          <a:prstGeom prst="roundRect">
            <a:avLst>
              <a:gd name="adj" fmla="val 8333"/>
            </a:avLst>
          </a:prstGeom>
          <a:solidFill>
            <a:srgbClr val="EFF5F2"/>
          </a:solidFill>
          <a:ln>
            <a:solidFill>
              <a:srgbClr val="EFF5F2"/>
            </a:solidFill>
          </a:ln>
        </p:spPr>
        <p:txBody>
          <a:bodyPr wrap="square" lIns="0" tIns="177800" rIns="152400" bIns="0" rtlCol="0" anchor="ctr"/>
          <a:lstStyle/>
          <a:p>
            <a:pPr indent="0" marL="0">
              <a:buNone/>
            </a:pPr>
            <a:r>
              <a:rPr lang="en-US" sz="1800" b="1" dirty="0">
                <a:solidFill>
                  <a:srgbClr val="E8762B"/>
                </a:solidFill>
                <a:latin typeface="Cambria" pitchFamily="34" charset="0"/>
                <a:ea typeface="Cambria" pitchFamily="34" charset="-122"/>
                <a:cs typeface="Cambria" pitchFamily="34" charset="-120"/>
              </a:rPr>
              <a:t>12  </a:t>
            </a:r>
            <a:pPr indent="0" marL="0">
              <a:buNone/>
            </a:pPr>
            <a:r>
              <a:rPr lang="en-US" sz="1400" b="1" dirty="0">
                <a:solidFill>
                  <a:srgbClr val="0B3B36"/>
                </a:solidFill>
              </a:rPr>
              <a:t>Digital infrastructure use</a:t>
            </a:r>
            <a:endParaRPr lang="en-US" sz="1800" dirty="0"/>
          </a:p>
        </p:txBody>
      </p:sp>
      <p:pic>
        <p:nvPicPr>
          <p:cNvPr id="41" name="check-12" descr="preencoded.png">    </p:cNvPr>
          <p:cNvPicPr>
            <a:picLocks noChangeAspect="1"/>
          </p:cNvPicPr>
          <p:nvPr/>
        </p:nvPicPr>
        <p:blipFill>
          <a:blip r:embed="rId25"/>
          <a:stretch>
            <a:fillRect/>
          </a:stretch>
        </p:blipFill>
        <p:spPr>
          <a:xfrm>
            <a:off x="11265408" y="3867912"/>
            <a:ext cx="219456" cy="219456"/>
          </a:xfrm>
          <a:prstGeom prst="rect">
            <a:avLst/>
          </a:prstGeom>
        </p:spPr>
      </p:pic>
      <p:sp>
        <p:nvSpPr>
          <p:cNvPr id="42" name="objective-link-12">
            <a:hlinkClick r:id="rId26" tooltip="See it" action="ppaction://hlinksldjump"/>
          </p:cNvPr>
          <p:cNvSpPr/>
          <p:nvPr/>
        </p:nvSpPr>
        <p:spPr>
          <a:xfrm>
            <a:off x="8942832" y="3758184"/>
            <a:ext cx="2670048" cy="1097280"/>
          </a:xfrm>
          <a:prstGeom prst="rect">
            <a:avLst/>
          </a:prstGeom>
          <a:solidFill>
            <a:srgbClr val="FFFFFF">
              <a:alpha val="0"/>
            </a:srgbClr>
          </a:solidFill>
          <a:ln w="12700">
            <a:solidFill>
              <a:srgbClr val="FFFFFF">
                <a:alpha val="0"/>
              </a:srgbClr>
            </a:solidFill>
            <a:prstDash val="solid"/>
          </a:ln>
        </p:spPr>
      </p:sp>
      <p:sp>
        <p:nvSpPr>
          <p:cNvPr id="43" name="objective-13"/>
          <p:cNvSpPr/>
          <p:nvPr/>
        </p:nvSpPr>
        <p:spPr>
          <a:xfrm>
            <a:off x="548640" y="4974336"/>
            <a:ext cx="2670048" cy="1097280"/>
          </a:xfrm>
          <a:prstGeom prst="roundRect">
            <a:avLst>
              <a:gd name="adj" fmla="val 8333"/>
            </a:avLst>
          </a:prstGeom>
          <a:solidFill>
            <a:srgbClr val="EFF5F2"/>
          </a:solidFill>
          <a:ln>
            <a:solidFill>
              <a:srgbClr val="EFF5F2"/>
            </a:solidFill>
          </a:ln>
        </p:spPr>
        <p:txBody>
          <a:bodyPr wrap="square" lIns="0" tIns="177800" rIns="152400" bIns="0" rtlCol="0" anchor="ctr"/>
          <a:lstStyle/>
          <a:p>
            <a:pPr indent="0" marL="0">
              <a:buNone/>
            </a:pPr>
            <a:r>
              <a:rPr lang="en-US" sz="1800" b="1" dirty="0">
                <a:solidFill>
                  <a:srgbClr val="E8762B"/>
                </a:solidFill>
                <a:latin typeface="Cambria" pitchFamily="34" charset="0"/>
                <a:ea typeface="Cambria" pitchFamily="34" charset="-122"/>
                <a:cs typeface="Cambria" pitchFamily="34" charset="-120"/>
              </a:rPr>
              <a:t>13  </a:t>
            </a:r>
            <a:pPr indent="0" marL="0">
              <a:buNone/>
            </a:pPr>
            <a:r>
              <a:rPr lang="en-US" sz="1400" b="1" dirty="0">
                <a:solidFill>
                  <a:srgbClr val="0B3B36"/>
                </a:solidFill>
              </a:rPr>
              <a:t>Motivation &amp; recognition</a:t>
            </a:r>
            <a:endParaRPr lang="en-US" sz="1800" dirty="0"/>
          </a:p>
        </p:txBody>
      </p:sp>
      <p:pic>
        <p:nvPicPr>
          <p:cNvPr id="44" name="check-13" descr="preencoded.png">    </p:cNvPr>
          <p:cNvPicPr>
            <a:picLocks noChangeAspect="1"/>
          </p:cNvPicPr>
          <p:nvPr/>
        </p:nvPicPr>
        <p:blipFill>
          <a:blip r:embed="rId27"/>
          <a:stretch>
            <a:fillRect/>
          </a:stretch>
        </p:blipFill>
        <p:spPr>
          <a:xfrm>
            <a:off x="2871216" y="5084064"/>
            <a:ext cx="219456" cy="219456"/>
          </a:xfrm>
          <a:prstGeom prst="rect">
            <a:avLst/>
          </a:prstGeom>
        </p:spPr>
      </p:pic>
      <p:sp>
        <p:nvSpPr>
          <p:cNvPr id="45" name="objective-link-13">
            <a:hlinkClick r:id="rId28" tooltip="See it" action="ppaction://hlinksldjump"/>
          </p:cNvPr>
          <p:cNvSpPr/>
          <p:nvPr/>
        </p:nvSpPr>
        <p:spPr>
          <a:xfrm>
            <a:off x="548640" y="4974336"/>
            <a:ext cx="2670048" cy="1097280"/>
          </a:xfrm>
          <a:prstGeom prst="rect">
            <a:avLst/>
          </a:prstGeom>
          <a:solidFill>
            <a:srgbClr val="FFFFFF">
              <a:alpha val="0"/>
            </a:srgbClr>
          </a:solidFill>
          <a:ln w="12700">
            <a:solidFill>
              <a:srgbClr val="FFFFFF">
                <a:alpha val="0"/>
              </a:srgbClr>
            </a:solidFill>
            <a:prstDash val="solid"/>
          </a:ln>
        </p:spPr>
      </p:sp>
      <p:sp>
        <p:nvSpPr>
          <p:cNvPr id="46" name="objective-14"/>
          <p:cNvSpPr/>
          <p:nvPr/>
        </p:nvSpPr>
        <p:spPr>
          <a:xfrm>
            <a:off x="3346704" y="4974336"/>
            <a:ext cx="2670048" cy="1097280"/>
          </a:xfrm>
          <a:prstGeom prst="roundRect">
            <a:avLst>
              <a:gd name="adj" fmla="val 8333"/>
            </a:avLst>
          </a:prstGeom>
          <a:solidFill>
            <a:srgbClr val="EFF5F2"/>
          </a:solidFill>
          <a:ln>
            <a:solidFill>
              <a:srgbClr val="EFF5F2"/>
            </a:solidFill>
          </a:ln>
        </p:spPr>
        <p:txBody>
          <a:bodyPr wrap="square" lIns="0" tIns="177800" rIns="152400" bIns="0" rtlCol="0" anchor="ctr"/>
          <a:lstStyle/>
          <a:p>
            <a:pPr indent="0" marL="0">
              <a:buNone/>
            </a:pPr>
            <a:r>
              <a:rPr lang="en-US" sz="1800" b="1" dirty="0">
                <a:solidFill>
                  <a:srgbClr val="E8762B"/>
                </a:solidFill>
                <a:latin typeface="Cambria" pitchFamily="34" charset="0"/>
                <a:ea typeface="Cambria" pitchFamily="34" charset="-122"/>
                <a:cs typeface="Cambria" pitchFamily="34" charset="-120"/>
              </a:rPr>
              <a:t>14  </a:t>
            </a:r>
            <a:pPr indent="0" marL="0">
              <a:buNone/>
            </a:pPr>
            <a:r>
              <a:rPr lang="en-US" sz="1400" b="1" dirty="0">
                <a:solidFill>
                  <a:srgbClr val="0B3B36"/>
                </a:solidFill>
              </a:rPr>
              <a:t>Teacher development</a:t>
            </a:r>
            <a:endParaRPr lang="en-US" sz="1800" dirty="0"/>
          </a:p>
        </p:txBody>
      </p:sp>
      <p:pic>
        <p:nvPicPr>
          <p:cNvPr id="47" name="check-14" descr="preencoded.png">    </p:cNvPr>
          <p:cNvPicPr>
            <a:picLocks noChangeAspect="1"/>
          </p:cNvPicPr>
          <p:nvPr/>
        </p:nvPicPr>
        <p:blipFill>
          <a:blip r:embed="rId29"/>
          <a:stretch>
            <a:fillRect/>
          </a:stretch>
        </p:blipFill>
        <p:spPr>
          <a:xfrm>
            <a:off x="5669280" y="5084064"/>
            <a:ext cx="219456" cy="219456"/>
          </a:xfrm>
          <a:prstGeom prst="rect">
            <a:avLst/>
          </a:prstGeom>
        </p:spPr>
      </p:pic>
      <p:sp>
        <p:nvSpPr>
          <p:cNvPr id="48" name="objective-link-14">
            <a:hlinkClick r:id="rId30" tooltip="See it" action="ppaction://hlinksldjump"/>
          </p:cNvPr>
          <p:cNvSpPr/>
          <p:nvPr/>
        </p:nvSpPr>
        <p:spPr>
          <a:xfrm>
            <a:off x="3346704" y="4974336"/>
            <a:ext cx="2670048" cy="1097280"/>
          </a:xfrm>
          <a:prstGeom prst="rect">
            <a:avLst/>
          </a:prstGeom>
          <a:solidFill>
            <a:srgbClr val="FFFFFF">
              <a:alpha val="0"/>
            </a:srgbClr>
          </a:solidFill>
          <a:ln w="12700">
            <a:solidFill>
              <a:srgbClr val="FFFFFF">
                <a:alpha val="0"/>
              </a:srgbClr>
            </a:solidFill>
            <a:prstDash val="solid"/>
          </a:ln>
        </p:spPr>
      </p:sp>
      <p:sp>
        <p:nvSpPr>
          <p:cNvPr id="49" name="objective-15"/>
          <p:cNvSpPr/>
          <p:nvPr/>
        </p:nvSpPr>
        <p:spPr>
          <a:xfrm>
            <a:off x="6144768" y="4974336"/>
            <a:ext cx="2670048" cy="1097280"/>
          </a:xfrm>
          <a:prstGeom prst="roundRect">
            <a:avLst>
              <a:gd name="adj" fmla="val 8333"/>
            </a:avLst>
          </a:prstGeom>
          <a:solidFill>
            <a:srgbClr val="EFF5F2"/>
          </a:solidFill>
          <a:ln>
            <a:solidFill>
              <a:srgbClr val="EFF5F2"/>
            </a:solidFill>
          </a:ln>
        </p:spPr>
        <p:txBody>
          <a:bodyPr wrap="square" lIns="0" tIns="177800" rIns="152400" bIns="0" rtlCol="0" anchor="ctr"/>
          <a:lstStyle/>
          <a:p>
            <a:pPr indent="0" marL="0">
              <a:buNone/>
            </a:pPr>
            <a:r>
              <a:rPr lang="en-US" sz="1800" b="1" dirty="0">
                <a:solidFill>
                  <a:srgbClr val="E8762B"/>
                </a:solidFill>
                <a:latin typeface="Cambria" pitchFamily="34" charset="0"/>
                <a:ea typeface="Cambria" pitchFamily="34" charset="-122"/>
                <a:cs typeface="Cambria" pitchFamily="34" charset="-120"/>
              </a:rPr>
              <a:t>15  </a:t>
            </a:r>
            <a:pPr indent="0" marL="0">
              <a:buNone/>
            </a:pPr>
            <a:r>
              <a:rPr lang="en-US" sz="1400" b="1" dirty="0">
                <a:solidFill>
                  <a:srgbClr val="0B3B36"/>
                </a:solidFill>
              </a:rPr>
              <a:t>Monitoring for administrators</a:t>
            </a:r>
            <a:endParaRPr lang="en-US" sz="1800" dirty="0"/>
          </a:p>
        </p:txBody>
      </p:sp>
      <p:pic>
        <p:nvPicPr>
          <p:cNvPr id="50" name="check-15" descr="preencoded.png">    </p:cNvPr>
          <p:cNvPicPr>
            <a:picLocks noChangeAspect="1"/>
          </p:cNvPicPr>
          <p:nvPr/>
        </p:nvPicPr>
        <p:blipFill>
          <a:blip r:embed="rId31"/>
          <a:stretch>
            <a:fillRect/>
          </a:stretch>
        </p:blipFill>
        <p:spPr>
          <a:xfrm>
            <a:off x="8467344" y="5084064"/>
            <a:ext cx="219456" cy="219456"/>
          </a:xfrm>
          <a:prstGeom prst="rect">
            <a:avLst/>
          </a:prstGeom>
        </p:spPr>
      </p:pic>
      <p:sp>
        <p:nvSpPr>
          <p:cNvPr id="51" name="objective-link-15">
            <a:hlinkClick r:id="rId32" tooltip="See it" action="ppaction://hlinksldjump"/>
          </p:cNvPr>
          <p:cNvSpPr/>
          <p:nvPr/>
        </p:nvSpPr>
        <p:spPr>
          <a:xfrm>
            <a:off x="6144768" y="4974336"/>
            <a:ext cx="2670048" cy="1097280"/>
          </a:xfrm>
          <a:prstGeom prst="rect">
            <a:avLst/>
          </a:prstGeom>
          <a:solidFill>
            <a:srgbClr val="FFFFFF">
              <a:alpha val="0"/>
            </a:srgbClr>
          </a:solidFill>
          <a:ln w="12700">
            <a:solidFill>
              <a:srgbClr val="FFFFFF">
                <a:alpha val="0"/>
              </a:srgbClr>
            </a:solidFill>
            <a:prstDash val="solid"/>
          </a:ln>
        </p:spPr>
      </p:sp>
      <p:sp>
        <p:nvSpPr>
          <p:cNvPr id="52" name="objective-16"/>
          <p:cNvSpPr/>
          <p:nvPr/>
        </p:nvSpPr>
        <p:spPr>
          <a:xfrm>
            <a:off x="8942832" y="4974336"/>
            <a:ext cx="2670048" cy="1097280"/>
          </a:xfrm>
          <a:prstGeom prst="roundRect">
            <a:avLst>
              <a:gd name="adj" fmla="val 8333"/>
            </a:avLst>
          </a:prstGeom>
          <a:solidFill>
            <a:srgbClr val="EFF5F2"/>
          </a:solidFill>
          <a:ln>
            <a:solidFill>
              <a:srgbClr val="EFF5F2"/>
            </a:solidFill>
          </a:ln>
        </p:spPr>
        <p:txBody>
          <a:bodyPr wrap="square" lIns="0" tIns="177800" rIns="152400" bIns="0" rtlCol="0" anchor="ctr"/>
          <a:lstStyle/>
          <a:p>
            <a:pPr indent="0" marL="0">
              <a:buNone/>
            </a:pPr>
            <a:r>
              <a:rPr lang="en-US" sz="1800" b="1" dirty="0">
                <a:solidFill>
                  <a:srgbClr val="E8762B"/>
                </a:solidFill>
                <a:latin typeface="Cambria" pitchFamily="34" charset="0"/>
                <a:ea typeface="Cambria" pitchFamily="34" charset="-122"/>
                <a:cs typeface="Cambria" pitchFamily="34" charset="-120"/>
              </a:rPr>
              <a:t>16  </a:t>
            </a:r>
            <a:pPr indent="0" marL="0">
              <a:buNone/>
            </a:pPr>
            <a:r>
              <a:rPr lang="en-US" sz="1400" b="1" dirty="0">
                <a:solidFill>
                  <a:srgbClr val="0B3B36"/>
                </a:solidFill>
              </a:rPr>
              <a:t>Offline, secure, scalable</a:t>
            </a:r>
            <a:endParaRPr lang="en-US" sz="1800" dirty="0"/>
          </a:p>
        </p:txBody>
      </p:sp>
      <p:pic>
        <p:nvPicPr>
          <p:cNvPr id="53" name="check-16" descr="preencoded.png">    </p:cNvPr>
          <p:cNvPicPr>
            <a:picLocks noChangeAspect="1"/>
          </p:cNvPicPr>
          <p:nvPr/>
        </p:nvPicPr>
        <p:blipFill>
          <a:blip r:embed="rId33"/>
          <a:stretch>
            <a:fillRect/>
          </a:stretch>
        </p:blipFill>
        <p:spPr>
          <a:xfrm>
            <a:off x="11265408" y="5084064"/>
            <a:ext cx="219456" cy="219456"/>
          </a:xfrm>
          <a:prstGeom prst="rect">
            <a:avLst/>
          </a:prstGeom>
        </p:spPr>
      </p:pic>
      <p:sp>
        <p:nvSpPr>
          <p:cNvPr id="54" name="objective-link-16">
            <a:hlinkClick r:id="rId34" tooltip="See it" action="ppaction://hlinksldjump"/>
          </p:cNvPr>
          <p:cNvSpPr/>
          <p:nvPr/>
        </p:nvSpPr>
        <p:spPr>
          <a:xfrm>
            <a:off x="8942832" y="4974336"/>
            <a:ext cx="2670048" cy="1097280"/>
          </a:xfrm>
          <a:prstGeom prst="rect">
            <a:avLst/>
          </a:prstGeom>
          <a:solidFill>
            <a:srgbClr val="FFFFFF">
              <a:alpha val="0"/>
            </a:srgbClr>
          </a:solidFill>
          <a:ln w="12700">
            <a:solidFill>
              <a:srgbClr val="FFFFFF">
                <a:alpha val="0"/>
              </a:srgbClr>
            </a:solidFill>
            <a:prstDash val="solid"/>
          </a:ln>
        </p:spPr>
      </p:sp>
      <p:sp>
        <p:nvSpPr>
          <p:cNvPr id="55" name="Text 37"/>
          <p:cNvSpPr txBox="1"/>
          <p:nvPr/>
        </p:nvSpPr>
        <p:spPr>
          <a:xfrm>
            <a:off x="548640" y="6126480"/>
            <a:ext cx="9144000" cy="274320"/>
          </a:xfrm>
          <a:prstGeom prst="rect">
            <a:avLst/>
          </a:prstGeom>
          <a:noFill/>
          <a:ln/>
        </p:spPr>
        <p:txBody>
          <a:bodyPr wrap="square" lIns="0" tIns="0" rIns="0" bIns="0" rtlCol="0" anchor="t"/>
          <a:lstStyle/>
          <a:p>
            <a:pPr indent="0" marL="0">
              <a:buNone/>
            </a:pPr>
            <a:r>
              <a:rPr lang="en-US" sz="1200" i="1" dirty="0">
                <a:solidFill>
                  <a:srgbClr val="5E6B70"/>
                </a:solidFill>
              </a:rPr>
              <a:t>Click any objective to see where it lives. Full mapping to screens and automated tests: docs/OBJECTIVES.md</a:t>
            </a:r>
            <a:endParaRPr lang="en-US" sz="1200" dirty="0"/>
          </a:p>
        </p:txBody>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transition spd="med">
    <p:fade/>
  </p:transition>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766560" cy="1188720"/>
          </a:xfrm>
          <a:prstGeom prst="rect">
            <a:avLst/>
          </a:prstGeom>
          <a:noFill/>
          <a:ln/>
        </p:spPr>
        <p:txBody>
          <a:bodyPr wrap="square" lIns="0" tIns="0" rIns="0" bIns="0" rtlCol="0" anchor="b"/>
          <a:lstStyle/>
          <a:p>
            <a:pPr algn="l" indent="0" marL="0">
              <a:buNone/>
            </a:pPr>
            <a:r>
              <a:rPr lang="en-US" sz="4400" b="1" dirty="0">
                <a:solidFill>
                  <a:schemeClr val="bg1"/>
                </a:solidFill>
                <a:latin typeface="Cambria" pitchFamily="34" charset="0"/>
                <a:ea typeface="Cambria" pitchFamily="34" charset="-122"/>
                <a:cs typeface="Cambria" pitchFamily="34" charset="-120"/>
              </a:rPr>
              <a:t>For administrators</a:t>
            </a:r>
            <a:endParaRPr lang="en-US" sz="4400" dirty="0"/>
          </a:p>
        </p:txBody>
      </p:sp>
      <p:sp>
        <p:nvSpPr>
          <p:cNvPr id="3" name="Text 0"/>
          <p:cNvSpPr/>
          <p:nvPr>
            <p:ph idx="101" type="body" hasCustomPrompt="1"/>
          </p:nvPr>
        </p:nvSpPr>
        <p:spPr>
          <a:xfrm>
            <a:off x="731520" y="2788920"/>
            <a:ext cx="6400800" cy="1097280"/>
          </a:xfrm>
          <a:prstGeom prst="rect">
            <a:avLst/>
          </a:prstGeom>
          <a:noFill/>
          <a:ln/>
        </p:spPr>
        <p:txBody>
          <a:bodyPr wrap="square" lIns="0" tIns="0" rIns="0" bIns="0" rtlCol="0" anchor="t"/>
          <a:lstStyle/>
          <a:p>
            <a:pPr indent="0" marL="0">
              <a:buNone/>
            </a:pPr>
            <a:r>
              <a:rPr lang="en-US" sz="1800" dirty="0">
                <a:solidFill>
                  <a:schemeClr val="bg2"/>
                </a:solidFill>
              </a:rPr>
              <a:t>State → division → district → block → school</a:t>
            </a:r>
            <a:endParaRPr lang="en-US" sz="1800" dirty="0"/>
          </a:p>
        </p:txBody>
      </p:sp>
      <p:sp>
        <p:nvSpPr>
          <p:cNvPr id="4" name="Text 2"/>
          <p:cNvSpPr txBox="1"/>
          <p:nvPr/>
        </p:nvSpPr>
        <p:spPr>
          <a:xfrm>
            <a:off x="731520" y="685800"/>
            <a:ext cx="1828800" cy="731520"/>
          </a:xfrm>
          <a:prstGeom prst="rect">
            <a:avLst/>
          </a:prstGeom>
          <a:noFill/>
          <a:ln/>
        </p:spPr>
        <p:txBody>
          <a:bodyPr wrap="square" lIns="0" tIns="0" rIns="0" bIns="0" rtlCol="0" anchor="ctr"/>
          <a:lstStyle/>
          <a:p>
            <a:pPr indent="0" marL="0">
              <a:buNone/>
            </a:pPr>
            <a:r>
              <a:rPr lang="en-US" sz="4000" b="1" dirty="0">
                <a:solidFill>
                  <a:srgbClr val="1F4E8C"/>
                </a:solidFill>
                <a:latin typeface="Cambria" pitchFamily="34" charset="0"/>
                <a:ea typeface="Cambria" pitchFamily="34" charset="-122"/>
                <a:cs typeface="Cambria" pitchFamily="34" charset="-120"/>
              </a:rPr>
              <a:t>02</a:t>
            </a:r>
            <a:endParaRPr lang="en-US" sz="4000" dirty="0"/>
          </a:p>
        </p:txBody>
      </p:sp>
      <p:sp>
        <p:nvSpPr>
          <p:cNvPr id="5" name="Text 3"/>
          <p:cNvSpPr txBox="1"/>
          <p:nvPr/>
        </p:nvSpPr>
        <p:spPr>
          <a:xfrm>
            <a:off x="8001000" y="1417320"/>
            <a:ext cx="3474720" cy="320040"/>
          </a:xfrm>
          <a:prstGeom prst="rect">
            <a:avLst/>
          </a:prstGeom>
          <a:noFill/>
          <a:ln/>
        </p:spPr>
        <p:txBody>
          <a:bodyPr wrap="square" lIns="0" tIns="0" rIns="0" bIns="0" rtlCol="0" anchor="t"/>
          <a:lstStyle/>
          <a:p>
            <a:pPr indent="0" marL="0">
              <a:buNone/>
            </a:pPr>
            <a:r>
              <a:rPr lang="en-US" sz="1200" b="1" spc="200" kern="0" dirty="0">
                <a:solidFill>
                  <a:srgbClr val="C9921A"/>
                </a:solidFill>
              </a:rPr>
              <a:t>IN THIS SECTION</a:t>
            </a:r>
            <a:endParaRPr lang="en-US" sz="1200" dirty="0"/>
          </a:p>
        </p:txBody>
      </p:sp>
      <p:sp>
        <p:nvSpPr>
          <p:cNvPr id="6" name="menu-command"/>
          <p:cNvSpPr/>
          <p:nvPr/>
        </p:nvSpPr>
        <p:spPr>
          <a:xfrm>
            <a:off x="8001000" y="1828800"/>
            <a:ext cx="3611880" cy="457200"/>
          </a:xfrm>
          <a:prstGeom prst="roundRect">
            <a:avLst>
              <a:gd name="adj" fmla="val 20000"/>
            </a:avLst>
          </a:prstGeom>
          <a:solidFill>
            <a:srgbClr val="134E47"/>
          </a:solidFill>
          <a:ln>
            <a:solidFill>
              <a:srgbClr val="134E47"/>
            </a:solidFill>
          </a:ln>
        </p:spPr>
        <p:txBody>
          <a:bodyPr wrap="square" lIns="0" tIns="152400" rIns="127000" bIns="0" rtlCol="0" anchor="ctr"/>
          <a:lstStyle/>
          <a:p>
            <a:pPr algn="l" indent="0" marL="0">
              <a:buNone/>
            </a:pPr>
            <a:r>
              <a:rPr lang="en-US" sz="1300" dirty="0">
                <a:solidFill>
                  <a:srgbClr val="FFFFFF"/>
                </a:solidFill>
              </a:rPr>
              <a:t>01   Command Centre and division map  →</a:t>
            </a:r>
            <a:endParaRPr lang="en-US" sz="1300" dirty="0"/>
          </a:p>
        </p:txBody>
      </p:sp>
      <p:sp>
        <p:nvSpPr>
          <p:cNvPr id="7" name="menu-link-command">
            <a:hlinkClick r:id="rId1" tooltip="Command Centre and division map" action="ppaction://hlinksldjump"/>
          </p:cNvPr>
          <p:cNvSpPr/>
          <p:nvPr/>
        </p:nvSpPr>
        <p:spPr>
          <a:xfrm>
            <a:off x="8001000" y="1828800"/>
            <a:ext cx="3611880" cy="457200"/>
          </a:xfrm>
          <a:prstGeom prst="rect">
            <a:avLst/>
          </a:prstGeom>
          <a:solidFill>
            <a:srgbClr val="FFFFFF">
              <a:alpha val="0"/>
            </a:srgbClr>
          </a:solidFill>
          <a:ln w="12700">
            <a:solidFill>
              <a:srgbClr val="FFFFFF">
                <a:alpha val="0"/>
              </a:srgbClr>
            </a:solidFill>
            <a:prstDash val="solid"/>
          </a:ln>
        </p:spPr>
      </p:sp>
      <p:sp>
        <p:nvSpPr>
          <p:cNvPr id="8" name="menu-grades"/>
          <p:cNvSpPr/>
          <p:nvPr/>
        </p:nvSpPr>
        <p:spPr>
          <a:xfrm>
            <a:off x="8001000" y="2395728"/>
            <a:ext cx="3611880" cy="457200"/>
          </a:xfrm>
          <a:prstGeom prst="roundRect">
            <a:avLst>
              <a:gd name="adj" fmla="val 20000"/>
            </a:avLst>
          </a:prstGeom>
          <a:solidFill>
            <a:srgbClr val="134E47"/>
          </a:solidFill>
          <a:ln>
            <a:solidFill>
              <a:srgbClr val="134E47"/>
            </a:solidFill>
          </a:ln>
        </p:spPr>
        <p:txBody>
          <a:bodyPr wrap="square" lIns="0" tIns="152400" rIns="127000" bIns="0" rtlCol="0" anchor="ctr"/>
          <a:lstStyle/>
          <a:p>
            <a:pPr algn="l" indent="0" marL="0">
              <a:buNone/>
            </a:pPr>
            <a:r>
              <a:rPr lang="en-US" sz="1300" dirty="0">
                <a:solidFill>
                  <a:srgbClr val="FFFFFF"/>
                </a:solidFill>
              </a:rPr>
              <a:t>02   Progress grades and corrective action  →</a:t>
            </a:r>
            <a:endParaRPr lang="en-US" sz="1300" dirty="0"/>
          </a:p>
        </p:txBody>
      </p:sp>
      <p:sp>
        <p:nvSpPr>
          <p:cNvPr id="9" name="menu-link-grades">
            <a:hlinkClick r:id="rId2" tooltip="Progress grades and corrective action" action="ppaction://hlinksldjump"/>
          </p:cNvPr>
          <p:cNvSpPr/>
          <p:nvPr/>
        </p:nvSpPr>
        <p:spPr>
          <a:xfrm>
            <a:off x="8001000" y="2395728"/>
            <a:ext cx="3611880" cy="457200"/>
          </a:xfrm>
          <a:prstGeom prst="rect">
            <a:avLst/>
          </a:prstGeom>
          <a:solidFill>
            <a:srgbClr val="FFFFFF">
              <a:alpha val="0"/>
            </a:srgbClr>
          </a:solidFill>
          <a:ln w="12700">
            <a:solidFill>
              <a:srgbClr val="FFFFFF">
                <a:alpha val="0"/>
              </a:srgbClr>
            </a:solidFill>
            <a:prstDash val="solid"/>
          </a:ln>
        </p:spPr>
      </p:sp>
      <p:sp>
        <p:nvSpPr>
          <p:cNvPr id="10" name="menu-attdigital"/>
          <p:cNvSpPr/>
          <p:nvPr/>
        </p:nvSpPr>
        <p:spPr>
          <a:xfrm>
            <a:off x="8001000" y="2962656"/>
            <a:ext cx="3611880" cy="457200"/>
          </a:xfrm>
          <a:prstGeom prst="roundRect">
            <a:avLst>
              <a:gd name="adj" fmla="val 20000"/>
            </a:avLst>
          </a:prstGeom>
          <a:solidFill>
            <a:srgbClr val="134E47"/>
          </a:solidFill>
          <a:ln>
            <a:solidFill>
              <a:srgbClr val="134E47"/>
            </a:solidFill>
          </a:ln>
        </p:spPr>
        <p:txBody>
          <a:bodyPr wrap="square" lIns="0" tIns="152400" rIns="127000" bIns="0" rtlCol="0" anchor="ctr"/>
          <a:lstStyle/>
          <a:p>
            <a:pPr algn="l" indent="0" marL="0">
              <a:buNone/>
            </a:pPr>
            <a:r>
              <a:rPr lang="en-US" sz="1300" dirty="0">
                <a:solidFill>
                  <a:srgbClr val="FFFFFF"/>
                </a:solidFill>
              </a:rPr>
              <a:t>03   Attendance follow-up and digital infrastructure  →</a:t>
            </a:r>
            <a:endParaRPr lang="en-US" sz="1300" dirty="0"/>
          </a:p>
        </p:txBody>
      </p:sp>
      <p:sp>
        <p:nvSpPr>
          <p:cNvPr id="11" name="menu-link-attdigital">
            <a:hlinkClick r:id="rId3" tooltip="Attendance follow-up and digital infrastructure" action="ppaction://hlinksldjump"/>
          </p:cNvPr>
          <p:cNvSpPr/>
          <p:nvPr/>
        </p:nvSpPr>
        <p:spPr>
          <a:xfrm>
            <a:off x="8001000" y="2962656"/>
            <a:ext cx="3611880" cy="457200"/>
          </a:xfrm>
          <a:prstGeom prst="rect">
            <a:avLst/>
          </a:prstGeom>
          <a:solidFill>
            <a:srgbClr val="FFFFFF">
              <a:alpha val="0"/>
            </a:srgbClr>
          </a:solidFill>
          <a:ln w="12700">
            <a:solidFill>
              <a:srgbClr val="FFFFFF">
                <a:alpha val="0"/>
              </a:srgbClr>
            </a:solidFill>
            <a:prstDash val="solid"/>
          </a:ln>
        </p:spPr>
      </p:sp>
      <p:sp>
        <p:nvSpPr>
          <p:cNvPr id="12" name="icon-bg-FaMapLocationDot"/>
          <p:cNvSpPr/>
          <p:nvPr/>
        </p:nvSpPr>
        <p:spPr>
          <a:xfrm>
            <a:off x="731520" y="4206240"/>
            <a:ext cx="1097280" cy="1097280"/>
          </a:xfrm>
          <a:prstGeom prst="ellipse">
            <a:avLst/>
          </a:prstGeom>
          <a:solidFill>
            <a:srgbClr val="1F4E8C"/>
          </a:solidFill>
          <a:ln w="12700">
            <a:solidFill>
              <a:srgbClr val="1F4E8C"/>
            </a:solidFill>
            <a:prstDash val="solid"/>
          </a:ln>
        </p:spPr>
      </p:sp>
      <p:pic>
        <p:nvPicPr>
          <p:cNvPr id="13" name="icon-FaMapLocationDot" descr="preencoded.png">    </p:cNvPr>
          <p:cNvPicPr>
            <a:picLocks noChangeAspect="1"/>
          </p:cNvPicPr>
          <p:nvPr/>
        </p:nvPicPr>
        <p:blipFill>
          <a:blip r:embed="rId4"/>
          <a:stretch>
            <a:fillRect/>
          </a:stretch>
        </p:blipFill>
        <p:spPr>
          <a:xfrm>
            <a:off x="1005840" y="4480560"/>
            <a:ext cx="548640" cy="548640"/>
          </a:xfrm>
          <a:prstGeom prst="rect">
            <a:avLst/>
          </a:prstGeom>
        </p:spPr>
      </p:pic>
      <p:sp>
        <p:nvSpPr>
          <p:cNvPr id="14" name="button--Agenda"/>
          <p:cNvSpPr/>
          <p:nvPr/>
        </p:nvSpPr>
        <p:spPr>
          <a:xfrm>
            <a:off x="731520" y="5760720"/>
            <a:ext cx="1280160" cy="384048"/>
          </a:xfrm>
          <a:prstGeom prst="roundRect">
            <a:avLst>
              <a:gd name="adj" fmla="val 54762"/>
            </a:avLst>
          </a:prstGeom>
          <a:solidFill>
            <a:srgbClr val="134E47"/>
          </a:solidFill>
          <a:ln>
            <a:solidFill>
              <a:srgbClr val="134E47"/>
            </a:solidFill>
          </a:ln>
        </p:spPr>
        <p:txBody>
          <a:bodyPr wrap="square" lIns="0" tIns="0" rIns="0" bIns="0" rtlCol="0" anchor="ctr"/>
          <a:lstStyle/>
          <a:p>
            <a:pPr algn="ctr" indent="0" marL="0">
              <a:buNone/>
            </a:pPr>
            <a:r>
              <a:rPr lang="en-US" sz="1200" b="1" dirty="0">
                <a:solidFill>
                  <a:srgbClr val="FFFFFF"/>
                </a:solidFill>
              </a:rPr>
              <a:t>☰  Agenda</a:t>
            </a:r>
            <a:endParaRPr lang="en-US" sz="1200" dirty="0"/>
          </a:p>
        </p:txBody>
      </p:sp>
      <p:sp>
        <p:nvSpPr>
          <p:cNvPr id="15" name="button-link--Agenda">
            <a:hlinkClick r:id="rId5" tooltip="Back to the agenda" action="ppaction://hlinksldjump"/>
          </p:cNvPr>
          <p:cNvSpPr/>
          <p:nvPr/>
        </p:nvSpPr>
        <p:spPr>
          <a:xfrm>
            <a:off x="731520" y="5760720"/>
            <a:ext cx="1280160" cy="384048"/>
          </a:xfrm>
          <a:prstGeom prst="rect">
            <a:avLst/>
          </a:prstGeom>
          <a:solidFill>
            <a:srgbClr val="FFFFFF">
              <a:alpha val="0"/>
            </a:srgbClr>
          </a:solidFill>
          <a:ln w="12700">
            <a:solidFill>
              <a:srgbClr val="FFFFFF">
                <a:alpha val="0"/>
              </a:srgbClr>
            </a:solidFill>
            <a:prstDash val="solid"/>
          </a:ln>
        </p:spPr>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7</a:t>
            </a:fld>
            <a:endParaRPr lang="en-US"/>
          </a:p>
        </p:txBody>
      </p:sp>
    </p:spTree>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59536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Command Centre and the division map</a:t>
            </a:r>
            <a:endParaRPr lang="en-US" sz="3000" dirty="0"/>
          </a:p>
        </p:txBody>
      </p:sp>
      <p:sp>
        <p:nvSpPr>
          <p:cNvPr id="3" name="button--Agenda"/>
          <p:cNvSpPr/>
          <p:nvPr/>
        </p:nvSpPr>
        <p:spPr>
          <a:xfrm>
            <a:off x="9372600" y="502920"/>
            <a:ext cx="1097280" cy="365760"/>
          </a:xfrm>
          <a:prstGeom prst="roundRect">
            <a:avLst>
              <a:gd name="adj" fmla="val 57500"/>
            </a:avLst>
          </a:prstGeom>
          <a:solidFill>
            <a:srgbClr val="EFF5F2"/>
          </a:solidFill>
          <a:ln>
            <a:solidFill>
              <a:srgbClr val="EFF5F2"/>
            </a:solidFill>
          </a:ln>
        </p:spPr>
        <p:txBody>
          <a:bodyPr wrap="square" lIns="0" tIns="0" rIns="0" bIns="0" rtlCol="0" anchor="ctr"/>
          <a:lstStyle/>
          <a:p>
            <a:pPr algn="ctr" indent="0" marL="0">
              <a:buNone/>
            </a:pPr>
            <a:r>
              <a:rPr lang="en-US" sz="1200" b="1" dirty="0">
                <a:solidFill>
                  <a:srgbClr val="0B3B36"/>
                </a:solidFill>
              </a:rPr>
              <a:t>☰  Agenda</a:t>
            </a:r>
            <a:endParaRPr lang="en-US" sz="1200" dirty="0"/>
          </a:p>
        </p:txBody>
      </p:sp>
      <p:sp>
        <p:nvSpPr>
          <p:cNvPr id="4" name="button-link--Agenda">
            <a:hlinkClick r:id="rId1" tooltip="Back to the agenda" action="ppaction://hlinksldjump"/>
          </p:cNvPr>
          <p:cNvSpPr/>
          <p:nvPr/>
        </p:nvSpPr>
        <p:spPr>
          <a:xfrm>
            <a:off x="9372600" y="502920"/>
            <a:ext cx="1097280" cy="365760"/>
          </a:xfrm>
          <a:prstGeom prst="rect">
            <a:avLst/>
          </a:prstGeom>
          <a:solidFill>
            <a:srgbClr val="FFFFFF">
              <a:alpha val="0"/>
            </a:srgbClr>
          </a:solidFill>
          <a:ln w="12700">
            <a:solidFill>
              <a:srgbClr val="FFFFFF">
                <a:alpha val="0"/>
              </a:srgbClr>
            </a:solidFill>
            <a:prstDash val="solid"/>
          </a:ln>
        </p:spPr>
      </p:sp>
      <p:sp>
        <p:nvSpPr>
          <p:cNvPr id="5" name="button-Live-demo-"/>
          <p:cNvSpPr/>
          <p:nvPr/>
        </p:nvSpPr>
        <p:spPr>
          <a:xfrm>
            <a:off x="10561320" y="502920"/>
            <a:ext cx="1097280" cy="365760"/>
          </a:xfrm>
          <a:prstGeom prst="roundRect">
            <a:avLst>
              <a:gd name="adj" fmla="val 57500"/>
            </a:avLst>
          </a:prstGeom>
          <a:solidFill>
            <a:srgbClr val="0B3B36"/>
          </a:solidFill>
          <a:ln>
            <a:solidFill>
              <a:srgbClr val="0B3B36"/>
            </a:solidFill>
          </a:ln>
        </p:spPr>
        <p:txBody>
          <a:bodyPr wrap="square" lIns="0" tIns="0" rIns="0" bIns="0" rtlCol="0" anchor="ctr"/>
          <a:lstStyle/>
          <a:p>
            <a:pPr algn="ctr" indent="0" marL="0">
              <a:buNone/>
            </a:pPr>
            <a:r>
              <a:rPr lang="en-US" sz="1200" b="1" dirty="0">
                <a:solidFill>
                  <a:srgbClr val="FFFFFF"/>
                </a:solidFill>
              </a:rPr>
              <a:t>Live demo ↗</a:t>
            </a:r>
            <a:endParaRPr lang="en-US" sz="1200" dirty="0"/>
          </a:p>
        </p:txBody>
      </p:sp>
      <p:sp>
        <p:nvSpPr>
          <p:cNvPr id="6" name="button-link-Live-demo-">
            <a:hlinkClick r:id="rId2" tooltip="Open the live demo"/>
          </p:cNvPr>
          <p:cNvSpPr/>
          <p:nvPr/>
        </p:nvSpPr>
        <p:spPr>
          <a:xfrm>
            <a:off x="10561320" y="502920"/>
            <a:ext cx="1097280" cy="365760"/>
          </a:xfrm>
          <a:prstGeom prst="rect">
            <a:avLst/>
          </a:prstGeom>
          <a:solidFill>
            <a:srgbClr val="FFFFFF">
              <a:alpha val="0"/>
            </a:srgbClr>
          </a:solidFill>
          <a:ln w="12700">
            <a:solidFill>
              <a:srgbClr val="FFFFFF">
                <a:alpha val="0"/>
              </a:srgbClr>
            </a:solidFill>
            <a:prstDash val="solid"/>
          </a:ln>
        </p:spPr>
      </p:sp>
      <p:sp>
        <p:nvSpPr>
          <p:cNvPr id="7" name="frame-admin-map.png"/>
          <p:cNvSpPr/>
          <p:nvPr/>
        </p:nvSpPr>
        <p:spPr>
          <a:xfrm>
            <a:off x="493776" y="1271016"/>
            <a:ext cx="7059168" cy="4453128"/>
          </a:xfrm>
          <a:prstGeom prst="roundRect">
            <a:avLst>
              <a:gd name="adj" fmla="val 1643"/>
            </a:avLst>
          </a:prstGeom>
          <a:solidFill>
            <a:srgbClr val="FFFFFF"/>
          </a:solidFill>
          <a:ln w="9525">
            <a:solidFill>
              <a:srgbClr val="D5DEDA"/>
            </a:solidFill>
            <a:prstDash val="solid"/>
          </a:ln>
          <a:effectLst>
            <a:outerShdw sx="100000" sy="100000" kx="0" ky="0" algn="bl" rotWithShape="0" blurRad="101600" dist="25400" dir="5400000">
              <a:srgbClr val="17242A">
                <a:alpha val="16000"/>
              </a:srgbClr>
            </a:outerShdw>
          </a:effectLst>
        </p:spPr>
      </p:sp>
      <p:pic>
        <p:nvPicPr>
          <p:cNvPr id="8" name="screenshot-admin-map.png" descr="C:\Users\Niladri Ghosh\AppData\Local\Temp\claude\c--Users-Niladri-Ghosh-OneDrive-Desktop-Python-Workspace-Hamar-Shiksha\f3e4742b-a4be-48e9-8e6b-760e759cec7c\scratchpad\deck2\shots\admin-map.png">    </p:cNvPr>
          <p:cNvPicPr>
            <a:picLocks noChangeAspect="1"/>
          </p:cNvPicPr>
          <p:nvPr/>
        </p:nvPicPr>
        <p:blipFill>
          <a:blip r:embed="rId3"/>
          <a:stretch>
            <a:fillRect/>
          </a:stretch>
        </p:blipFill>
        <p:spPr>
          <a:xfrm>
            <a:off x="548640" y="1325880"/>
            <a:ext cx="6949440" cy="4343400"/>
          </a:xfrm>
          <a:prstGeom prst="rect">
            <a:avLst/>
          </a:prstGeom>
        </p:spPr>
      </p:pic>
      <p:sp>
        <p:nvSpPr>
          <p:cNvPr id="9" name="stat-0"/>
          <p:cNvSpPr/>
          <p:nvPr/>
        </p:nvSpPr>
        <p:spPr>
          <a:xfrm>
            <a:off x="8001000" y="1325880"/>
            <a:ext cx="1737360" cy="1097280"/>
          </a:xfrm>
          <a:prstGeom prst="roundRect">
            <a:avLst>
              <a:gd name="adj" fmla="val 10000"/>
            </a:avLst>
          </a:prstGeom>
          <a:solidFill>
            <a:srgbClr val="EFF5F2"/>
          </a:solidFill>
          <a:ln w="12700">
            <a:solidFill>
              <a:srgbClr val="EFF5F2"/>
            </a:solidFill>
            <a:prstDash val="solid"/>
          </a:ln>
          <a:effectLst>
            <a:outerShdw sx="100000" sy="100000" kx="0" ky="0" algn="bl" rotWithShape="0" blurRad="101600" dist="25400" dir="5400000">
              <a:srgbClr val="17242A">
                <a:alpha val="16000"/>
              </a:srgbClr>
            </a:outerShdw>
          </a:effectLst>
        </p:spPr>
      </p:sp>
      <p:sp>
        <p:nvSpPr>
          <p:cNvPr id="10" name="Text 7"/>
          <p:cNvSpPr txBox="1"/>
          <p:nvPr/>
        </p:nvSpPr>
        <p:spPr>
          <a:xfrm>
            <a:off x="8138160" y="1417320"/>
            <a:ext cx="1463040" cy="548640"/>
          </a:xfrm>
          <a:prstGeom prst="rect">
            <a:avLst/>
          </a:prstGeom>
          <a:noFill/>
          <a:ln/>
        </p:spPr>
        <p:txBody>
          <a:bodyPr wrap="square" lIns="0" tIns="0" rIns="0" bIns="0" rtlCol="0" anchor="t"/>
          <a:lstStyle/>
          <a:p>
            <a:pPr indent="0" marL="0">
              <a:buNone/>
            </a:pPr>
            <a:r>
              <a:rPr lang="en-US" sz="3200" b="1" dirty="0">
                <a:solidFill>
                  <a:srgbClr val="1F4E8C"/>
                </a:solidFill>
                <a:latin typeface="Cambria" pitchFamily="34" charset="0"/>
                <a:ea typeface="Cambria" pitchFamily="34" charset="-122"/>
                <a:cs typeface="Cambria" pitchFamily="34" charset="-120"/>
              </a:rPr>
              <a:t>33</a:t>
            </a:r>
            <a:endParaRPr lang="en-US" sz="3200" dirty="0"/>
          </a:p>
        </p:txBody>
      </p:sp>
      <p:sp>
        <p:nvSpPr>
          <p:cNvPr id="11" name="Text 8"/>
          <p:cNvSpPr txBox="1"/>
          <p:nvPr/>
        </p:nvSpPr>
        <p:spPr>
          <a:xfrm>
            <a:off x="8138160" y="1984248"/>
            <a:ext cx="1554480" cy="365760"/>
          </a:xfrm>
          <a:prstGeom prst="rect">
            <a:avLst/>
          </a:prstGeom>
          <a:noFill/>
          <a:ln/>
        </p:spPr>
        <p:txBody>
          <a:bodyPr wrap="square" lIns="0" tIns="0" rIns="0" bIns="0" rtlCol="0" anchor="t"/>
          <a:lstStyle/>
          <a:p>
            <a:pPr indent="0" marL="0">
              <a:buNone/>
            </a:pPr>
            <a:r>
              <a:rPr lang="en-US" sz="1200" dirty="0">
                <a:solidFill>
                  <a:srgbClr val="5E6B70"/>
                </a:solidFill>
              </a:rPr>
              <a:t>districts, real names</a:t>
            </a:r>
            <a:endParaRPr lang="en-US" sz="1200" dirty="0"/>
          </a:p>
        </p:txBody>
      </p:sp>
      <p:sp>
        <p:nvSpPr>
          <p:cNvPr id="12" name="stat-1"/>
          <p:cNvSpPr/>
          <p:nvPr/>
        </p:nvSpPr>
        <p:spPr>
          <a:xfrm>
            <a:off x="9875520" y="1325880"/>
            <a:ext cx="1737360" cy="1097280"/>
          </a:xfrm>
          <a:prstGeom prst="roundRect">
            <a:avLst>
              <a:gd name="adj" fmla="val 10000"/>
            </a:avLst>
          </a:prstGeom>
          <a:solidFill>
            <a:srgbClr val="EFF5F2"/>
          </a:solidFill>
          <a:ln w="12700">
            <a:solidFill>
              <a:srgbClr val="EFF5F2"/>
            </a:solidFill>
            <a:prstDash val="solid"/>
          </a:ln>
          <a:effectLst>
            <a:outerShdw sx="100000" sy="100000" kx="0" ky="0" algn="bl" rotWithShape="0" blurRad="101600" dist="25400" dir="5400000">
              <a:srgbClr val="17242A">
                <a:alpha val="16000"/>
              </a:srgbClr>
            </a:outerShdw>
          </a:effectLst>
        </p:spPr>
      </p:sp>
      <p:sp>
        <p:nvSpPr>
          <p:cNvPr id="13" name="Text 10"/>
          <p:cNvSpPr txBox="1"/>
          <p:nvPr/>
        </p:nvSpPr>
        <p:spPr>
          <a:xfrm>
            <a:off x="10012680" y="1417320"/>
            <a:ext cx="1463040" cy="548640"/>
          </a:xfrm>
          <a:prstGeom prst="rect">
            <a:avLst/>
          </a:prstGeom>
          <a:noFill/>
          <a:ln/>
        </p:spPr>
        <p:txBody>
          <a:bodyPr wrap="square" lIns="0" tIns="0" rIns="0" bIns="0" rtlCol="0" anchor="t"/>
          <a:lstStyle/>
          <a:p>
            <a:pPr indent="0" marL="0">
              <a:buNone/>
            </a:pPr>
            <a:r>
              <a:rPr lang="en-US" sz="3200" b="1" dirty="0">
                <a:solidFill>
                  <a:srgbClr val="1F4E8C"/>
                </a:solidFill>
                <a:latin typeface="Cambria" pitchFamily="34" charset="0"/>
                <a:ea typeface="Cambria" pitchFamily="34" charset="-122"/>
                <a:cs typeface="Cambria" pitchFamily="34" charset="-120"/>
              </a:rPr>
              <a:t>5</a:t>
            </a:r>
            <a:endParaRPr lang="en-US" sz="3200" dirty="0"/>
          </a:p>
        </p:txBody>
      </p:sp>
      <p:sp>
        <p:nvSpPr>
          <p:cNvPr id="14" name="Text 11"/>
          <p:cNvSpPr txBox="1"/>
          <p:nvPr/>
        </p:nvSpPr>
        <p:spPr>
          <a:xfrm>
            <a:off x="10012680" y="1984248"/>
            <a:ext cx="1554480" cy="365760"/>
          </a:xfrm>
          <a:prstGeom prst="rect">
            <a:avLst/>
          </a:prstGeom>
          <a:noFill/>
          <a:ln/>
        </p:spPr>
        <p:txBody>
          <a:bodyPr wrap="square" lIns="0" tIns="0" rIns="0" bIns="0" rtlCol="0" anchor="t"/>
          <a:lstStyle/>
          <a:p>
            <a:pPr indent="0" marL="0">
              <a:buNone/>
            </a:pPr>
            <a:r>
              <a:rPr lang="en-US" sz="1200" dirty="0">
                <a:solidFill>
                  <a:srgbClr val="5E6B70"/>
                </a:solidFill>
              </a:rPr>
              <a:t>revenue divisions</a:t>
            </a:r>
            <a:endParaRPr lang="en-US" sz="1200" dirty="0"/>
          </a:p>
        </p:txBody>
      </p:sp>
      <p:sp>
        <p:nvSpPr>
          <p:cNvPr id="15" name="stat-2"/>
          <p:cNvSpPr/>
          <p:nvPr/>
        </p:nvSpPr>
        <p:spPr>
          <a:xfrm>
            <a:off x="8001000" y="2560320"/>
            <a:ext cx="1737360" cy="1097280"/>
          </a:xfrm>
          <a:prstGeom prst="roundRect">
            <a:avLst>
              <a:gd name="adj" fmla="val 10000"/>
            </a:avLst>
          </a:prstGeom>
          <a:solidFill>
            <a:srgbClr val="EFF5F2"/>
          </a:solidFill>
          <a:ln w="12700">
            <a:solidFill>
              <a:srgbClr val="EFF5F2"/>
            </a:solidFill>
            <a:prstDash val="solid"/>
          </a:ln>
          <a:effectLst>
            <a:outerShdw sx="100000" sy="100000" kx="0" ky="0" algn="bl" rotWithShape="0" blurRad="101600" dist="25400" dir="5400000">
              <a:srgbClr val="17242A">
                <a:alpha val="16000"/>
              </a:srgbClr>
            </a:outerShdw>
          </a:effectLst>
        </p:spPr>
      </p:sp>
      <p:sp>
        <p:nvSpPr>
          <p:cNvPr id="16" name="Text 13"/>
          <p:cNvSpPr txBox="1"/>
          <p:nvPr/>
        </p:nvSpPr>
        <p:spPr>
          <a:xfrm>
            <a:off x="8138160" y="2651760"/>
            <a:ext cx="1463040" cy="548640"/>
          </a:xfrm>
          <a:prstGeom prst="rect">
            <a:avLst/>
          </a:prstGeom>
          <a:noFill/>
          <a:ln/>
        </p:spPr>
        <p:txBody>
          <a:bodyPr wrap="square" lIns="0" tIns="0" rIns="0" bIns="0" rtlCol="0" anchor="t"/>
          <a:lstStyle/>
          <a:p>
            <a:pPr indent="0" marL="0">
              <a:buNone/>
            </a:pPr>
            <a:r>
              <a:rPr lang="en-US" sz="3200" b="1" dirty="0">
                <a:solidFill>
                  <a:srgbClr val="1F4E8C"/>
                </a:solidFill>
                <a:latin typeface="Cambria" pitchFamily="34" charset="0"/>
                <a:ea typeface="Cambria" pitchFamily="34" charset="-122"/>
                <a:cs typeface="Cambria" pitchFamily="34" charset="-120"/>
              </a:rPr>
              <a:t>5</a:t>
            </a:r>
            <a:endParaRPr lang="en-US" sz="3200" dirty="0"/>
          </a:p>
        </p:txBody>
      </p:sp>
      <p:sp>
        <p:nvSpPr>
          <p:cNvPr id="17" name="Text 14"/>
          <p:cNvSpPr txBox="1"/>
          <p:nvPr/>
        </p:nvSpPr>
        <p:spPr>
          <a:xfrm>
            <a:off x="8138160" y="3218688"/>
            <a:ext cx="1554480" cy="365760"/>
          </a:xfrm>
          <a:prstGeom prst="rect">
            <a:avLst/>
          </a:prstGeom>
          <a:noFill/>
          <a:ln/>
        </p:spPr>
        <p:txBody>
          <a:bodyPr wrap="square" lIns="0" tIns="0" rIns="0" bIns="0" rtlCol="0" anchor="t"/>
          <a:lstStyle/>
          <a:p>
            <a:pPr indent="0" marL="0">
              <a:buNone/>
            </a:pPr>
            <a:r>
              <a:rPr lang="en-US" sz="1200" dirty="0">
                <a:solidFill>
                  <a:srgbClr val="5E6B70"/>
                </a:solidFill>
              </a:rPr>
              <a:t>drill-down levels</a:t>
            </a:r>
            <a:endParaRPr lang="en-US" sz="1200" dirty="0"/>
          </a:p>
        </p:txBody>
      </p:sp>
      <p:sp>
        <p:nvSpPr>
          <p:cNvPr id="18" name="stat-3"/>
          <p:cNvSpPr/>
          <p:nvPr/>
        </p:nvSpPr>
        <p:spPr>
          <a:xfrm>
            <a:off x="9875520" y="2560320"/>
            <a:ext cx="1737360" cy="1097280"/>
          </a:xfrm>
          <a:prstGeom prst="roundRect">
            <a:avLst>
              <a:gd name="adj" fmla="val 10000"/>
            </a:avLst>
          </a:prstGeom>
          <a:solidFill>
            <a:srgbClr val="EFF5F2"/>
          </a:solidFill>
          <a:ln w="12700">
            <a:solidFill>
              <a:srgbClr val="EFF5F2"/>
            </a:solidFill>
            <a:prstDash val="solid"/>
          </a:ln>
          <a:effectLst>
            <a:outerShdw sx="100000" sy="100000" kx="0" ky="0" algn="bl" rotWithShape="0" blurRad="101600" dist="25400" dir="5400000">
              <a:srgbClr val="17242A">
                <a:alpha val="16000"/>
              </a:srgbClr>
            </a:outerShdw>
          </a:effectLst>
        </p:spPr>
      </p:sp>
      <p:sp>
        <p:nvSpPr>
          <p:cNvPr id="19" name="Text 16"/>
          <p:cNvSpPr txBox="1"/>
          <p:nvPr/>
        </p:nvSpPr>
        <p:spPr>
          <a:xfrm>
            <a:off x="10012680" y="2651760"/>
            <a:ext cx="1463040" cy="548640"/>
          </a:xfrm>
          <a:prstGeom prst="rect">
            <a:avLst/>
          </a:prstGeom>
          <a:noFill/>
          <a:ln/>
        </p:spPr>
        <p:txBody>
          <a:bodyPr wrap="square" lIns="0" tIns="0" rIns="0" bIns="0" rtlCol="0" anchor="t"/>
          <a:lstStyle/>
          <a:p>
            <a:pPr indent="0" marL="0">
              <a:buNone/>
            </a:pPr>
            <a:r>
              <a:rPr lang="en-US" sz="3200" b="1" dirty="0">
                <a:solidFill>
                  <a:srgbClr val="1F4E8C"/>
                </a:solidFill>
                <a:latin typeface="Cambria" pitchFamily="34" charset="0"/>
                <a:ea typeface="Cambria" pitchFamily="34" charset="-122"/>
                <a:cs typeface="Cambria" pitchFamily="34" charset="-120"/>
              </a:rPr>
              <a:t>1-8</a:t>
            </a:r>
            <a:endParaRPr lang="en-US" sz="3200" dirty="0"/>
          </a:p>
        </p:txBody>
      </p:sp>
      <p:sp>
        <p:nvSpPr>
          <p:cNvPr id="20" name="Text 17"/>
          <p:cNvSpPr txBox="1"/>
          <p:nvPr/>
        </p:nvSpPr>
        <p:spPr>
          <a:xfrm>
            <a:off x="10012680" y="3218688"/>
            <a:ext cx="1554480" cy="365760"/>
          </a:xfrm>
          <a:prstGeom prst="rect">
            <a:avLst/>
          </a:prstGeom>
          <a:noFill/>
          <a:ln/>
        </p:spPr>
        <p:txBody>
          <a:bodyPr wrap="square" lIns="0" tIns="0" rIns="0" bIns="0" rtlCol="0" anchor="t"/>
          <a:lstStyle/>
          <a:p>
            <a:pPr indent="0" marL="0">
              <a:buNone/>
            </a:pPr>
            <a:r>
              <a:rPr lang="en-US" sz="1200" dirty="0">
                <a:solidFill>
                  <a:srgbClr val="5E6B70"/>
                </a:solidFill>
              </a:rPr>
              <a:t>classes in every district</a:t>
            </a:r>
            <a:endParaRPr lang="en-US" sz="1200" dirty="0"/>
          </a:p>
        </p:txBody>
      </p:sp>
      <p:sp>
        <p:nvSpPr>
          <p:cNvPr id="21" name="Text 18"/>
          <p:cNvSpPr/>
          <p:nvPr/>
        </p:nvSpPr>
        <p:spPr>
          <a:xfrm>
            <a:off x="8001000" y="3931920"/>
            <a:ext cx="3657600" cy="2194560"/>
          </a:xfrm>
          <a:prstGeom prst="rect">
            <a:avLst/>
          </a:prstGeom>
          <a:noFill/>
          <a:ln/>
        </p:spPr>
        <p:txBody>
          <a:bodyPr wrap="square" lIns="0" tIns="0" rIns="0" bIns="0" rtlCol="0" anchor="t"/>
          <a:lstStyle/>
          <a:p>
            <a:pPr marL="203200" indent="-203200">
              <a:spcAft>
                <a:spcPts val="600"/>
              </a:spcAft>
              <a:buSzPct val="100000"/>
              <a:buChar char="•"/>
            </a:pPr>
            <a:r>
              <a:rPr lang="en-US" sz="1400" dirty="0">
                <a:solidFill>
                  <a:srgbClr val="000000"/>
                </a:solidFill>
              </a:rPr>
              <a:t>Raipur, Durg, Bilaspur, Surguja and Bastar divisions with their districts</a:t>
            </a:r>
            <a:endParaRPr lang="en-US" sz="1400" dirty="0"/>
          </a:p>
          <a:p>
            <a:pPr marL="203200" indent="-203200">
              <a:spcAft>
                <a:spcPts val="600"/>
              </a:spcAft>
              <a:buSzPct val="100000"/>
              <a:buChar char="•"/>
            </a:pPr>
            <a:r>
              <a:rPr lang="en-US" sz="1400" dirty="0">
                <a:solidFill>
                  <a:srgbClr val="000000"/>
                </a:solidFill>
              </a:rPr>
              <a:t>Map coloured by schools, students, teachers, scores, attendance, schools on track, digital use</a:t>
            </a:r>
            <a:endParaRPr lang="en-US" sz="1400" dirty="0"/>
          </a:p>
          <a:p>
            <a:pPr marL="203200" indent="-203200">
              <a:spcAft>
                <a:spcPts val="600"/>
              </a:spcAft>
              <a:buSzPct val="100000"/>
              <a:buChar char="•"/>
            </a:pPr>
            <a:r>
              <a:rPr lang="en-US" sz="1400" dirty="0">
                <a:solidFill>
                  <a:srgbClr val="000000"/>
                </a:solidFill>
              </a:rPr>
              <a:t>Click a district to drill down to block, school and class</a:t>
            </a:r>
            <a:endParaRPr lang="en-US" sz="1400" dirty="0"/>
          </a:p>
        </p:txBody>
      </p:sp>
      <p:sp>
        <p:nvSpPr>
          <p:cNvPr id="22" name="Text 19"/>
          <p:cNvSpPr txBox="1"/>
          <p:nvPr/>
        </p:nvSpPr>
        <p:spPr>
          <a:xfrm>
            <a:off x="548640" y="5897880"/>
            <a:ext cx="6949440" cy="274320"/>
          </a:xfrm>
          <a:prstGeom prst="rect">
            <a:avLst/>
          </a:prstGeom>
          <a:noFill/>
          <a:ln/>
        </p:spPr>
        <p:txBody>
          <a:bodyPr wrap="square" lIns="0" tIns="0" rIns="0" bIns="0" rtlCol="0" anchor="t"/>
          <a:lstStyle/>
          <a:p>
            <a:pPr indent="0" marL="0">
              <a:buNone/>
            </a:pPr>
            <a:r>
              <a:rPr lang="en-US" sz="1100" i="1" dirty="0">
                <a:solidFill>
                  <a:srgbClr val="5E6B70"/>
                </a:solidFill>
              </a:rPr>
              <a:t>Schools, people and figures in the demo are generated and clearly labelled.</a:t>
            </a:r>
            <a:endParaRPr lang="en-US" sz="1100" dirty="0"/>
          </a:p>
        </p:txBody>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transition spd="med">
    <p:fade/>
  </p:transition>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59536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Progress grades with corrective action</a:t>
            </a:r>
            <a:endParaRPr lang="en-US" sz="3000" dirty="0"/>
          </a:p>
        </p:txBody>
      </p:sp>
      <p:sp>
        <p:nvSpPr>
          <p:cNvPr id="3" name="button--Agenda"/>
          <p:cNvSpPr/>
          <p:nvPr/>
        </p:nvSpPr>
        <p:spPr>
          <a:xfrm>
            <a:off x="9372600" y="502920"/>
            <a:ext cx="1097280" cy="365760"/>
          </a:xfrm>
          <a:prstGeom prst="roundRect">
            <a:avLst>
              <a:gd name="adj" fmla="val 57500"/>
            </a:avLst>
          </a:prstGeom>
          <a:solidFill>
            <a:srgbClr val="EFF5F2"/>
          </a:solidFill>
          <a:ln>
            <a:solidFill>
              <a:srgbClr val="EFF5F2"/>
            </a:solidFill>
          </a:ln>
        </p:spPr>
        <p:txBody>
          <a:bodyPr wrap="square" lIns="0" tIns="0" rIns="0" bIns="0" rtlCol="0" anchor="ctr"/>
          <a:lstStyle/>
          <a:p>
            <a:pPr algn="ctr" indent="0" marL="0">
              <a:buNone/>
            </a:pPr>
            <a:r>
              <a:rPr lang="en-US" sz="1200" b="1" dirty="0">
                <a:solidFill>
                  <a:srgbClr val="0B3B36"/>
                </a:solidFill>
              </a:rPr>
              <a:t>☰  Agenda</a:t>
            </a:r>
            <a:endParaRPr lang="en-US" sz="1200" dirty="0"/>
          </a:p>
        </p:txBody>
      </p:sp>
      <p:sp>
        <p:nvSpPr>
          <p:cNvPr id="4" name="button-link--Agenda">
            <a:hlinkClick r:id="rId1" tooltip="Back to the agenda" action="ppaction://hlinksldjump"/>
          </p:cNvPr>
          <p:cNvSpPr/>
          <p:nvPr/>
        </p:nvSpPr>
        <p:spPr>
          <a:xfrm>
            <a:off x="9372600" y="502920"/>
            <a:ext cx="1097280" cy="365760"/>
          </a:xfrm>
          <a:prstGeom prst="rect">
            <a:avLst/>
          </a:prstGeom>
          <a:solidFill>
            <a:srgbClr val="FFFFFF">
              <a:alpha val="0"/>
            </a:srgbClr>
          </a:solidFill>
          <a:ln w="12700">
            <a:solidFill>
              <a:srgbClr val="FFFFFF">
                <a:alpha val="0"/>
              </a:srgbClr>
            </a:solidFill>
            <a:prstDash val="solid"/>
          </a:ln>
        </p:spPr>
      </p:sp>
      <p:sp>
        <p:nvSpPr>
          <p:cNvPr id="5" name="button-Live-demo-"/>
          <p:cNvSpPr/>
          <p:nvPr/>
        </p:nvSpPr>
        <p:spPr>
          <a:xfrm>
            <a:off x="10561320" y="502920"/>
            <a:ext cx="1097280" cy="365760"/>
          </a:xfrm>
          <a:prstGeom prst="roundRect">
            <a:avLst>
              <a:gd name="adj" fmla="val 57500"/>
            </a:avLst>
          </a:prstGeom>
          <a:solidFill>
            <a:srgbClr val="0B3B36"/>
          </a:solidFill>
          <a:ln>
            <a:solidFill>
              <a:srgbClr val="0B3B36"/>
            </a:solidFill>
          </a:ln>
        </p:spPr>
        <p:txBody>
          <a:bodyPr wrap="square" lIns="0" tIns="0" rIns="0" bIns="0" rtlCol="0" anchor="ctr"/>
          <a:lstStyle/>
          <a:p>
            <a:pPr algn="ctr" indent="0" marL="0">
              <a:buNone/>
            </a:pPr>
            <a:r>
              <a:rPr lang="en-US" sz="1200" b="1" dirty="0">
                <a:solidFill>
                  <a:srgbClr val="FFFFFF"/>
                </a:solidFill>
              </a:rPr>
              <a:t>Live demo ↗</a:t>
            </a:r>
            <a:endParaRPr lang="en-US" sz="1200" dirty="0"/>
          </a:p>
        </p:txBody>
      </p:sp>
      <p:sp>
        <p:nvSpPr>
          <p:cNvPr id="6" name="button-link-Live-demo-">
            <a:hlinkClick r:id="rId2" tooltip="Open the live demo"/>
          </p:cNvPr>
          <p:cNvSpPr/>
          <p:nvPr/>
        </p:nvSpPr>
        <p:spPr>
          <a:xfrm>
            <a:off x="10561320" y="502920"/>
            <a:ext cx="1097280" cy="365760"/>
          </a:xfrm>
          <a:prstGeom prst="rect">
            <a:avLst/>
          </a:prstGeom>
          <a:solidFill>
            <a:srgbClr val="FFFFFF">
              <a:alpha val="0"/>
            </a:srgbClr>
          </a:solidFill>
          <a:ln w="12700">
            <a:solidFill>
              <a:srgbClr val="FFFFFF">
                <a:alpha val="0"/>
              </a:srgbClr>
            </a:solidFill>
            <a:prstDash val="solid"/>
          </a:ln>
        </p:spPr>
      </p:sp>
      <p:sp>
        <p:nvSpPr>
          <p:cNvPr id="7" name="frame-admin-grades.png"/>
          <p:cNvSpPr/>
          <p:nvPr/>
        </p:nvSpPr>
        <p:spPr>
          <a:xfrm>
            <a:off x="493776" y="1271016"/>
            <a:ext cx="7059168" cy="4453128"/>
          </a:xfrm>
          <a:prstGeom prst="roundRect">
            <a:avLst>
              <a:gd name="adj" fmla="val 1643"/>
            </a:avLst>
          </a:prstGeom>
          <a:solidFill>
            <a:srgbClr val="FFFFFF"/>
          </a:solidFill>
          <a:ln w="9525">
            <a:solidFill>
              <a:srgbClr val="D5DEDA"/>
            </a:solidFill>
            <a:prstDash val="solid"/>
          </a:ln>
          <a:effectLst>
            <a:outerShdw sx="100000" sy="100000" kx="0" ky="0" algn="bl" rotWithShape="0" blurRad="101600" dist="25400" dir="5400000">
              <a:srgbClr val="17242A">
                <a:alpha val="16000"/>
              </a:srgbClr>
            </a:outerShdw>
          </a:effectLst>
        </p:spPr>
      </p:sp>
      <p:pic>
        <p:nvPicPr>
          <p:cNvPr id="8" name="screenshot-admin-grades.png" descr="C:\Users\Niladri Ghosh\AppData\Local\Temp\claude\c--Users-Niladri-Ghosh-OneDrive-Desktop-Python-Workspace-Hamar-Shiksha\f3e4742b-a4be-48e9-8e6b-760e759cec7c\scratchpad\deck2\shots\admin-grades.png">    </p:cNvPr>
          <p:cNvPicPr>
            <a:picLocks noChangeAspect="1"/>
          </p:cNvPicPr>
          <p:nvPr/>
        </p:nvPicPr>
        <p:blipFill>
          <a:blip r:embed="rId3"/>
          <a:stretch>
            <a:fillRect/>
          </a:stretch>
        </p:blipFill>
        <p:spPr>
          <a:xfrm>
            <a:off x="548640" y="1325880"/>
            <a:ext cx="6949440" cy="4343400"/>
          </a:xfrm>
          <a:prstGeom prst="rect">
            <a:avLst/>
          </a:prstGeom>
        </p:spPr>
      </p:pic>
      <p:sp>
        <p:nvSpPr>
          <p:cNvPr id="9" name="grade-A"/>
          <p:cNvSpPr/>
          <p:nvPr/>
        </p:nvSpPr>
        <p:spPr>
          <a:xfrm>
            <a:off x="8001000" y="1325880"/>
            <a:ext cx="457200" cy="457200"/>
          </a:xfrm>
          <a:prstGeom prst="ellipse">
            <a:avLst/>
          </a:prstGeom>
          <a:solidFill>
            <a:srgbClr val="0E8A6E"/>
          </a:solidFill>
          <a:ln>
            <a:solidFill>
              <a:srgbClr val="0E8A6E"/>
            </a:solidFill>
          </a:ln>
        </p:spPr>
        <p:txBody>
          <a:bodyPr wrap="square" lIns="0" tIns="0" rIns="0" bIns="0" rtlCol="0" anchor="ctr"/>
          <a:lstStyle/>
          <a:p>
            <a:pPr algn="ctr" indent="0" marL="0">
              <a:buNone/>
            </a:pPr>
            <a:r>
              <a:rPr lang="en-US" sz="1800" b="1" dirty="0">
                <a:solidFill>
                  <a:srgbClr val="FFFFFF"/>
                </a:solidFill>
              </a:rPr>
              <a:t>A</a:t>
            </a:r>
            <a:endParaRPr lang="en-US" sz="1800" dirty="0"/>
          </a:p>
        </p:txBody>
      </p:sp>
      <p:sp>
        <p:nvSpPr>
          <p:cNvPr id="10" name="Text 7"/>
          <p:cNvSpPr txBox="1"/>
          <p:nvPr/>
        </p:nvSpPr>
        <p:spPr>
          <a:xfrm>
            <a:off x="8595360" y="1371600"/>
            <a:ext cx="3017520" cy="365760"/>
          </a:xfrm>
          <a:prstGeom prst="rect">
            <a:avLst/>
          </a:prstGeom>
          <a:noFill/>
          <a:ln/>
        </p:spPr>
        <p:txBody>
          <a:bodyPr wrap="square" lIns="0" tIns="0" rIns="0" bIns="0" rtlCol="0" anchor="ctr"/>
          <a:lstStyle/>
          <a:p>
            <a:pPr indent="0" marL="0">
              <a:buNone/>
            </a:pPr>
            <a:r>
              <a:rPr lang="en-US" sz="1500" b="1" dirty="0">
                <a:solidFill>
                  <a:srgbClr val="0B3B36"/>
                </a:solidFill>
              </a:rPr>
              <a:t>On track</a:t>
            </a:r>
            <a:endParaRPr lang="en-US" sz="1500" dirty="0"/>
          </a:p>
        </p:txBody>
      </p:sp>
      <p:sp>
        <p:nvSpPr>
          <p:cNvPr id="11" name="grade-B"/>
          <p:cNvSpPr/>
          <p:nvPr/>
        </p:nvSpPr>
        <p:spPr>
          <a:xfrm>
            <a:off x="8001000" y="1892808"/>
            <a:ext cx="457200" cy="457200"/>
          </a:xfrm>
          <a:prstGeom prst="ellipse">
            <a:avLst/>
          </a:prstGeom>
          <a:solidFill>
            <a:srgbClr val="C9921A"/>
          </a:solidFill>
          <a:ln>
            <a:solidFill>
              <a:srgbClr val="C9921A"/>
            </a:solidFill>
          </a:ln>
        </p:spPr>
        <p:txBody>
          <a:bodyPr wrap="square" lIns="0" tIns="0" rIns="0" bIns="0" rtlCol="0" anchor="ctr"/>
          <a:lstStyle/>
          <a:p>
            <a:pPr algn="ctr" indent="0" marL="0">
              <a:buNone/>
            </a:pPr>
            <a:r>
              <a:rPr lang="en-US" sz="1800" b="1" dirty="0">
                <a:solidFill>
                  <a:srgbClr val="FFFFFF"/>
                </a:solidFill>
              </a:rPr>
              <a:t>B</a:t>
            </a:r>
            <a:endParaRPr lang="en-US" sz="1800" dirty="0"/>
          </a:p>
        </p:txBody>
      </p:sp>
      <p:sp>
        <p:nvSpPr>
          <p:cNvPr id="12" name="Text 9"/>
          <p:cNvSpPr txBox="1"/>
          <p:nvPr/>
        </p:nvSpPr>
        <p:spPr>
          <a:xfrm>
            <a:off x="8595360" y="1938528"/>
            <a:ext cx="3017520" cy="365760"/>
          </a:xfrm>
          <a:prstGeom prst="rect">
            <a:avLst/>
          </a:prstGeom>
          <a:noFill/>
          <a:ln/>
        </p:spPr>
        <p:txBody>
          <a:bodyPr wrap="square" lIns="0" tIns="0" rIns="0" bIns="0" rtlCol="0" anchor="ctr"/>
          <a:lstStyle/>
          <a:p>
            <a:pPr indent="0" marL="0">
              <a:buNone/>
            </a:pPr>
            <a:r>
              <a:rPr lang="en-US" sz="1500" b="1" dirty="0">
                <a:solidFill>
                  <a:srgbClr val="0B3B36"/>
                </a:solidFill>
              </a:rPr>
              <a:t>Slightly behind</a:t>
            </a:r>
            <a:endParaRPr lang="en-US" sz="1500" dirty="0"/>
          </a:p>
        </p:txBody>
      </p:sp>
      <p:sp>
        <p:nvSpPr>
          <p:cNvPr id="13" name="grade-C"/>
          <p:cNvSpPr/>
          <p:nvPr/>
        </p:nvSpPr>
        <p:spPr>
          <a:xfrm>
            <a:off x="8001000" y="2459736"/>
            <a:ext cx="457200" cy="457200"/>
          </a:xfrm>
          <a:prstGeom prst="ellipse">
            <a:avLst/>
          </a:prstGeom>
          <a:solidFill>
            <a:srgbClr val="E8762B"/>
          </a:solidFill>
          <a:ln>
            <a:solidFill>
              <a:srgbClr val="E8762B"/>
            </a:solidFill>
          </a:ln>
        </p:spPr>
        <p:txBody>
          <a:bodyPr wrap="square" lIns="0" tIns="0" rIns="0" bIns="0" rtlCol="0" anchor="ctr"/>
          <a:lstStyle/>
          <a:p>
            <a:pPr algn="ctr" indent="0" marL="0">
              <a:buNone/>
            </a:pPr>
            <a:r>
              <a:rPr lang="en-US" sz="1800" b="1" dirty="0">
                <a:solidFill>
                  <a:srgbClr val="FFFFFF"/>
                </a:solidFill>
              </a:rPr>
              <a:t>C</a:t>
            </a:r>
            <a:endParaRPr lang="en-US" sz="1800" dirty="0"/>
          </a:p>
        </p:txBody>
      </p:sp>
      <p:sp>
        <p:nvSpPr>
          <p:cNvPr id="14" name="Text 11"/>
          <p:cNvSpPr txBox="1"/>
          <p:nvPr/>
        </p:nvSpPr>
        <p:spPr>
          <a:xfrm>
            <a:off x="8595360" y="2505456"/>
            <a:ext cx="3017520" cy="365760"/>
          </a:xfrm>
          <a:prstGeom prst="rect">
            <a:avLst/>
          </a:prstGeom>
          <a:noFill/>
          <a:ln/>
        </p:spPr>
        <p:txBody>
          <a:bodyPr wrap="square" lIns="0" tIns="0" rIns="0" bIns="0" rtlCol="0" anchor="ctr"/>
          <a:lstStyle/>
          <a:p>
            <a:pPr indent="0" marL="0">
              <a:buNone/>
            </a:pPr>
            <a:r>
              <a:rPr lang="en-US" sz="1500" b="1" dirty="0">
                <a:solidFill>
                  <a:srgbClr val="0B3B36"/>
                </a:solidFill>
              </a:rPr>
              <a:t>Behind plan</a:t>
            </a:r>
            <a:endParaRPr lang="en-US" sz="1500" dirty="0"/>
          </a:p>
        </p:txBody>
      </p:sp>
      <p:sp>
        <p:nvSpPr>
          <p:cNvPr id="15" name="grade-D"/>
          <p:cNvSpPr/>
          <p:nvPr/>
        </p:nvSpPr>
        <p:spPr>
          <a:xfrm>
            <a:off x="8001000" y="3026664"/>
            <a:ext cx="457200" cy="457200"/>
          </a:xfrm>
          <a:prstGeom prst="ellipse">
            <a:avLst/>
          </a:prstGeom>
          <a:solidFill>
            <a:srgbClr val="C03A3A"/>
          </a:solidFill>
          <a:ln>
            <a:solidFill>
              <a:srgbClr val="C03A3A"/>
            </a:solidFill>
          </a:ln>
        </p:spPr>
        <p:txBody>
          <a:bodyPr wrap="square" lIns="0" tIns="0" rIns="0" bIns="0" rtlCol="0" anchor="ctr"/>
          <a:lstStyle/>
          <a:p>
            <a:pPr algn="ctr" indent="0" marL="0">
              <a:buNone/>
            </a:pPr>
            <a:r>
              <a:rPr lang="en-US" sz="1800" b="1" dirty="0">
                <a:solidFill>
                  <a:srgbClr val="FFFFFF"/>
                </a:solidFill>
              </a:rPr>
              <a:t>D</a:t>
            </a:r>
            <a:endParaRPr lang="en-US" sz="1800" dirty="0"/>
          </a:p>
        </p:txBody>
      </p:sp>
      <p:sp>
        <p:nvSpPr>
          <p:cNvPr id="16" name="Text 13"/>
          <p:cNvSpPr txBox="1"/>
          <p:nvPr/>
        </p:nvSpPr>
        <p:spPr>
          <a:xfrm>
            <a:off x="8595360" y="3072384"/>
            <a:ext cx="3017520" cy="365760"/>
          </a:xfrm>
          <a:prstGeom prst="rect">
            <a:avLst/>
          </a:prstGeom>
          <a:noFill/>
          <a:ln/>
        </p:spPr>
        <p:txBody>
          <a:bodyPr wrap="square" lIns="0" tIns="0" rIns="0" bIns="0" rtlCol="0" anchor="ctr"/>
          <a:lstStyle/>
          <a:p>
            <a:pPr indent="0" marL="0">
              <a:buNone/>
            </a:pPr>
            <a:r>
              <a:rPr lang="en-US" sz="1500" b="1" dirty="0">
                <a:solidFill>
                  <a:srgbClr val="0B3B36"/>
                </a:solidFill>
              </a:rPr>
              <a:t>Needs support</a:t>
            </a:r>
            <a:endParaRPr lang="en-US" sz="1500" dirty="0"/>
          </a:p>
        </p:txBody>
      </p:sp>
      <p:sp>
        <p:nvSpPr>
          <p:cNvPr id="17" name="Text 14"/>
          <p:cNvSpPr/>
          <p:nvPr/>
        </p:nvSpPr>
        <p:spPr>
          <a:xfrm>
            <a:off x="8001000" y="3749040"/>
            <a:ext cx="3657600" cy="2377440"/>
          </a:xfrm>
          <a:prstGeom prst="rect">
            <a:avLst/>
          </a:prstGeom>
          <a:noFill/>
          <a:ln/>
        </p:spPr>
        <p:txBody>
          <a:bodyPr wrap="square" lIns="0" tIns="0" rIns="0" bIns="0" rtlCol="0" anchor="t"/>
          <a:lstStyle/>
          <a:p>
            <a:pPr marL="203200" indent="-203200">
              <a:spcAft>
                <a:spcPts val="600"/>
              </a:spcAft>
              <a:buSzPct val="100000"/>
              <a:buChar char="•"/>
            </a:pPr>
            <a:r>
              <a:rPr lang="en-US" sz="1400" dirty="0">
                <a:solidFill>
                  <a:srgbClr val="000000"/>
                </a:solidFill>
              </a:rPr>
              <a:t>Planned → taught → learned, computed from one-tap milestones and students' answers</a:t>
            </a:r>
            <a:endParaRPr lang="en-US" sz="1400" dirty="0"/>
          </a:p>
          <a:p>
            <a:pPr marL="203200" indent="-203200">
              <a:spcAft>
                <a:spcPts val="600"/>
              </a:spcAft>
              <a:buSzPct val="100000"/>
              <a:buChar char="•"/>
            </a:pPr>
            <a:r>
              <a:rPr lang="en-US" sz="1400" dirty="0">
                <a:solidFill>
                  <a:srgbClr val="000000"/>
                </a:solidFill>
              </a:rPr>
              <a:t>Every class-subject and school graded; nothing extra to fill in</a:t>
            </a:r>
            <a:endParaRPr lang="en-US" sz="1400" dirty="0"/>
          </a:p>
          <a:p>
            <a:pPr marL="203200" indent="-203200">
              <a:spcAft>
                <a:spcPts val="600"/>
              </a:spcAft>
              <a:buSzPct val="100000"/>
              <a:buChar char="•"/>
            </a:pPr>
            <a:r>
              <a:rPr lang="en-US" sz="1400" dirty="0">
                <a:solidFill>
                  <a:srgbClr val="000000"/>
                </a:solidFill>
              </a:rPr>
              <a:t>Suggested next steps: outcomes to cover, outcomes to re-teach, support visits</a:t>
            </a:r>
            <a:endParaRPr lang="en-US" sz="1400" dirty="0"/>
          </a:p>
        </p:txBody>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transition spd="med">
    <p:fade/>
  </p:transition>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59536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Attendance follow-up and digital infrastructure</a:t>
            </a:r>
            <a:endParaRPr lang="en-US" sz="3000" dirty="0"/>
          </a:p>
        </p:txBody>
      </p:sp>
      <p:sp>
        <p:nvSpPr>
          <p:cNvPr id="3" name="button--Agenda"/>
          <p:cNvSpPr/>
          <p:nvPr/>
        </p:nvSpPr>
        <p:spPr>
          <a:xfrm>
            <a:off x="9372600" y="502920"/>
            <a:ext cx="1097280" cy="365760"/>
          </a:xfrm>
          <a:prstGeom prst="roundRect">
            <a:avLst>
              <a:gd name="adj" fmla="val 57500"/>
            </a:avLst>
          </a:prstGeom>
          <a:solidFill>
            <a:srgbClr val="EFF5F2"/>
          </a:solidFill>
          <a:ln>
            <a:solidFill>
              <a:srgbClr val="EFF5F2"/>
            </a:solidFill>
          </a:ln>
        </p:spPr>
        <p:txBody>
          <a:bodyPr wrap="square" lIns="0" tIns="0" rIns="0" bIns="0" rtlCol="0" anchor="ctr"/>
          <a:lstStyle/>
          <a:p>
            <a:pPr algn="ctr" indent="0" marL="0">
              <a:buNone/>
            </a:pPr>
            <a:r>
              <a:rPr lang="en-US" sz="1200" b="1" dirty="0">
                <a:solidFill>
                  <a:srgbClr val="0B3B36"/>
                </a:solidFill>
              </a:rPr>
              <a:t>☰  Agenda</a:t>
            </a:r>
            <a:endParaRPr lang="en-US" sz="1200" dirty="0"/>
          </a:p>
        </p:txBody>
      </p:sp>
      <p:sp>
        <p:nvSpPr>
          <p:cNvPr id="4" name="button-link--Agenda">
            <a:hlinkClick r:id="rId1" tooltip="Back to the agenda" action="ppaction://hlinksldjump"/>
          </p:cNvPr>
          <p:cNvSpPr/>
          <p:nvPr/>
        </p:nvSpPr>
        <p:spPr>
          <a:xfrm>
            <a:off x="9372600" y="502920"/>
            <a:ext cx="1097280" cy="365760"/>
          </a:xfrm>
          <a:prstGeom prst="rect">
            <a:avLst/>
          </a:prstGeom>
          <a:solidFill>
            <a:srgbClr val="FFFFFF">
              <a:alpha val="0"/>
            </a:srgbClr>
          </a:solidFill>
          <a:ln w="12700">
            <a:solidFill>
              <a:srgbClr val="FFFFFF">
                <a:alpha val="0"/>
              </a:srgbClr>
            </a:solidFill>
            <a:prstDash val="solid"/>
          </a:ln>
        </p:spPr>
      </p:sp>
      <p:sp>
        <p:nvSpPr>
          <p:cNvPr id="5" name="button-Live-demo-"/>
          <p:cNvSpPr/>
          <p:nvPr/>
        </p:nvSpPr>
        <p:spPr>
          <a:xfrm>
            <a:off x="10561320" y="502920"/>
            <a:ext cx="1097280" cy="365760"/>
          </a:xfrm>
          <a:prstGeom prst="roundRect">
            <a:avLst>
              <a:gd name="adj" fmla="val 57500"/>
            </a:avLst>
          </a:prstGeom>
          <a:solidFill>
            <a:srgbClr val="0B3B36"/>
          </a:solidFill>
          <a:ln>
            <a:solidFill>
              <a:srgbClr val="0B3B36"/>
            </a:solidFill>
          </a:ln>
        </p:spPr>
        <p:txBody>
          <a:bodyPr wrap="square" lIns="0" tIns="0" rIns="0" bIns="0" rtlCol="0" anchor="ctr"/>
          <a:lstStyle/>
          <a:p>
            <a:pPr algn="ctr" indent="0" marL="0">
              <a:buNone/>
            </a:pPr>
            <a:r>
              <a:rPr lang="en-US" sz="1200" b="1" dirty="0">
                <a:solidFill>
                  <a:srgbClr val="FFFFFF"/>
                </a:solidFill>
              </a:rPr>
              <a:t>Live demo ↗</a:t>
            </a:r>
            <a:endParaRPr lang="en-US" sz="1200" dirty="0"/>
          </a:p>
        </p:txBody>
      </p:sp>
      <p:sp>
        <p:nvSpPr>
          <p:cNvPr id="6" name="button-link-Live-demo-">
            <a:hlinkClick r:id="rId2" tooltip="Open the live demo"/>
          </p:cNvPr>
          <p:cNvSpPr/>
          <p:nvPr/>
        </p:nvSpPr>
        <p:spPr>
          <a:xfrm>
            <a:off x="10561320" y="502920"/>
            <a:ext cx="1097280" cy="365760"/>
          </a:xfrm>
          <a:prstGeom prst="rect">
            <a:avLst/>
          </a:prstGeom>
          <a:solidFill>
            <a:srgbClr val="FFFFFF">
              <a:alpha val="0"/>
            </a:srgbClr>
          </a:solidFill>
          <a:ln w="12700">
            <a:solidFill>
              <a:srgbClr val="FFFFFF">
                <a:alpha val="0"/>
              </a:srgbClr>
            </a:solidFill>
            <a:prstDash val="solid"/>
          </a:ln>
        </p:spPr>
      </p:sp>
      <p:sp>
        <p:nvSpPr>
          <p:cNvPr id="7" name="frame-admin-attendance.png"/>
          <p:cNvSpPr/>
          <p:nvPr/>
        </p:nvSpPr>
        <p:spPr>
          <a:xfrm>
            <a:off x="493776" y="1271016"/>
            <a:ext cx="5458968" cy="3453003"/>
          </a:xfrm>
          <a:prstGeom prst="roundRect">
            <a:avLst>
              <a:gd name="adj" fmla="val 2119"/>
            </a:avLst>
          </a:prstGeom>
          <a:solidFill>
            <a:srgbClr val="FFFFFF"/>
          </a:solidFill>
          <a:ln w="9525">
            <a:solidFill>
              <a:srgbClr val="D5DEDA"/>
            </a:solidFill>
            <a:prstDash val="solid"/>
          </a:ln>
          <a:effectLst>
            <a:outerShdw sx="100000" sy="100000" kx="0" ky="0" algn="bl" rotWithShape="0" blurRad="101600" dist="25400" dir="5400000">
              <a:srgbClr val="17242A">
                <a:alpha val="16000"/>
              </a:srgbClr>
            </a:outerShdw>
          </a:effectLst>
        </p:spPr>
      </p:sp>
      <p:pic>
        <p:nvPicPr>
          <p:cNvPr id="8" name="screenshot-admin-attendance.png" descr="C:\Users\Niladri Ghosh\AppData\Local\Temp\claude\c--Users-Niladri-Ghosh-OneDrive-Desktop-Python-Workspace-Hamar-Shiksha\f3e4742b-a4be-48e9-8e6b-760e759cec7c\scratchpad\deck2\shots\admin-attendance.png">    </p:cNvPr>
          <p:cNvPicPr>
            <a:picLocks noChangeAspect="1"/>
          </p:cNvPicPr>
          <p:nvPr/>
        </p:nvPicPr>
        <p:blipFill>
          <a:blip r:embed="rId3"/>
          <a:stretch>
            <a:fillRect/>
          </a:stretch>
        </p:blipFill>
        <p:spPr>
          <a:xfrm>
            <a:off x="548640" y="1325880"/>
            <a:ext cx="5349240" cy="3343275"/>
          </a:xfrm>
          <a:prstGeom prst="rect">
            <a:avLst/>
          </a:prstGeom>
        </p:spPr>
      </p:pic>
      <p:sp>
        <p:nvSpPr>
          <p:cNvPr id="9" name="frame-admin-digital.png"/>
          <p:cNvSpPr/>
          <p:nvPr/>
        </p:nvSpPr>
        <p:spPr>
          <a:xfrm>
            <a:off x="6208776" y="1271016"/>
            <a:ext cx="5458968" cy="3453003"/>
          </a:xfrm>
          <a:prstGeom prst="roundRect">
            <a:avLst>
              <a:gd name="adj" fmla="val 2119"/>
            </a:avLst>
          </a:prstGeom>
          <a:solidFill>
            <a:srgbClr val="FFFFFF"/>
          </a:solidFill>
          <a:ln w="9525">
            <a:solidFill>
              <a:srgbClr val="D5DEDA"/>
            </a:solidFill>
            <a:prstDash val="solid"/>
          </a:ln>
          <a:effectLst>
            <a:outerShdw sx="100000" sy="100000" kx="0" ky="0" algn="bl" rotWithShape="0" blurRad="101600" dist="25400" dir="5400000">
              <a:srgbClr val="17242A">
                <a:alpha val="16000"/>
              </a:srgbClr>
            </a:outerShdw>
          </a:effectLst>
        </p:spPr>
      </p:sp>
      <p:pic>
        <p:nvPicPr>
          <p:cNvPr id="10" name="screenshot-admin-digital.png" descr="C:\Users\Niladri Ghosh\AppData\Local\Temp\claude\c--Users-Niladri-Ghosh-OneDrive-Desktop-Python-Workspace-Hamar-Shiksha\f3e4742b-a4be-48e9-8e6b-760e759cec7c\scratchpad\deck2\shots\admin-digital.png">    </p:cNvPr>
          <p:cNvPicPr>
            <a:picLocks noChangeAspect="1"/>
          </p:cNvPicPr>
          <p:nvPr/>
        </p:nvPicPr>
        <p:blipFill>
          <a:blip r:embed="rId4"/>
          <a:stretch>
            <a:fillRect/>
          </a:stretch>
        </p:blipFill>
        <p:spPr>
          <a:xfrm>
            <a:off x="6263640" y="1325880"/>
            <a:ext cx="5349240" cy="3343275"/>
          </a:xfrm>
          <a:prstGeom prst="rect">
            <a:avLst/>
          </a:prstGeom>
        </p:spPr>
      </p:pic>
      <p:sp>
        <p:nvSpPr>
          <p:cNvPr id="11" name="Text 7"/>
          <p:cNvSpPr txBox="1"/>
          <p:nvPr/>
        </p:nvSpPr>
        <p:spPr>
          <a:xfrm>
            <a:off x="548640" y="4806315"/>
            <a:ext cx="5349240" cy="365760"/>
          </a:xfrm>
          <a:prstGeom prst="rect">
            <a:avLst/>
          </a:prstGeom>
          <a:noFill/>
          <a:ln/>
        </p:spPr>
        <p:txBody>
          <a:bodyPr wrap="square" lIns="0" tIns="0" rIns="0" bIns="0" rtlCol="0" anchor="t"/>
          <a:lstStyle/>
          <a:p>
            <a:pPr indent="0" marL="0">
              <a:buNone/>
            </a:pPr>
            <a:r>
              <a:rPr lang="en-US" sz="1700" b="1" dirty="0">
                <a:solidFill>
                  <a:srgbClr val="1F4E8C"/>
                </a:solidFill>
                <a:latin typeface="Cambria" pitchFamily="34" charset="0"/>
                <a:ea typeface="Cambria" pitchFamily="34" charset="-122"/>
                <a:cs typeface="Cambria" pitchFamily="34" charset="-120"/>
              </a:rPr>
              <a:t>Attendance follow-up</a:t>
            </a:r>
            <a:endParaRPr lang="en-US" sz="1700" dirty="0"/>
          </a:p>
        </p:txBody>
      </p:sp>
      <p:sp>
        <p:nvSpPr>
          <p:cNvPr id="12" name="Text 8"/>
          <p:cNvSpPr/>
          <p:nvPr/>
        </p:nvSpPr>
        <p:spPr>
          <a:xfrm>
            <a:off x="548640" y="5217795"/>
            <a:ext cx="5349240" cy="1463040"/>
          </a:xfrm>
          <a:prstGeom prst="rect">
            <a:avLst/>
          </a:prstGeom>
          <a:noFill/>
          <a:ln/>
        </p:spPr>
        <p:txBody>
          <a:bodyPr wrap="square" lIns="0" tIns="0" rIns="0" bIns="0" rtlCol="0" anchor="t"/>
          <a:lstStyle/>
          <a:p>
            <a:pPr marL="203200" indent="-203200">
              <a:spcAft>
                <a:spcPts val="600"/>
              </a:spcAft>
              <a:buSzPct val="100000"/>
              <a:buChar char="•"/>
            </a:pPr>
            <a:r>
              <a:rPr lang="en-US" sz="1400" dirty="0">
                <a:solidFill>
                  <a:srgbClr val="000000"/>
                </a:solidFill>
              </a:rPr>
              <a:t>Irregular, falling or stopped attendance flagged for a caring call or visit</a:t>
            </a:r>
            <a:endParaRPr lang="en-US" sz="1400" dirty="0"/>
          </a:p>
          <a:p>
            <a:pPr marL="203200" indent="-203200">
              <a:spcAft>
                <a:spcPts val="600"/>
              </a:spcAft>
              <a:buSzPct val="100000"/>
              <a:buChar char="•"/>
            </a:pPr>
            <a:r>
              <a:rPr lang="en-US" sz="1400" dirty="0">
                <a:solidFill>
                  <a:srgbClr val="000000"/>
                </a:solidFill>
              </a:rPr>
              <a:t>Linked to the lessons a child missed and whether they were learned</a:t>
            </a:r>
            <a:endParaRPr lang="en-US" sz="1400" dirty="0"/>
          </a:p>
          <a:p>
            <a:pPr marL="203200" indent="-203200">
              <a:spcAft>
                <a:spcPts val="600"/>
              </a:spcAft>
              <a:buSzPct val="100000"/>
              <a:buChar char="•"/>
            </a:pPr>
            <a:r>
              <a:rPr lang="en-US" sz="1400" dirty="0">
                <a:solidFill>
                  <a:srgbClr val="000000"/>
                </a:solidFill>
              </a:rPr>
              <a:t>Officers see counts only, never names</a:t>
            </a:r>
            <a:endParaRPr lang="en-US" sz="1400" dirty="0"/>
          </a:p>
        </p:txBody>
      </p:sp>
      <p:sp>
        <p:nvSpPr>
          <p:cNvPr id="13" name="Text 9"/>
          <p:cNvSpPr txBox="1"/>
          <p:nvPr/>
        </p:nvSpPr>
        <p:spPr>
          <a:xfrm>
            <a:off x="6263640" y="4806315"/>
            <a:ext cx="5349240" cy="365760"/>
          </a:xfrm>
          <a:prstGeom prst="rect">
            <a:avLst/>
          </a:prstGeom>
          <a:noFill/>
          <a:ln/>
        </p:spPr>
        <p:txBody>
          <a:bodyPr wrap="square" lIns="0" tIns="0" rIns="0" bIns="0" rtlCol="0" anchor="t"/>
          <a:lstStyle/>
          <a:p>
            <a:pPr indent="0" marL="0">
              <a:buNone/>
            </a:pPr>
            <a:r>
              <a:rPr lang="en-US" sz="1700" b="1" dirty="0">
                <a:solidFill>
                  <a:srgbClr val="1F4E8C"/>
                </a:solidFill>
                <a:latin typeface="Cambria" pitchFamily="34" charset="0"/>
                <a:ea typeface="Cambria" pitchFamily="34" charset="-122"/>
                <a:cs typeface="Cambria" pitchFamily="34" charset="-120"/>
              </a:rPr>
              <a:t>Digital infrastructure</a:t>
            </a:r>
            <a:endParaRPr lang="en-US" sz="1700" dirty="0"/>
          </a:p>
        </p:txBody>
      </p:sp>
      <p:sp>
        <p:nvSpPr>
          <p:cNvPr id="14" name="Text 10"/>
          <p:cNvSpPr/>
          <p:nvPr/>
        </p:nvSpPr>
        <p:spPr>
          <a:xfrm>
            <a:off x="6263640" y="5217795"/>
            <a:ext cx="5349240" cy="1463040"/>
          </a:xfrm>
          <a:prstGeom prst="rect">
            <a:avLst/>
          </a:prstGeom>
          <a:noFill/>
          <a:ln/>
        </p:spPr>
        <p:txBody>
          <a:bodyPr wrap="square" lIns="0" tIns="0" rIns="0" bIns="0" rtlCol="0" anchor="t"/>
          <a:lstStyle/>
          <a:p>
            <a:pPr marL="203200" indent="-203200">
              <a:spcAft>
                <a:spcPts val="600"/>
              </a:spcAft>
              <a:buSzPct val="100000"/>
              <a:buChar char="•"/>
            </a:pPr>
            <a:r>
              <a:rPr lang="en-US" sz="1400" dirty="0">
                <a:solidFill>
                  <a:srgbClr val="000000"/>
                </a:solidFill>
              </a:rPr>
              <a:t>ICT labs, smart classes, libraries, language labs, tablets</a:t>
            </a:r>
            <a:endParaRPr lang="en-US" sz="1400" dirty="0"/>
          </a:p>
          <a:p>
            <a:pPr marL="203200" indent="-203200">
              <a:spcAft>
                <a:spcPts val="600"/>
              </a:spcAft>
              <a:buSzPct val="100000"/>
              <a:buChar char="•"/>
            </a:pPr>
            <a:r>
              <a:rPr lang="en-US" sz="1400" dirty="0">
                <a:solidFill>
                  <a:srgbClr val="000000"/>
                </a:solidFill>
              </a:rPr>
              <a:t>Use against target, linked to learning outcomes</a:t>
            </a:r>
            <a:endParaRPr lang="en-US" sz="1400" dirty="0"/>
          </a:p>
          <a:p>
            <a:pPr marL="203200" indent="-203200">
              <a:spcAft>
                <a:spcPts val="600"/>
              </a:spcAft>
              <a:buSzPct val="100000"/>
              <a:buChar char="•"/>
            </a:pPr>
            <a:r>
              <a:rPr lang="en-US" sz="1400" dirty="0">
                <a:solidFill>
                  <a:srgbClr val="000000"/>
                </a:solidFill>
              </a:rPr>
              <a:t>Gaps: not working, unused, under-used</a:t>
            </a:r>
            <a:endParaRPr lang="en-US" sz="1400" dirty="0"/>
          </a:p>
        </p:txBody>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transition spd="med">
    <p:fade/>
  </p:transition>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766560" cy="1188720"/>
          </a:xfrm>
          <a:prstGeom prst="rect">
            <a:avLst/>
          </a:prstGeom>
          <a:noFill/>
          <a:ln/>
        </p:spPr>
        <p:txBody>
          <a:bodyPr wrap="square" lIns="0" tIns="0" rIns="0" bIns="0" rtlCol="0" anchor="b"/>
          <a:lstStyle/>
          <a:p>
            <a:pPr algn="l" indent="0" marL="0">
              <a:buNone/>
            </a:pPr>
            <a:r>
              <a:rPr lang="en-US" sz="4400" b="1" dirty="0">
                <a:solidFill>
                  <a:schemeClr val="bg1"/>
                </a:solidFill>
                <a:latin typeface="Cambria" pitchFamily="34" charset="0"/>
                <a:ea typeface="Cambria" pitchFamily="34" charset="-122"/>
                <a:cs typeface="Cambria" pitchFamily="34" charset="-120"/>
              </a:rPr>
              <a:t>For teachers</a:t>
            </a:r>
            <a:endParaRPr lang="en-US" sz="4400" dirty="0"/>
          </a:p>
        </p:txBody>
      </p:sp>
      <p:sp>
        <p:nvSpPr>
          <p:cNvPr id="3" name="Text 0"/>
          <p:cNvSpPr/>
          <p:nvPr>
            <p:ph idx="101" type="body" hasCustomPrompt="1"/>
          </p:nvPr>
        </p:nvSpPr>
        <p:spPr>
          <a:xfrm>
            <a:off x="731520" y="2788920"/>
            <a:ext cx="6400800" cy="1097280"/>
          </a:xfrm>
          <a:prstGeom prst="rect">
            <a:avLst/>
          </a:prstGeom>
          <a:noFill/>
          <a:ln/>
        </p:spPr>
        <p:txBody>
          <a:bodyPr wrap="square" lIns="0" tIns="0" rIns="0" bIns="0" rtlCol="0" anchor="t"/>
          <a:lstStyle/>
          <a:p>
            <a:pPr indent="0" marL="0">
              <a:buNone/>
            </a:pPr>
            <a:r>
              <a:rPr lang="en-US" sz="1800" dirty="0">
                <a:solidFill>
                  <a:schemeClr val="bg2"/>
                </a:solidFill>
              </a:rPr>
              <a:t>Less paperwork, more teaching</a:t>
            </a:r>
            <a:endParaRPr lang="en-US" sz="1800" dirty="0"/>
          </a:p>
        </p:txBody>
      </p:sp>
      <p:sp>
        <p:nvSpPr>
          <p:cNvPr id="4" name="Text 2"/>
          <p:cNvSpPr txBox="1"/>
          <p:nvPr/>
        </p:nvSpPr>
        <p:spPr>
          <a:xfrm>
            <a:off x="731520" y="685800"/>
            <a:ext cx="1828800" cy="731520"/>
          </a:xfrm>
          <a:prstGeom prst="rect">
            <a:avLst/>
          </a:prstGeom>
          <a:noFill/>
          <a:ln/>
        </p:spPr>
        <p:txBody>
          <a:bodyPr wrap="square" lIns="0" tIns="0" rIns="0" bIns="0" rtlCol="0" anchor="ctr"/>
          <a:lstStyle/>
          <a:p>
            <a:pPr indent="0" marL="0">
              <a:buNone/>
            </a:pPr>
            <a:r>
              <a:rPr lang="en-US" sz="4000" b="1" dirty="0">
                <a:solidFill>
                  <a:srgbClr val="0E8A6E"/>
                </a:solidFill>
                <a:latin typeface="Cambria" pitchFamily="34" charset="0"/>
                <a:ea typeface="Cambria" pitchFamily="34" charset="-122"/>
                <a:cs typeface="Cambria" pitchFamily="34" charset="-120"/>
              </a:rPr>
              <a:t>03</a:t>
            </a:r>
            <a:endParaRPr lang="en-US" sz="4000" dirty="0"/>
          </a:p>
        </p:txBody>
      </p:sp>
      <p:sp>
        <p:nvSpPr>
          <p:cNvPr id="5" name="Text 3"/>
          <p:cNvSpPr txBox="1"/>
          <p:nvPr/>
        </p:nvSpPr>
        <p:spPr>
          <a:xfrm>
            <a:off x="8001000" y="1417320"/>
            <a:ext cx="3474720" cy="320040"/>
          </a:xfrm>
          <a:prstGeom prst="rect">
            <a:avLst/>
          </a:prstGeom>
          <a:noFill/>
          <a:ln/>
        </p:spPr>
        <p:txBody>
          <a:bodyPr wrap="square" lIns="0" tIns="0" rIns="0" bIns="0" rtlCol="0" anchor="t"/>
          <a:lstStyle/>
          <a:p>
            <a:pPr indent="0" marL="0">
              <a:buNone/>
            </a:pPr>
            <a:r>
              <a:rPr lang="en-US" sz="1200" b="1" spc="200" kern="0" dirty="0">
                <a:solidFill>
                  <a:srgbClr val="C9921A"/>
                </a:solidFill>
              </a:rPr>
              <a:t>IN THIS SECTION</a:t>
            </a:r>
            <a:endParaRPr lang="en-US" sz="1200" dirty="0"/>
          </a:p>
        </p:txBody>
      </p:sp>
      <p:sp>
        <p:nvSpPr>
          <p:cNvPr id="6" name="menu-saathi"/>
          <p:cNvSpPr/>
          <p:nvPr/>
        </p:nvSpPr>
        <p:spPr>
          <a:xfrm>
            <a:off x="8001000" y="1828800"/>
            <a:ext cx="3611880" cy="457200"/>
          </a:xfrm>
          <a:prstGeom prst="roundRect">
            <a:avLst>
              <a:gd name="adj" fmla="val 20000"/>
            </a:avLst>
          </a:prstGeom>
          <a:solidFill>
            <a:srgbClr val="134E47"/>
          </a:solidFill>
          <a:ln>
            <a:solidFill>
              <a:srgbClr val="134E47"/>
            </a:solidFill>
          </a:ln>
        </p:spPr>
        <p:txBody>
          <a:bodyPr wrap="square" lIns="0" tIns="152400" rIns="127000" bIns="0" rtlCol="0" anchor="ctr"/>
          <a:lstStyle/>
          <a:p>
            <a:pPr algn="l" indent="0" marL="0">
              <a:buNone/>
            </a:pPr>
            <a:r>
              <a:rPr lang="en-US" sz="1300" dirty="0">
                <a:solidFill>
                  <a:srgbClr val="FFFFFF"/>
                </a:solidFill>
              </a:rPr>
              <a:t>01   Teacher Saathi: plans, lessons, doubts  →</a:t>
            </a:r>
            <a:endParaRPr lang="en-US" sz="1300" dirty="0"/>
          </a:p>
        </p:txBody>
      </p:sp>
      <p:sp>
        <p:nvSpPr>
          <p:cNvPr id="7" name="menu-link-saathi">
            <a:hlinkClick r:id="rId1" tooltip="Teacher Saathi: plans, lessons, doubts" action="ppaction://hlinksldjump"/>
          </p:cNvPr>
          <p:cNvSpPr/>
          <p:nvPr/>
        </p:nvSpPr>
        <p:spPr>
          <a:xfrm>
            <a:off x="8001000" y="1828800"/>
            <a:ext cx="3611880" cy="457200"/>
          </a:xfrm>
          <a:prstGeom prst="rect">
            <a:avLst/>
          </a:prstGeom>
          <a:solidFill>
            <a:srgbClr val="FFFFFF">
              <a:alpha val="0"/>
            </a:srgbClr>
          </a:solidFill>
          <a:ln w="12700">
            <a:solidFill>
              <a:srgbClr val="FFFFFF">
                <a:alpha val="0"/>
              </a:srgbClr>
            </a:solidFill>
            <a:prstDash val="solid"/>
          </a:ln>
        </p:spPr>
      </p:sp>
      <p:sp>
        <p:nvSpPr>
          <p:cNvPr id="8" name="menu-pariksha"/>
          <p:cNvSpPr/>
          <p:nvPr/>
        </p:nvSpPr>
        <p:spPr>
          <a:xfrm>
            <a:off x="8001000" y="2395728"/>
            <a:ext cx="3611880" cy="457200"/>
          </a:xfrm>
          <a:prstGeom prst="roundRect">
            <a:avLst>
              <a:gd name="adj" fmla="val 20000"/>
            </a:avLst>
          </a:prstGeom>
          <a:solidFill>
            <a:srgbClr val="134E47"/>
          </a:solidFill>
          <a:ln>
            <a:solidFill>
              <a:srgbClr val="134E47"/>
            </a:solidFill>
          </a:ln>
        </p:spPr>
        <p:txBody>
          <a:bodyPr wrap="square" lIns="0" tIns="152400" rIns="127000" bIns="0" rtlCol="0" anchor="ctr"/>
          <a:lstStyle/>
          <a:p>
            <a:pPr algn="l" indent="0" marL="0">
              <a:buNone/>
            </a:pPr>
            <a:r>
              <a:rPr lang="en-US" sz="1300" dirty="0">
                <a:solidFill>
                  <a:srgbClr val="FFFFFF"/>
                </a:solidFill>
              </a:rPr>
              <a:t>02   Pariksha Engine and weekly priorities  →</a:t>
            </a:r>
            <a:endParaRPr lang="en-US" sz="1300" dirty="0"/>
          </a:p>
        </p:txBody>
      </p:sp>
      <p:sp>
        <p:nvSpPr>
          <p:cNvPr id="9" name="menu-link-pariksha">
            <a:hlinkClick r:id="rId2" tooltip="Pariksha Engine and weekly priorities" action="ppaction://hlinksldjump"/>
          </p:cNvPr>
          <p:cNvSpPr/>
          <p:nvPr/>
        </p:nvSpPr>
        <p:spPr>
          <a:xfrm>
            <a:off x="8001000" y="2395728"/>
            <a:ext cx="3611880" cy="457200"/>
          </a:xfrm>
          <a:prstGeom prst="rect">
            <a:avLst/>
          </a:prstGeom>
          <a:solidFill>
            <a:srgbClr val="FFFFFF">
              <a:alpha val="0"/>
            </a:srgbClr>
          </a:solidFill>
          <a:ln w="12700">
            <a:solidFill>
              <a:srgbClr val="FFFFFF">
                <a:alpha val="0"/>
              </a:srgbClr>
            </a:solidFill>
            <a:prstDash val="solid"/>
          </a:ln>
        </p:spPr>
      </p:sp>
      <p:sp>
        <p:nvSpPr>
          <p:cNvPr id="10" name="menu-trackrec"/>
          <p:cNvSpPr/>
          <p:nvPr/>
        </p:nvSpPr>
        <p:spPr>
          <a:xfrm>
            <a:off x="8001000" y="2962656"/>
            <a:ext cx="3611880" cy="457200"/>
          </a:xfrm>
          <a:prstGeom prst="roundRect">
            <a:avLst>
              <a:gd name="adj" fmla="val 20000"/>
            </a:avLst>
          </a:prstGeom>
          <a:solidFill>
            <a:srgbClr val="134E47"/>
          </a:solidFill>
          <a:ln>
            <a:solidFill>
              <a:srgbClr val="134E47"/>
            </a:solidFill>
          </a:ln>
        </p:spPr>
        <p:txBody>
          <a:bodyPr wrap="square" lIns="0" tIns="152400" rIns="127000" bIns="0" rtlCol="0" anchor="ctr"/>
          <a:lstStyle/>
          <a:p>
            <a:pPr algn="l" indent="0" marL="0">
              <a:buNone/>
            </a:pPr>
            <a:r>
              <a:rPr lang="en-US" sz="1300" dirty="0">
                <a:solidFill>
                  <a:srgbClr val="FFFFFF"/>
                </a:solidFill>
              </a:rPr>
              <a:t>03   Follow-up, digital resources, recognition  →</a:t>
            </a:r>
            <a:endParaRPr lang="en-US" sz="1300" dirty="0"/>
          </a:p>
        </p:txBody>
      </p:sp>
      <p:sp>
        <p:nvSpPr>
          <p:cNvPr id="11" name="menu-link-trackrec">
            <a:hlinkClick r:id="rId3" tooltip="Follow-up, digital resources, recognition" action="ppaction://hlinksldjump"/>
          </p:cNvPr>
          <p:cNvSpPr/>
          <p:nvPr/>
        </p:nvSpPr>
        <p:spPr>
          <a:xfrm>
            <a:off x="8001000" y="2962656"/>
            <a:ext cx="3611880" cy="457200"/>
          </a:xfrm>
          <a:prstGeom prst="rect">
            <a:avLst/>
          </a:prstGeom>
          <a:solidFill>
            <a:srgbClr val="FFFFFF">
              <a:alpha val="0"/>
            </a:srgbClr>
          </a:solidFill>
          <a:ln w="12700">
            <a:solidFill>
              <a:srgbClr val="FFFFFF">
                <a:alpha val="0"/>
              </a:srgbClr>
            </a:solidFill>
            <a:prstDash val="solid"/>
          </a:ln>
        </p:spPr>
      </p:sp>
      <p:sp>
        <p:nvSpPr>
          <p:cNvPr id="12" name="icon-bg-FaChalkboardUser"/>
          <p:cNvSpPr/>
          <p:nvPr/>
        </p:nvSpPr>
        <p:spPr>
          <a:xfrm>
            <a:off x="731520" y="4206240"/>
            <a:ext cx="1097280" cy="1097280"/>
          </a:xfrm>
          <a:prstGeom prst="ellipse">
            <a:avLst/>
          </a:prstGeom>
          <a:solidFill>
            <a:srgbClr val="0E8A6E"/>
          </a:solidFill>
          <a:ln w="12700">
            <a:solidFill>
              <a:srgbClr val="0E8A6E"/>
            </a:solidFill>
            <a:prstDash val="solid"/>
          </a:ln>
        </p:spPr>
      </p:sp>
      <p:pic>
        <p:nvPicPr>
          <p:cNvPr id="13" name="icon-FaChalkboardUser" descr="preencoded.png">    </p:cNvPr>
          <p:cNvPicPr>
            <a:picLocks noChangeAspect="1"/>
          </p:cNvPicPr>
          <p:nvPr/>
        </p:nvPicPr>
        <p:blipFill>
          <a:blip r:embed="rId4"/>
          <a:stretch>
            <a:fillRect/>
          </a:stretch>
        </p:blipFill>
        <p:spPr>
          <a:xfrm>
            <a:off x="1005840" y="4480560"/>
            <a:ext cx="548640" cy="548640"/>
          </a:xfrm>
          <a:prstGeom prst="rect">
            <a:avLst/>
          </a:prstGeom>
        </p:spPr>
      </p:pic>
      <p:sp>
        <p:nvSpPr>
          <p:cNvPr id="14" name="button--Agenda"/>
          <p:cNvSpPr/>
          <p:nvPr/>
        </p:nvSpPr>
        <p:spPr>
          <a:xfrm>
            <a:off x="731520" y="5760720"/>
            <a:ext cx="1280160" cy="384048"/>
          </a:xfrm>
          <a:prstGeom prst="roundRect">
            <a:avLst>
              <a:gd name="adj" fmla="val 54762"/>
            </a:avLst>
          </a:prstGeom>
          <a:solidFill>
            <a:srgbClr val="134E47"/>
          </a:solidFill>
          <a:ln>
            <a:solidFill>
              <a:srgbClr val="134E47"/>
            </a:solidFill>
          </a:ln>
        </p:spPr>
        <p:txBody>
          <a:bodyPr wrap="square" lIns="0" tIns="0" rIns="0" bIns="0" rtlCol="0" anchor="ctr"/>
          <a:lstStyle/>
          <a:p>
            <a:pPr algn="ctr" indent="0" marL="0">
              <a:buNone/>
            </a:pPr>
            <a:r>
              <a:rPr lang="en-US" sz="1200" b="1" dirty="0">
                <a:solidFill>
                  <a:srgbClr val="FFFFFF"/>
                </a:solidFill>
              </a:rPr>
              <a:t>☰  Agenda</a:t>
            </a:r>
            <a:endParaRPr lang="en-US" sz="1200" dirty="0"/>
          </a:p>
        </p:txBody>
      </p:sp>
      <p:sp>
        <p:nvSpPr>
          <p:cNvPr id="15" name="button-link--Agenda">
            <a:hlinkClick r:id="rId5" tooltip="Back to the agenda" action="ppaction://hlinksldjump"/>
          </p:cNvPr>
          <p:cNvSpPr/>
          <p:nvPr/>
        </p:nvSpPr>
        <p:spPr>
          <a:xfrm>
            <a:off x="731520" y="5760720"/>
            <a:ext cx="1280160" cy="384048"/>
          </a:xfrm>
          <a:prstGeom prst="rect">
            <a:avLst/>
          </a:prstGeom>
          <a:solidFill>
            <a:srgbClr val="FFFFFF">
              <a:alpha val="0"/>
            </a:srgbClr>
          </a:solidFill>
          <a:ln w="12700">
            <a:solidFill>
              <a:srgbClr val="FFFFFF">
                <a:alpha val="0"/>
              </a:srgbClr>
            </a:solidFill>
            <a:prstDash val="solid"/>
          </a:ln>
        </p:spPr>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11</a:t>
            </a:fld>
            <a:endParaRPr lang="en-US"/>
          </a:p>
        </p:txBody>
      </p:sp>
    </p:spTree>
  </p:cSld>
  <p:clrMapOvr>
    <a:masterClrMapping/>
  </p:clrMapOvr>
  <p:transition spd="med">
    <p:fade/>
  </p:transition>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59536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Teacher Saathi: AI drafts, the teacher decides</a:t>
            </a:r>
            <a:endParaRPr lang="en-US" sz="3000" dirty="0"/>
          </a:p>
        </p:txBody>
      </p:sp>
      <p:sp>
        <p:nvSpPr>
          <p:cNvPr id="3" name="button--Agenda"/>
          <p:cNvSpPr/>
          <p:nvPr/>
        </p:nvSpPr>
        <p:spPr>
          <a:xfrm>
            <a:off x="9372600" y="502920"/>
            <a:ext cx="1097280" cy="365760"/>
          </a:xfrm>
          <a:prstGeom prst="roundRect">
            <a:avLst>
              <a:gd name="adj" fmla="val 57500"/>
            </a:avLst>
          </a:prstGeom>
          <a:solidFill>
            <a:srgbClr val="EFF5F2"/>
          </a:solidFill>
          <a:ln>
            <a:solidFill>
              <a:srgbClr val="EFF5F2"/>
            </a:solidFill>
          </a:ln>
        </p:spPr>
        <p:txBody>
          <a:bodyPr wrap="square" lIns="0" tIns="0" rIns="0" bIns="0" rtlCol="0" anchor="ctr"/>
          <a:lstStyle/>
          <a:p>
            <a:pPr algn="ctr" indent="0" marL="0">
              <a:buNone/>
            </a:pPr>
            <a:r>
              <a:rPr lang="en-US" sz="1200" b="1" dirty="0">
                <a:solidFill>
                  <a:srgbClr val="0B3B36"/>
                </a:solidFill>
              </a:rPr>
              <a:t>☰  Agenda</a:t>
            </a:r>
            <a:endParaRPr lang="en-US" sz="1200" dirty="0"/>
          </a:p>
        </p:txBody>
      </p:sp>
      <p:sp>
        <p:nvSpPr>
          <p:cNvPr id="4" name="button-link--Agenda">
            <a:hlinkClick r:id="rId1" tooltip="Back to the agenda" action="ppaction://hlinksldjump"/>
          </p:cNvPr>
          <p:cNvSpPr/>
          <p:nvPr/>
        </p:nvSpPr>
        <p:spPr>
          <a:xfrm>
            <a:off x="9372600" y="502920"/>
            <a:ext cx="1097280" cy="365760"/>
          </a:xfrm>
          <a:prstGeom prst="rect">
            <a:avLst/>
          </a:prstGeom>
          <a:solidFill>
            <a:srgbClr val="FFFFFF">
              <a:alpha val="0"/>
            </a:srgbClr>
          </a:solidFill>
          <a:ln w="12700">
            <a:solidFill>
              <a:srgbClr val="FFFFFF">
                <a:alpha val="0"/>
              </a:srgbClr>
            </a:solidFill>
            <a:prstDash val="solid"/>
          </a:ln>
        </p:spPr>
      </p:sp>
      <p:sp>
        <p:nvSpPr>
          <p:cNvPr id="5" name="button-Live-demo-"/>
          <p:cNvSpPr/>
          <p:nvPr/>
        </p:nvSpPr>
        <p:spPr>
          <a:xfrm>
            <a:off x="10561320" y="502920"/>
            <a:ext cx="1097280" cy="365760"/>
          </a:xfrm>
          <a:prstGeom prst="roundRect">
            <a:avLst>
              <a:gd name="adj" fmla="val 57500"/>
            </a:avLst>
          </a:prstGeom>
          <a:solidFill>
            <a:srgbClr val="0B3B36"/>
          </a:solidFill>
          <a:ln>
            <a:solidFill>
              <a:srgbClr val="0B3B36"/>
            </a:solidFill>
          </a:ln>
        </p:spPr>
        <p:txBody>
          <a:bodyPr wrap="square" lIns="0" tIns="0" rIns="0" bIns="0" rtlCol="0" anchor="ctr"/>
          <a:lstStyle/>
          <a:p>
            <a:pPr algn="ctr" indent="0" marL="0">
              <a:buNone/>
            </a:pPr>
            <a:r>
              <a:rPr lang="en-US" sz="1200" b="1" dirty="0">
                <a:solidFill>
                  <a:srgbClr val="FFFFFF"/>
                </a:solidFill>
              </a:rPr>
              <a:t>Live demo ↗</a:t>
            </a:r>
            <a:endParaRPr lang="en-US" sz="1200" dirty="0"/>
          </a:p>
        </p:txBody>
      </p:sp>
      <p:sp>
        <p:nvSpPr>
          <p:cNvPr id="6" name="button-link-Live-demo-">
            <a:hlinkClick r:id="rId2" tooltip="Open the live demo"/>
          </p:cNvPr>
          <p:cNvSpPr/>
          <p:nvPr/>
        </p:nvSpPr>
        <p:spPr>
          <a:xfrm>
            <a:off x="10561320" y="502920"/>
            <a:ext cx="1097280" cy="365760"/>
          </a:xfrm>
          <a:prstGeom prst="rect">
            <a:avLst/>
          </a:prstGeom>
          <a:solidFill>
            <a:srgbClr val="FFFFFF">
              <a:alpha val="0"/>
            </a:srgbClr>
          </a:solidFill>
          <a:ln w="12700">
            <a:solidFill>
              <a:srgbClr val="FFFFFF">
                <a:alpha val="0"/>
              </a:srgbClr>
            </a:solidFill>
            <a:prstDash val="solid"/>
          </a:ln>
        </p:spPr>
      </p:sp>
      <p:sp>
        <p:nvSpPr>
          <p:cNvPr id="7" name="frame-teacher-saathi.png"/>
          <p:cNvSpPr/>
          <p:nvPr/>
        </p:nvSpPr>
        <p:spPr>
          <a:xfrm>
            <a:off x="493776" y="1271016"/>
            <a:ext cx="7059168" cy="4453128"/>
          </a:xfrm>
          <a:prstGeom prst="roundRect">
            <a:avLst>
              <a:gd name="adj" fmla="val 1643"/>
            </a:avLst>
          </a:prstGeom>
          <a:solidFill>
            <a:srgbClr val="FFFFFF"/>
          </a:solidFill>
          <a:ln w="9525">
            <a:solidFill>
              <a:srgbClr val="D5DEDA"/>
            </a:solidFill>
            <a:prstDash val="solid"/>
          </a:ln>
          <a:effectLst>
            <a:outerShdw sx="100000" sy="100000" kx="0" ky="0" algn="bl" rotWithShape="0" blurRad="101600" dist="25400" dir="5400000">
              <a:srgbClr val="17242A">
                <a:alpha val="16000"/>
              </a:srgbClr>
            </a:outerShdw>
          </a:effectLst>
        </p:spPr>
      </p:sp>
      <p:pic>
        <p:nvPicPr>
          <p:cNvPr id="8" name="screenshot-teacher-saathi.png" descr="C:\Users\Niladri Ghosh\AppData\Local\Temp\claude\c--Users-Niladri-Ghosh-OneDrive-Desktop-Python-Workspace-Hamar-Shiksha\f3e4742b-a4be-48e9-8e6b-760e759cec7c\scratchpad\deck2\shots\teacher-saathi.png">    </p:cNvPr>
          <p:cNvPicPr>
            <a:picLocks noChangeAspect="1"/>
          </p:cNvPicPr>
          <p:nvPr/>
        </p:nvPicPr>
        <p:blipFill>
          <a:blip r:embed="rId3"/>
          <a:stretch>
            <a:fillRect/>
          </a:stretch>
        </p:blipFill>
        <p:spPr>
          <a:xfrm>
            <a:off x="548640" y="1325880"/>
            <a:ext cx="6949440" cy="4343400"/>
          </a:xfrm>
          <a:prstGeom prst="rect">
            <a:avLst/>
          </a:prstGeom>
        </p:spPr>
      </p:pic>
      <p:sp>
        <p:nvSpPr>
          <p:cNvPr id="9" name="icon-bg-FaCalendarCheck"/>
          <p:cNvSpPr/>
          <p:nvPr/>
        </p:nvSpPr>
        <p:spPr>
          <a:xfrm>
            <a:off x="8001000" y="1325880"/>
            <a:ext cx="548640" cy="548640"/>
          </a:xfrm>
          <a:prstGeom prst="ellipse">
            <a:avLst/>
          </a:prstGeom>
          <a:solidFill>
            <a:srgbClr val="0E8A6E"/>
          </a:solidFill>
          <a:ln w="12700">
            <a:solidFill>
              <a:srgbClr val="0E8A6E"/>
            </a:solidFill>
            <a:prstDash val="solid"/>
          </a:ln>
        </p:spPr>
      </p:sp>
      <p:pic>
        <p:nvPicPr>
          <p:cNvPr id="10" name="icon-FaCalendarCheck" descr="preencoded.png">    </p:cNvPr>
          <p:cNvPicPr>
            <a:picLocks noChangeAspect="1"/>
          </p:cNvPicPr>
          <p:nvPr/>
        </p:nvPicPr>
        <p:blipFill>
          <a:blip r:embed="rId4"/>
          <a:stretch>
            <a:fillRect/>
          </a:stretch>
        </p:blipFill>
        <p:spPr>
          <a:xfrm>
            <a:off x="8138160" y="1463040"/>
            <a:ext cx="274320" cy="274320"/>
          </a:xfrm>
          <a:prstGeom prst="rect">
            <a:avLst/>
          </a:prstGeom>
        </p:spPr>
      </p:pic>
      <p:sp>
        <p:nvSpPr>
          <p:cNvPr id="11" name="Text 7"/>
          <p:cNvSpPr txBox="1"/>
          <p:nvPr/>
        </p:nvSpPr>
        <p:spPr>
          <a:xfrm>
            <a:off x="8686800" y="1325880"/>
            <a:ext cx="2971800" cy="777240"/>
          </a:xfrm>
          <a:prstGeom prst="rect">
            <a:avLst/>
          </a:prstGeom>
          <a:noFill/>
          <a:ln/>
        </p:spPr>
        <p:txBody>
          <a:bodyPr wrap="square" lIns="0" tIns="0" rIns="0" bIns="0" rtlCol="0" anchor="ctr"/>
          <a:lstStyle/>
          <a:p>
            <a:pPr indent="0" marL="0">
              <a:buNone/>
            </a:pPr>
            <a:r>
              <a:rPr lang="en-US" sz="1400" dirty="0">
                <a:solidFill>
                  <a:srgbClr val="17242A"/>
                </a:solidFill>
              </a:rPr>
              <a:t>Year, month and week plan of learning outcomes</a:t>
            </a:r>
            <a:endParaRPr lang="en-US" sz="1400" dirty="0"/>
          </a:p>
        </p:txBody>
      </p:sp>
      <p:sp>
        <p:nvSpPr>
          <p:cNvPr id="12" name="icon-bg-FaFileLines"/>
          <p:cNvSpPr/>
          <p:nvPr/>
        </p:nvSpPr>
        <p:spPr>
          <a:xfrm>
            <a:off x="8001000" y="2240280"/>
            <a:ext cx="548640" cy="548640"/>
          </a:xfrm>
          <a:prstGeom prst="ellipse">
            <a:avLst/>
          </a:prstGeom>
          <a:solidFill>
            <a:srgbClr val="0E8A6E"/>
          </a:solidFill>
          <a:ln w="12700">
            <a:solidFill>
              <a:srgbClr val="0E8A6E"/>
            </a:solidFill>
            <a:prstDash val="solid"/>
          </a:ln>
        </p:spPr>
      </p:sp>
      <p:pic>
        <p:nvPicPr>
          <p:cNvPr id="13" name="icon-FaFileLines" descr="preencoded.png">    </p:cNvPr>
          <p:cNvPicPr>
            <a:picLocks noChangeAspect="1"/>
          </p:cNvPicPr>
          <p:nvPr/>
        </p:nvPicPr>
        <p:blipFill>
          <a:blip r:embed="rId5"/>
          <a:stretch>
            <a:fillRect/>
          </a:stretch>
        </p:blipFill>
        <p:spPr>
          <a:xfrm>
            <a:off x="8138160" y="2377440"/>
            <a:ext cx="274320" cy="274320"/>
          </a:xfrm>
          <a:prstGeom prst="rect">
            <a:avLst/>
          </a:prstGeom>
        </p:spPr>
      </p:pic>
      <p:sp>
        <p:nvSpPr>
          <p:cNvPr id="14" name="Text 9"/>
          <p:cNvSpPr txBox="1"/>
          <p:nvPr/>
        </p:nvSpPr>
        <p:spPr>
          <a:xfrm>
            <a:off x="8686800" y="2240280"/>
            <a:ext cx="2971800" cy="777240"/>
          </a:xfrm>
          <a:prstGeom prst="rect">
            <a:avLst/>
          </a:prstGeom>
          <a:noFill/>
          <a:ln/>
        </p:spPr>
        <p:txBody>
          <a:bodyPr wrap="square" lIns="0" tIns="0" rIns="0" bIns="0" rtlCol="0" anchor="ctr"/>
          <a:lstStyle/>
          <a:p>
            <a:pPr indent="0" marL="0">
              <a:buNone/>
            </a:pPr>
            <a:r>
              <a:rPr lang="en-US" sz="1400" dirty="0">
                <a:solidFill>
                  <a:srgbClr val="17242A"/>
                </a:solidFill>
              </a:rPr>
              <a:t>Lesson plans and worksheets from the textbook, with page citations</a:t>
            </a:r>
            <a:endParaRPr lang="en-US" sz="1400" dirty="0"/>
          </a:p>
        </p:txBody>
      </p:sp>
      <p:sp>
        <p:nvSpPr>
          <p:cNvPr id="15" name="icon-bg-FaComments"/>
          <p:cNvSpPr/>
          <p:nvPr/>
        </p:nvSpPr>
        <p:spPr>
          <a:xfrm>
            <a:off x="8001000" y="3154680"/>
            <a:ext cx="548640" cy="548640"/>
          </a:xfrm>
          <a:prstGeom prst="ellipse">
            <a:avLst/>
          </a:prstGeom>
          <a:solidFill>
            <a:srgbClr val="0E8A6E"/>
          </a:solidFill>
          <a:ln w="12700">
            <a:solidFill>
              <a:srgbClr val="0E8A6E"/>
            </a:solidFill>
            <a:prstDash val="solid"/>
          </a:ln>
        </p:spPr>
      </p:sp>
      <p:pic>
        <p:nvPicPr>
          <p:cNvPr id="16" name="icon-FaComments" descr="preencoded.png">    </p:cNvPr>
          <p:cNvPicPr>
            <a:picLocks noChangeAspect="1"/>
          </p:cNvPicPr>
          <p:nvPr/>
        </p:nvPicPr>
        <p:blipFill>
          <a:blip r:embed="rId6"/>
          <a:stretch>
            <a:fillRect/>
          </a:stretch>
        </p:blipFill>
        <p:spPr>
          <a:xfrm>
            <a:off x="8138160" y="3291840"/>
            <a:ext cx="274320" cy="274320"/>
          </a:xfrm>
          <a:prstGeom prst="rect">
            <a:avLst/>
          </a:prstGeom>
        </p:spPr>
      </p:pic>
      <p:sp>
        <p:nvSpPr>
          <p:cNvPr id="17" name="Text 11"/>
          <p:cNvSpPr txBox="1"/>
          <p:nvPr/>
        </p:nvSpPr>
        <p:spPr>
          <a:xfrm>
            <a:off x="8686800" y="3154680"/>
            <a:ext cx="2971800" cy="777240"/>
          </a:xfrm>
          <a:prstGeom prst="rect">
            <a:avLst/>
          </a:prstGeom>
          <a:noFill/>
          <a:ln/>
        </p:spPr>
        <p:txBody>
          <a:bodyPr wrap="square" lIns="0" tIns="0" rIns="0" bIns="0" rtlCol="0" anchor="ctr"/>
          <a:lstStyle/>
          <a:p>
            <a:pPr indent="0" marL="0">
              <a:buNone/>
            </a:pPr>
            <a:r>
              <a:rPr lang="en-US" sz="1400" dirty="0">
                <a:solidFill>
                  <a:srgbClr val="17242A"/>
                </a:solidFill>
              </a:rPr>
              <a:t>Ask Saathi any curriculum question, by voice too</a:t>
            </a:r>
            <a:endParaRPr lang="en-US" sz="1400" dirty="0"/>
          </a:p>
        </p:txBody>
      </p:sp>
      <p:sp>
        <p:nvSpPr>
          <p:cNvPr id="18" name="icon-bg-FaPersonChalkboard"/>
          <p:cNvSpPr/>
          <p:nvPr/>
        </p:nvSpPr>
        <p:spPr>
          <a:xfrm>
            <a:off x="8001000" y="4069080"/>
            <a:ext cx="548640" cy="548640"/>
          </a:xfrm>
          <a:prstGeom prst="ellipse">
            <a:avLst/>
          </a:prstGeom>
          <a:solidFill>
            <a:srgbClr val="0E8A6E"/>
          </a:solidFill>
          <a:ln w="12700">
            <a:solidFill>
              <a:srgbClr val="0E8A6E"/>
            </a:solidFill>
            <a:prstDash val="solid"/>
          </a:ln>
        </p:spPr>
      </p:sp>
      <p:pic>
        <p:nvPicPr>
          <p:cNvPr id="19" name="icon-FaPersonChalkboard" descr="preencoded.png">    </p:cNvPr>
          <p:cNvPicPr>
            <a:picLocks noChangeAspect="1"/>
          </p:cNvPicPr>
          <p:nvPr/>
        </p:nvPicPr>
        <p:blipFill>
          <a:blip r:embed="rId7"/>
          <a:stretch>
            <a:fillRect/>
          </a:stretch>
        </p:blipFill>
        <p:spPr>
          <a:xfrm>
            <a:off x="8138160" y="4206240"/>
            <a:ext cx="274320" cy="274320"/>
          </a:xfrm>
          <a:prstGeom prst="rect">
            <a:avLst/>
          </a:prstGeom>
        </p:spPr>
      </p:pic>
      <p:sp>
        <p:nvSpPr>
          <p:cNvPr id="20" name="Text 13"/>
          <p:cNvSpPr txBox="1"/>
          <p:nvPr/>
        </p:nvSpPr>
        <p:spPr>
          <a:xfrm>
            <a:off x="8686800" y="4069080"/>
            <a:ext cx="2971800" cy="777240"/>
          </a:xfrm>
          <a:prstGeom prst="rect">
            <a:avLst/>
          </a:prstGeom>
          <a:noFill/>
          <a:ln/>
        </p:spPr>
        <p:txBody>
          <a:bodyPr wrap="square" lIns="0" tIns="0" rIns="0" bIns="0" rtlCol="0" anchor="ctr"/>
          <a:lstStyle/>
          <a:p>
            <a:pPr indent="0" marL="0">
              <a:buNone/>
            </a:pPr>
            <a:r>
              <a:rPr lang="en-US" sz="1400" dirty="0">
                <a:solidFill>
                  <a:srgbClr val="17242A"/>
                </a:solidFill>
              </a:rPr>
              <a:t>Substitute lesson when a teacher is absent</a:t>
            </a:r>
            <a:endParaRPr lang="en-US" sz="1400" dirty="0"/>
          </a:p>
        </p:txBody>
      </p:sp>
      <p:sp>
        <p:nvSpPr>
          <p:cNvPr id="21" name="icon-bg-FaGraduationCap"/>
          <p:cNvSpPr/>
          <p:nvPr/>
        </p:nvSpPr>
        <p:spPr>
          <a:xfrm>
            <a:off x="8001000" y="4983480"/>
            <a:ext cx="548640" cy="548640"/>
          </a:xfrm>
          <a:prstGeom prst="ellipse">
            <a:avLst/>
          </a:prstGeom>
          <a:solidFill>
            <a:srgbClr val="0E8A6E"/>
          </a:solidFill>
          <a:ln w="12700">
            <a:solidFill>
              <a:srgbClr val="0E8A6E"/>
            </a:solidFill>
            <a:prstDash val="solid"/>
          </a:ln>
        </p:spPr>
      </p:sp>
      <p:pic>
        <p:nvPicPr>
          <p:cNvPr id="22" name="icon-FaGraduationCap" descr="preencoded.png">    </p:cNvPr>
          <p:cNvPicPr>
            <a:picLocks noChangeAspect="1"/>
          </p:cNvPicPr>
          <p:nvPr/>
        </p:nvPicPr>
        <p:blipFill>
          <a:blip r:embed="rId8"/>
          <a:stretch>
            <a:fillRect/>
          </a:stretch>
        </p:blipFill>
        <p:spPr>
          <a:xfrm>
            <a:off x="8138160" y="5120640"/>
            <a:ext cx="274320" cy="274320"/>
          </a:xfrm>
          <a:prstGeom prst="rect">
            <a:avLst/>
          </a:prstGeom>
        </p:spPr>
      </p:pic>
      <p:sp>
        <p:nvSpPr>
          <p:cNvPr id="23" name="Text 15"/>
          <p:cNvSpPr txBox="1"/>
          <p:nvPr/>
        </p:nvSpPr>
        <p:spPr>
          <a:xfrm>
            <a:off x="8686800" y="4983480"/>
            <a:ext cx="2971800" cy="777240"/>
          </a:xfrm>
          <a:prstGeom prst="rect">
            <a:avLst/>
          </a:prstGeom>
          <a:noFill/>
          <a:ln/>
        </p:spPr>
        <p:txBody>
          <a:bodyPr wrap="square" lIns="0" tIns="0" rIns="0" bIns="0" rtlCol="0" anchor="ctr"/>
          <a:lstStyle/>
          <a:p>
            <a:pPr indent="0" marL="0">
              <a:buNone/>
            </a:pPr>
            <a:r>
              <a:rPr lang="en-US" sz="1400" dirty="0">
                <a:solidFill>
                  <a:srgbClr val="17242A"/>
                </a:solidFill>
              </a:rPr>
              <a:t>Micro-courses recommended from students' results</a:t>
            </a:r>
            <a:endParaRPr lang="en-US" sz="1400" dirty="0"/>
          </a:p>
        </p:txBody>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transition spd="med">
    <p:fade/>
  </p:transition>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59536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Pariksha Engine and the weekly priority list</a:t>
            </a:r>
            <a:endParaRPr lang="en-US" sz="3000" dirty="0"/>
          </a:p>
        </p:txBody>
      </p:sp>
      <p:sp>
        <p:nvSpPr>
          <p:cNvPr id="3" name="button--Agenda"/>
          <p:cNvSpPr/>
          <p:nvPr/>
        </p:nvSpPr>
        <p:spPr>
          <a:xfrm>
            <a:off x="9372600" y="502920"/>
            <a:ext cx="1097280" cy="365760"/>
          </a:xfrm>
          <a:prstGeom prst="roundRect">
            <a:avLst>
              <a:gd name="adj" fmla="val 57500"/>
            </a:avLst>
          </a:prstGeom>
          <a:solidFill>
            <a:srgbClr val="EFF5F2"/>
          </a:solidFill>
          <a:ln>
            <a:solidFill>
              <a:srgbClr val="EFF5F2"/>
            </a:solidFill>
          </a:ln>
        </p:spPr>
        <p:txBody>
          <a:bodyPr wrap="square" lIns="0" tIns="0" rIns="0" bIns="0" rtlCol="0" anchor="ctr"/>
          <a:lstStyle/>
          <a:p>
            <a:pPr algn="ctr" indent="0" marL="0">
              <a:buNone/>
            </a:pPr>
            <a:r>
              <a:rPr lang="en-US" sz="1200" b="1" dirty="0">
                <a:solidFill>
                  <a:srgbClr val="0B3B36"/>
                </a:solidFill>
              </a:rPr>
              <a:t>☰  Agenda</a:t>
            </a:r>
            <a:endParaRPr lang="en-US" sz="1200" dirty="0"/>
          </a:p>
        </p:txBody>
      </p:sp>
      <p:sp>
        <p:nvSpPr>
          <p:cNvPr id="4" name="button-link--Agenda">
            <a:hlinkClick r:id="rId1" tooltip="Back to the agenda" action="ppaction://hlinksldjump"/>
          </p:cNvPr>
          <p:cNvSpPr/>
          <p:nvPr/>
        </p:nvSpPr>
        <p:spPr>
          <a:xfrm>
            <a:off x="9372600" y="502920"/>
            <a:ext cx="1097280" cy="365760"/>
          </a:xfrm>
          <a:prstGeom prst="rect">
            <a:avLst/>
          </a:prstGeom>
          <a:solidFill>
            <a:srgbClr val="FFFFFF">
              <a:alpha val="0"/>
            </a:srgbClr>
          </a:solidFill>
          <a:ln w="12700">
            <a:solidFill>
              <a:srgbClr val="FFFFFF">
                <a:alpha val="0"/>
              </a:srgbClr>
            </a:solidFill>
            <a:prstDash val="solid"/>
          </a:ln>
        </p:spPr>
      </p:sp>
      <p:sp>
        <p:nvSpPr>
          <p:cNvPr id="5" name="button-Live-demo-"/>
          <p:cNvSpPr/>
          <p:nvPr/>
        </p:nvSpPr>
        <p:spPr>
          <a:xfrm>
            <a:off x="10561320" y="502920"/>
            <a:ext cx="1097280" cy="365760"/>
          </a:xfrm>
          <a:prstGeom prst="roundRect">
            <a:avLst>
              <a:gd name="adj" fmla="val 57500"/>
            </a:avLst>
          </a:prstGeom>
          <a:solidFill>
            <a:srgbClr val="0B3B36"/>
          </a:solidFill>
          <a:ln>
            <a:solidFill>
              <a:srgbClr val="0B3B36"/>
            </a:solidFill>
          </a:ln>
        </p:spPr>
        <p:txBody>
          <a:bodyPr wrap="square" lIns="0" tIns="0" rIns="0" bIns="0" rtlCol="0" anchor="ctr"/>
          <a:lstStyle/>
          <a:p>
            <a:pPr algn="ctr" indent="0" marL="0">
              <a:buNone/>
            </a:pPr>
            <a:r>
              <a:rPr lang="en-US" sz="1200" b="1" dirty="0">
                <a:solidFill>
                  <a:srgbClr val="FFFFFF"/>
                </a:solidFill>
              </a:rPr>
              <a:t>Live demo ↗</a:t>
            </a:r>
            <a:endParaRPr lang="en-US" sz="1200" dirty="0"/>
          </a:p>
        </p:txBody>
      </p:sp>
      <p:sp>
        <p:nvSpPr>
          <p:cNvPr id="6" name="button-link-Live-demo-">
            <a:hlinkClick r:id="rId2" tooltip="Open the live demo"/>
          </p:cNvPr>
          <p:cNvSpPr/>
          <p:nvPr/>
        </p:nvSpPr>
        <p:spPr>
          <a:xfrm>
            <a:off x="10561320" y="502920"/>
            <a:ext cx="1097280" cy="365760"/>
          </a:xfrm>
          <a:prstGeom prst="rect">
            <a:avLst/>
          </a:prstGeom>
          <a:solidFill>
            <a:srgbClr val="FFFFFF">
              <a:alpha val="0"/>
            </a:srgbClr>
          </a:solidFill>
          <a:ln w="12700">
            <a:solidFill>
              <a:srgbClr val="FFFFFF">
                <a:alpha val="0"/>
              </a:srgbClr>
            </a:solidFill>
            <a:prstDash val="solid"/>
          </a:ln>
        </p:spPr>
      </p:sp>
      <p:sp>
        <p:nvSpPr>
          <p:cNvPr id="7" name="frame-teacher-priorities.png"/>
          <p:cNvSpPr/>
          <p:nvPr/>
        </p:nvSpPr>
        <p:spPr>
          <a:xfrm>
            <a:off x="493776" y="1271016"/>
            <a:ext cx="7059168" cy="4453128"/>
          </a:xfrm>
          <a:prstGeom prst="roundRect">
            <a:avLst>
              <a:gd name="adj" fmla="val 1643"/>
            </a:avLst>
          </a:prstGeom>
          <a:solidFill>
            <a:srgbClr val="FFFFFF"/>
          </a:solidFill>
          <a:ln w="9525">
            <a:solidFill>
              <a:srgbClr val="D5DEDA"/>
            </a:solidFill>
            <a:prstDash val="solid"/>
          </a:ln>
          <a:effectLst>
            <a:outerShdw sx="100000" sy="100000" kx="0" ky="0" algn="bl" rotWithShape="0" blurRad="101600" dist="25400" dir="5400000">
              <a:srgbClr val="17242A">
                <a:alpha val="16000"/>
              </a:srgbClr>
            </a:outerShdw>
          </a:effectLst>
        </p:spPr>
      </p:sp>
      <p:pic>
        <p:nvPicPr>
          <p:cNvPr id="8" name="screenshot-teacher-priorities.png" descr="C:\Users\Niladri Ghosh\AppData\Local\Temp\claude\c--Users-Niladri-Ghosh-OneDrive-Desktop-Python-Workspace-Hamar-Shiksha\f3e4742b-a4be-48e9-8e6b-760e759cec7c\scratchpad\deck2\shots\teacher-priorities.png">    </p:cNvPr>
          <p:cNvPicPr>
            <a:picLocks noChangeAspect="1"/>
          </p:cNvPicPr>
          <p:nvPr/>
        </p:nvPicPr>
        <p:blipFill>
          <a:blip r:embed="rId3"/>
          <a:stretch>
            <a:fillRect/>
          </a:stretch>
        </p:blipFill>
        <p:spPr>
          <a:xfrm>
            <a:off x="548640" y="1325880"/>
            <a:ext cx="6949440" cy="4343400"/>
          </a:xfrm>
          <a:prstGeom prst="rect">
            <a:avLst/>
          </a:prstGeom>
        </p:spPr>
      </p:pic>
      <p:sp>
        <p:nvSpPr>
          <p:cNvPr id="9" name="Text 6"/>
          <p:cNvSpPr/>
          <p:nvPr/>
        </p:nvSpPr>
        <p:spPr>
          <a:xfrm>
            <a:off x="8001000" y="1325880"/>
            <a:ext cx="3657600" cy="4754880"/>
          </a:xfrm>
          <a:prstGeom prst="rect">
            <a:avLst/>
          </a:prstGeom>
          <a:noFill/>
          <a:ln/>
        </p:spPr>
        <p:txBody>
          <a:bodyPr wrap="square" lIns="0" tIns="0" rIns="0" bIns="0" rtlCol="0" anchor="t"/>
          <a:lstStyle/>
          <a:p>
            <a:pPr marL="203200" indent="-203200">
              <a:spcAft>
                <a:spcPts val="600"/>
              </a:spcAft>
              <a:buSzPct val="100000"/>
              <a:buChar char="•"/>
            </a:pPr>
            <a:r>
              <a:rPr lang="en-US" sz="1400" b="1" dirty="0">
                <a:solidFill>
                  <a:srgbClr val="000000"/>
                </a:solidFill>
              </a:rPr>
              <a:t>Question bank by learning outcome</a:t>
            </a:r>
            <a:endParaRPr lang="en-US" sz="1400" dirty="0"/>
          </a:p>
          <a:p>
            <a:pPr marL="203200" indent="-203200">
              <a:spcAft>
                <a:spcPts val="600"/>
              </a:spcAft>
              <a:buSzPct val="100000"/>
              <a:buChar char="•"/>
            </a:pPr>
            <a:r>
              <a:rPr lang="en-US" sz="1400" dirty="0">
                <a:solidFill>
                  <a:srgbClr val="000000"/>
                </a:solidFill>
              </a:rPr>
              <a:t>Unit, quarterly and annual tests built in minutes</a:t>
            </a:r>
            <a:endParaRPr lang="en-US" sz="1400" dirty="0"/>
          </a:p>
          <a:p>
            <a:pPr marL="203200" indent="-203200">
              <a:spcAft>
                <a:spcPts val="600"/>
              </a:spcAft>
              <a:buSzPct val="100000"/>
              <a:buChar char="•"/>
            </a:pPr>
            <a:r>
              <a:rPr lang="en-US" sz="1400" b="1" dirty="0">
                <a:solidFill>
                  <a:srgbClr val="000000"/>
                </a:solidFill>
              </a:rPr>
              <a:t>Automatic marking</a:t>
            </a:r>
            <a:endParaRPr lang="en-US" sz="1400" dirty="0"/>
          </a:p>
          <a:p>
            <a:pPr marL="203200" indent="-203200">
              <a:spcAft>
                <a:spcPts val="600"/>
              </a:spcAft>
              <a:buSzPct val="100000"/>
              <a:buChar char="•"/>
            </a:pPr>
            <a:r>
              <a:rPr lang="en-US" sz="1400" dirty="0">
                <a:solidFill>
                  <a:srgbClr val="000000"/>
                </a:solidFill>
              </a:rPr>
              <a:t>Uncertain answers go to the teacher's review queue</a:t>
            </a:r>
            <a:endParaRPr lang="en-US" sz="1400" dirty="0"/>
          </a:p>
          <a:p>
            <a:pPr marL="203200" indent="-203200">
              <a:spcAft>
                <a:spcPts val="600"/>
              </a:spcAft>
              <a:buSzPct val="100000"/>
              <a:buChar char="•"/>
            </a:pPr>
            <a:r>
              <a:rPr lang="en-US" sz="1400" b="1" dirty="0">
                <a:solidFill>
                  <a:srgbClr val="000000"/>
                </a:solidFill>
              </a:rPr>
              <a:t>Child-wise learning profile</a:t>
            </a:r>
            <a:endParaRPr lang="en-US" sz="1400" dirty="0"/>
          </a:p>
          <a:p>
            <a:pPr marL="203200" indent="-203200">
              <a:spcAft>
                <a:spcPts val="600"/>
              </a:spcAft>
              <a:buSzPct val="100000"/>
              <a:buChar char="•"/>
            </a:pPr>
            <a:r>
              <a:rPr lang="en-US" sz="1400" dirty="0">
                <a:solidFill>
                  <a:srgbClr val="000000"/>
                </a:solidFill>
              </a:rPr>
              <a:t>Achieved, developing, needs practice — with evidence</a:t>
            </a:r>
            <a:endParaRPr lang="en-US" sz="1400" dirty="0"/>
          </a:p>
          <a:p>
            <a:pPr marL="203200" indent="-203200">
              <a:spcAft>
                <a:spcPts val="600"/>
              </a:spcAft>
              <a:buSzPct val="100000"/>
              <a:buChar char="•"/>
            </a:pPr>
            <a:r>
              <a:rPr lang="en-US" sz="1400" b="1" dirty="0">
                <a:solidFill>
                  <a:srgbClr val="000000"/>
                </a:solidFill>
              </a:rPr>
              <a:t>This week's priorities</a:t>
            </a:r>
            <a:endParaRPr lang="en-US" sz="1400" dirty="0"/>
          </a:p>
          <a:p>
            <a:pPr marL="203200" indent="-203200">
              <a:spcAft>
                <a:spcPts val="600"/>
              </a:spcAft>
              <a:buSzPct val="100000"/>
              <a:buChar char="•"/>
            </a:pPr>
            <a:r>
              <a:rPr lang="en-US" sz="1400" dirty="0">
                <a:solidFill>
                  <a:srgbClr val="000000"/>
                </a:solidFill>
              </a:rPr>
              <a:t>Which child needs help, in what, and what to do</a:t>
            </a:r>
            <a:endParaRPr lang="en-US" sz="1400" dirty="0"/>
          </a:p>
        </p:txBody>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transition spd="med">
    <p:fade/>
  </p:transition>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59536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Follow-up, digital resources and recognition</a:t>
            </a:r>
            <a:endParaRPr lang="en-US" sz="3000" dirty="0"/>
          </a:p>
        </p:txBody>
      </p:sp>
      <p:sp>
        <p:nvSpPr>
          <p:cNvPr id="3" name="button--Agenda"/>
          <p:cNvSpPr/>
          <p:nvPr/>
        </p:nvSpPr>
        <p:spPr>
          <a:xfrm>
            <a:off x="9372600" y="502920"/>
            <a:ext cx="1097280" cy="365760"/>
          </a:xfrm>
          <a:prstGeom prst="roundRect">
            <a:avLst>
              <a:gd name="adj" fmla="val 57500"/>
            </a:avLst>
          </a:prstGeom>
          <a:solidFill>
            <a:srgbClr val="EFF5F2"/>
          </a:solidFill>
          <a:ln>
            <a:solidFill>
              <a:srgbClr val="EFF5F2"/>
            </a:solidFill>
          </a:ln>
        </p:spPr>
        <p:txBody>
          <a:bodyPr wrap="square" lIns="0" tIns="0" rIns="0" bIns="0" rtlCol="0" anchor="ctr"/>
          <a:lstStyle/>
          <a:p>
            <a:pPr algn="ctr" indent="0" marL="0">
              <a:buNone/>
            </a:pPr>
            <a:r>
              <a:rPr lang="en-US" sz="1200" b="1" dirty="0">
                <a:solidFill>
                  <a:srgbClr val="0B3B36"/>
                </a:solidFill>
              </a:rPr>
              <a:t>☰  Agenda</a:t>
            </a:r>
            <a:endParaRPr lang="en-US" sz="1200" dirty="0"/>
          </a:p>
        </p:txBody>
      </p:sp>
      <p:sp>
        <p:nvSpPr>
          <p:cNvPr id="4" name="button-link--Agenda">
            <a:hlinkClick r:id="rId1" tooltip="Back to the agenda" action="ppaction://hlinksldjump"/>
          </p:cNvPr>
          <p:cNvSpPr/>
          <p:nvPr/>
        </p:nvSpPr>
        <p:spPr>
          <a:xfrm>
            <a:off x="9372600" y="502920"/>
            <a:ext cx="1097280" cy="365760"/>
          </a:xfrm>
          <a:prstGeom prst="rect">
            <a:avLst/>
          </a:prstGeom>
          <a:solidFill>
            <a:srgbClr val="FFFFFF">
              <a:alpha val="0"/>
            </a:srgbClr>
          </a:solidFill>
          <a:ln w="12700">
            <a:solidFill>
              <a:srgbClr val="FFFFFF">
                <a:alpha val="0"/>
              </a:srgbClr>
            </a:solidFill>
            <a:prstDash val="solid"/>
          </a:ln>
        </p:spPr>
      </p:sp>
      <p:sp>
        <p:nvSpPr>
          <p:cNvPr id="5" name="button-Live-demo-"/>
          <p:cNvSpPr/>
          <p:nvPr/>
        </p:nvSpPr>
        <p:spPr>
          <a:xfrm>
            <a:off x="10561320" y="502920"/>
            <a:ext cx="1097280" cy="365760"/>
          </a:xfrm>
          <a:prstGeom prst="roundRect">
            <a:avLst>
              <a:gd name="adj" fmla="val 57500"/>
            </a:avLst>
          </a:prstGeom>
          <a:solidFill>
            <a:srgbClr val="0B3B36"/>
          </a:solidFill>
          <a:ln>
            <a:solidFill>
              <a:srgbClr val="0B3B36"/>
            </a:solidFill>
          </a:ln>
        </p:spPr>
        <p:txBody>
          <a:bodyPr wrap="square" lIns="0" tIns="0" rIns="0" bIns="0" rtlCol="0" anchor="ctr"/>
          <a:lstStyle/>
          <a:p>
            <a:pPr algn="ctr" indent="0" marL="0">
              <a:buNone/>
            </a:pPr>
            <a:r>
              <a:rPr lang="en-US" sz="1200" b="1" dirty="0">
                <a:solidFill>
                  <a:srgbClr val="FFFFFF"/>
                </a:solidFill>
              </a:rPr>
              <a:t>Live demo ↗</a:t>
            </a:r>
            <a:endParaRPr lang="en-US" sz="1200" dirty="0"/>
          </a:p>
        </p:txBody>
      </p:sp>
      <p:sp>
        <p:nvSpPr>
          <p:cNvPr id="6" name="button-link-Live-demo-">
            <a:hlinkClick r:id="rId2" tooltip="Open the live demo"/>
          </p:cNvPr>
          <p:cNvSpPr/>
          <p:nvPr/>
        </p:nvSpPr>
        <p:spPr>
          <a:xfrm>
            <a:off x="10561320" y="502920"/>
            <a:ext cx="1097280" cy="365760"/>
          </a:xfrm>
          <a:prstGeom prst="rect">
            <a:avLst/>
          </a:prstGeom>
          <a:solidFill>
            <a:srgbClr val="FFFFFF">
              <a:alpha val="0"/>
            </a:srgbClr>
          </a:solidFill>
          <a:ln w="12700">
            <a:solidFill>
              <a:srgbClr val="FFFFFF">
                <a:alpha val="0"/>
              </a:srgbClr>
            </a:solidFill>
            <a:prstDash val="solid"/>
          </a:ln>
        </p:spPr>
      </p:sp>
      <p:sp>
        <p:nvSpPr>
          <p:cNvPr id="7" name="frame-teacher-track.png"/>
          <p:cNvSpPr/>
          <p:nvPr/>
        </p:nvSpPr>
        <p:spPr>
          <a:xfrm>
            <a:off x="493776" y="1271016"/>
            <a:ext cx="5458968" cy="3453003"/>
          </a:xfrm>
          <a:prstGeom prst="roundRect">
            <a:avLst>
              <a:gd name="adj" fmla="val 2119"/>
            </a:avLst>
          </a:prstGeom>
          <a:solidFill>
            <a:srgbClr val="FFFFFF"/>
          </a:solidFill>
          <a:ln w="9525">
            <a:solidFill>
              <a:srgbClr val="D5DEDA"/>
            </a:solidFill>
            <a:prstDash val="solid"/>
          </a:ln>
          <a:effectLst>
            <a:outerShdw sx="100000" sy="100000" kx="0" ky="0" algn="bl" rotWithShape="0" blurRad="101600" dist="25400" dir="5400000">
              <a:srgbClr val="17242A">
                <a:alpha val="16000"/>
              </a:srgbClr>
            </a:outerShdw>
          </a:effectLst>
        </p:spPr>
      </p:sp>
      <p:pic>
        <p:nvPicPr>
          <p:cNvPr id="8" name="screenshot-teacher-track.png" descr="C:\Users\Niladri Ghosh\AppData\Local\Temp\claude\c--Users-Niladri-Ghosh-OneDrive-Desktop-Python-Workspace-Hamar-Shiksha\f3e4742b-a4be-48e9-8e6b-760e759cec7c\scratchpad\deck2\shots\teacher-track.png">    </p:cNvPr>
          <p:cNvPicPr>
            <a:picLocks noChangeAspect="1"/>
          </p:cNvPicPr>
          <p:nvPr/>
        </p:nvPicPr>
        <p:blipFill>
          <a:blip r:embed="rId3"/>
          <a:stretch>
            <a:fillRect/>
          </a:stretch>
        </p:blipFill>
        <p:spPr>
          <a:xfrm>
            <a:off x="548640" y="1325880"/>
            <a:ext cx="5349240" cy="3343275"/>
          </a:xfrm>
          <a:prstGeom prst="rect">
            <a:avLst/>
          </a:prstGeom>
        </p:spPr>
      </p:pic>
      <p:sp>
        <p:nvSpPr>
          <p:cNvPr id="9" name="frame-teacher-recognition.png"/>
          <p:cNvSpPr/>
          <p:nvPr/>
        </p:nvSpPr>
        <p:spPr>
          <a:xfrm>
            <a:off x="6208776" y="1271016"/>
            <a:ext cx="5458968" cy="3453003"/>
          </a:xfrm>
          <a:prstGeom prst="roundRect">
            <a:avLst>
              <a:gd name="adj" fmla="val 2119"/>
            </a:avLst>
          </a:prstGeom>
          <a:solidFill>
            <a:srgbClr val="FFFFFF"/>
          </a:solidFill>
          <a:ln w="9525">
            <a:solidFill>
              <a:srgbClr val="D5DEDA"/>
            </a:solidFill>
            <a:prstDash val="solid"/>
          </a:ln>
          <a:effectLst>
            <a:outerShdw sx="100000" sy="100000" kx="0" ky="0" algn="bl" rotWithShape="0" blurRad="101600" dist="25400" dir="5400000">
              <a:srgbClr val="17242A">
                <a:alpha val="16000"/>
              </a:srgbClr>
            </a:outerShdw>
          </a:effectLst>
        </p:spPr>
      </p:sp>
      <p:pic>
        <p:nvPicPr>
          <p:cNvPr id="10" name="screenshot-teacher-recognition.png" descr="C:\Users\Niladri Ghosh\AppData\Local\Temp\claude\c--Users-Niladri-Ghosh-OneDrive-Desktop-Python-Workspace-Hamar-Shiksha\f3e4742b-a4be-48e9-8e6b-760e759cec7c\scratchpad\deck2\shots\teacher-recognition.png">    </p:cNvPr>
          <p:cNvPicPr>
            <a:picLocks noChangeAspect="1"/>
          </p:cNvPicPr>
          <p:nvPr/>
        </p:nvPicPr>
        <p:blipFill>
          <a:blip r:embed="rId4"/>
          <a:stretch>
            <a:fillRect/>
          </a:stretch>
        </p:blipFill>
        <p:spPr>
          <a:xfrm>
            <a:off x="6263640" y="1325880"/>
            <a:ext cx="5349240" cy="3343275"/>
          </a:xfrm>
          <a:prstGeom prst="rect">
            <a:avLst/>
          </a:prstGeom>
        </p:spPr>
      </p:pic>
      <p:sp>
        <p:nvSpPr>
          <p:cNvPr id="11" name="Text 7"/>
          <p:cNvSpPr txBox="1"/>
          <p:nvPr/>
        </p:nvSpPr>
        <p:spPr>
          <a:xfrm>
            <a:off x="548640" y="4806315"/>
            <a:ext cx="5349240" cy="365760"/>
          </a:xfrm>
          <a:prstGeom prst="rect">
            <a:avLst/>
          </a:prstGeom>
          <a:noFill/>
          <a:ln/>
        </p:spPr>
        <p:txBody>
          <a:bodyPr wrap="square" lIns="0" tIns="0" rIns="0" bIns="0" rtlCol="0" anchor="t"/>
          <a:lstStyle/>
          <a:p>
            <a:pPr indent="0" marL="0">
              <a:buNone/>
            </a:pPr>
            <a:r>
              <a:rPr lang="en-US" sz="1700" b="1" dirty="0">
                <a:solidFill>
                  <a:srgbClr val="0E8A6E"/>
                </a:solidFill>
                <a:latin typeface="Cambria" pitchFamily="34" charset="0"/>
                <a:ea typeface="Cambria" pitchFamily="34" charset="-122"/>
                <a:cs typeface="Cambria" pitchFamily="34" charset="-120"/>
              </a:rPr>
              <a:t>Progress &amp; follow-up</a:t>
            </a:r>
            <a:endParaRPr lang="en-US" sz="1700" dirty="0"/>
          </a:p>
        </p:txBody>
      </p:sp>
      <p:sp>
        <p:nvSpPr>
          <p:cNvPr id="12" name="Text 8"/>
          <p:cNvSpPr/>
          <p:nvPr/>
        </p:nvSpPr>
        <p:spPr>
          <a:xfrm>
            <a:off x="548640" y="5217795"/>
            <a:ext cx="5349240" cy="1463040"/>
          </a:xfrm>
          <a:prstGeom prst="rect">
            <a:avLst/>
          </a:prstGeom>
          <a:noFill/>
          <a:ln/>
        </p:spPr>
        <p:txBody>
          <a:bodyPr wrap="square" lIns="0" tIns="0" rIns="0" bIns="0" rtlCol="0" anchor="t"/>
          <a:lstStyle/>
          <a:p>
            <a:pPr marL="203200" indent="-203200">
              <a:spcAft>
                <a:spcPts val="600"/>
              </a:spcAft>
              <a:buSzPct val="100000"/>
              <a:buChar char="•"/>
            </a:pPr>
            <a:r>
              <a:rPr lang="en-US" sz="1400" dirty="0">
                <a:solidFill>
                  <a:srgbClr val="000000"/>
                </a:solidFill>
              </a:rPr>
              <a:t>Own class grades A-D with next steps</a:t>
            </a:r>
            <a:endParaRPr lang="en-US" sz="1400" dirty="0"/>
          </a:p>
          <a:p>
            <a:pPr marL="203200" indent="-203200">
              <a:spcAft>
                <a:spcPts val="600"/>
              </a:spcAft>
              <a:buSzPct val="100000"/>
              <a:buChar char="•"/>
            </a:pPr>
            <a:r>
              <a:rPr lang="en-US" sz="1400" dirty="0">
                <a:solidFill>
                  <a:srgbClr val="000000"/>
                </a:solidFill>
              </a:rPr>
              <a:t>Children to call or visit, with lessons missed</a:t>
            </a:r>
            <a:endParaRPr lang="en-US" sz="1400" dirty="0"/>
          </a:p>
          <a:p>
            <a:pPr marL="203200" indent="-203200">
              <a:spcAft>
                <a:spcPts val="600"/>
              </a:spcAft>
              <a:buSzPct val="100000"/>
              <a:buChar char="•"/>
            </a:pPr>
            <a:r>
              <a:rPr lang="en-US" sz="1400" dirty="0">
                <a:solidFill>
                  <a:srgbClr val="000000"/>
                </a:solidFill>
              </a:rPr>
              <a:t>Smart-class use recorded in the same tap as a milestone</a:t>
            </a:r>
            <a:endParaRPr lang="en-US" sz="1400" dirty="0"/>
          </a:p>
        </p:txBody>
      </p:sp>
      <p:sp>
        <p:nvSpPr>
          <p:cNvPr id="13" name="Text 9"/>
          <p:cNvSpPr txBox="1"/>
          <p:nvPr/>
        </p:nvSpPr>
        <p:spPr>
          <a:xfrm>
            <a:off x="6263640" y="4806315"/>
            <a:ext cx="5349240" cy="365760"/>
          </a:xfrm>
          <a:prstGeom prst="rect">
            <a:avLst/>
          </a:prstGeom>
          <a:noFill/>
          <a:ln/>
        </p:spPr>
        <p:txBody>
          <a:bodyPr wrap="square" lIns="0" tIns="0" rIns="0" bIns="0" rtlCol="0" anchor="t"/>
          <a:lstStyle/>
          <a:p>
            <a:pPr indent="0" marL="0">
              <a:buNone/>
            </a:pPr>
            <a:r>
              <a:rPr lang="en-US" sz="1700" b="1" dirty="0">
                <a:solidFill>
                  <a:srgbClr val="0E8A6E"/>
                </a:solidFill>
                <a:latin typeface="Cambria" pitchFamily="34" charset="0"/>
                <a:ea typeface="Cambria" pitchFamily="34" charset="-122"/>
                <a:cs typeface="Cambria" pitchFamily="34" charset="-120"/>
              </a:rPr>
              <a:t>Recognition</a:t>
            </a:r>
            <a:endParaRPr lang="en-US" sz="1700" dirty="0"/>
          </a:p>
        </p:txBody>
      </p:sp>
      <p:sp>
        <p:nvSpPr>
          <p:cNvPr id="14" name="Text 10"/>
          <p:cNvSpPr/>
          <p:nvPr/>
        </p:nvSpPr>
        <p:spPr>
          <a:xfrm>
            <a:off x="6263640" y="5217795"/>
            <a:ext cx="5349240" cy="1463040"/>
          </a:xfrm>
          <a:prstGeom prst="rect">
            <a:avLst/>
          </a:prstGeom>
          <a:noFill/>
          <a:ln/>
        </p:spPr>
        <p:txBody>
          <a:bodyPr wrap="square" lIns="0" tIns="0" rIns="0" bIns="0" rtlCol="0" anchor="t"/>
          <a:lstStyle/>
          <a:p>
            <a:pPr marL="203200" indent="-203200">
              <a:spcAft>
                <a:spcPts val="600"/>
              </a:spcAft>
              <a:buSzPct val="100000"/>
              <a:buChar char="•"/>
            </a:pPr>
            <a:r>
              <a:rPr lang="en-US" sz="1400" dirty="0">
                <a:solidFill>
                  <a:srgbClr val="000000"/>
                </a:solidFill>
              </a:rPr>
              <a:t>Badges for milestones, learning gains, training, digital use</a:t>
            </a:r>
            <a:endParaRPr lang="en-US" sz="1400" dirty="0"/>
          </a:p>
          <a:p>
            <a:pPr marL="203200" indent="-203200">
              <a:spcAft>
                <a:spcPts val="600"/>
              </a:spcAft>
              <a:buSzPct val="100000"/>
              <a:buChar char="•"/>
            </a:pPr>
            <a:r>
              <a:rPr lang="en-US" sz="1400" dirty="0">
                <a:solidFill>
                  <a:srgbClr val="000000"/>
                </a:solidFill>
              </a:rPr>
              <a:t>Appreciate improving students in one click</a:t>
            </a:r>
            <a:endParaRPr lang="en-US" sz="1400" dirty="0"/>
          </a:p>
          <a:p>
            <a:pPr marL="203200" indent="-203200">
              <a:spcAft>
                <a:spcPts val="600"/>
              </a:spcAft>
              <a:buSzPct val="100000"/>
              <a:buChar char="•"/>
            </a:pPr>
            <a:r>
              <a:rPr lang="en-US" sz="1400" dirty="0">
                <a:solidFill>
                  <a:srgbClr val="000000"/>
                </a:solidFill>
              </a:rPr>
              <a:t>Head teachers and officers appreciate teachers</a:t>
            </a:r>
            <a:endParaRPr lang="en-US" sz="1400" dirty="0"/>
          </a:p>
        </p:txBody>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transition spd="med">
    <p:fade/>
  </p:transition>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766560" cy="1188720"/>
          </a:xfrm>
          <a:prstGeom prst="rect">
            <a:avLst/>
          </a:prstGeom>
          <a:noFill/>
          <a:ln/>
        </p:spPr>
        <p:txBody>
          <a:bodyPr wrap="square" lIns="0" tIns="0" rIns="0" bIns="0" rtlCol="0" anchor="b"/>
          <a:lstStyle/>
          <a:p>
            <a:pPr algn="l" indent="0" marL="0">
              <a:buNone/>
            </a:pPr>
            <a:r>
              <a:rPr lang="en-US" sz="4400" b="1" dirty="0">
                <a:solidFill>
                  <a:schemeClr val="bg1"/>
                </a:solidFill>
                <a:latin typeface="Cambria" pitchFamily="34" charset="0"/>
                <a:ea typeface="Cambria" pitchFamily="34" charset="-122"/>
                <a:cs typeface="Cambria" pitchFamily="34" charset="-120"/>
              </a:rPr>
              <a:t>For students</a:t>
            </a:r>
            <a:endParaRPr lang="en-US" sz="4400" dirty="0"/>
          </a:p>
        </p:txBody>
      </p:sp>
      <p:sp>
        <p:nvSpPr>
          <p:cNvPr id="3" name="Text 0"/>
          <p:cNvSpPr/>
          <p:nvPr>
            <p:ph idx="101" type="body" hasCustomPrompt="1"/>
          </p:nvPr>
        </p:nvSpPr>
        <p:spPr>
          <a:xfrm>
            <a:off x="731520" y="2788920"/>
            <a:ext cx="6400800" cy="1097280"/>
          </a:xfrm>
          <a:prstGeom prst="rect">
            <a:avLst/>
          </a:prstGeom>
          <a:noFill/>
          <a:ln/>
        </p:spPr>
        <p:txBody>
          <a:bodyPr wrap="square" lIns="0" tIns="0" rIns="0" bIns="0" rtlCol="0" anchor="t"/>
          <a:lstStyle/>
          <a:p>
            <a:pPr indent="0" marL="0">
              <a:buNone/>
            </a:pPr>
            <a:r>
              <a:rPr lang="en-US" sz="1800" dirty="0">
                <a:solidFill>
                  <a:schemeClr val="bg2"/>
                </a:solidFill>
              </a:rPr>
              <a:t>Learn alone, or with help</a:t>
            </a:r>
            <a:endParaRPr lang="en-US" sz="1800" dirty="0"/>
          </a:p>
        </p:txBody>
      </p:sp>
      <p:sp>
        <p:nvSpPr>
          <p:cNvPr id="4" name="Text 2"/>
          <p:cNvSpPr txBox="1"/>
          <p:nvPr/>
        </p:nvSpPr>
        <p:spPr>
          <a:xfrm>
            <a:off x="731520" y="685800"/>
            <a:ext cx="1828800" cy="731520"/>
          </a:xfrm>
          <a:prstGeom prst="rect">
            <a:avLst/>
          </a:prstGeom>
          <a:noFill/>
          <a:ln/>
        </p:spPr>
        <p:txBody>
          <a:bodyPr wrap="square" lIns="0" tIns="0" rIns="0" bIns="0" rtlCol="0" anchor="ctr"/>
          <a:lstStyle/>
          <a:p>
            <a:pPr indent="0" marL="0">
              <a:buNone/>
            </a:pPr>
            <a:r>
              <a:rPr lang="en-US" sz="4000" b="1" dirty="0">
                <a:solidFill>
                  <a:srgbClr val="E8762B"/>
                </a:solidFill>
                <a:latin typeface="Cambria" pitchFamily="34" charset="0"/>
                <a:ea typeface="Cambria" pitchFamily="34" charset="-122"/>
                <a:cs typeface="Cambria" pitchFamily="34" charset="-120"/>
              </a:rPr>
              <a:t>04</a:t>
            </a:r>
            <a:endParaRPr lang="en-US" sz="4000" dirty="0"/>
          </a:p>
        </p:txBody>
      </p:sp>
      <p:sp>
        <p:nvSpPr>
          <p:cNvPr id="5" name="Text 3"/>
          <p:cNvSpPr txBox="1"/>
          <p:nvPr/>
        </p:nvSpPr>
        <p:spPr>
          <a:xfrm>
            <a:off x="8001000" y="1417320"/>
            <a:ext cx="3474720" cy="320040"/>
          </a:xfrm>
          <a:prstGeom prst="rect">
            <a:avLst/>
          </a:prstGeom>
          <a:noFill/>
          <a:ln/>
        </p:spPr>
        <p:txBody>
          <a:bodyPr wrap="square" lIns="0" tIns="0" rIns="0" bIns="0" rtlCol="0" anchor="t"/>
          <a:lstStyle/>
          <a:p>
            <a:pPr indent="0" marL="0">
              <a:buNone/>
            </a:pPr>
            <a:r>
              <a:rPr lang="en-US" sz="1200" b="1" spc="200" kern="0" dirty="0">
                <a:solidFill>
                  <a:srgbClr val="C9921A"/>
                </a:solidFill>
              </a:rPr>
              <a:t>IN THIS SECTION</a:t>
            </a:r>
            <a:endParaRPr lang="en-US" sz="1200" dirty="0"/>
          </a:p>
        </p:txBody>
      </p:sp>
      <p:sp>
        <p:nvSpPr>
          <p:cNvPr id="6" name="menu-studentapp"/>
          <p:cNvSpPr/>
          <p:nvPr/>
        </p:nvSpPr>
        <p:spPr>
          <a:xfrm>
            <a:off x="8001000" y="1828800"/>
            <a:ext cx="3611880" cy="457200"/>
          </a:xfrm>
          <a:prstGeom prst="roundRect">
            <a:avLst>
              <a:gd name="adj" fmla="val 20000"/>
            </a:avLst>
          </a:prstGeom>
          <a:solidFill>
            <a:srgbClr val="134E47"/>
          </a:solidFill>
          <a:ln>
            <a:solidFill>
              <a:srgbClr val="134E47"/>
            </a:solidFill>
          </a:ln>
        </p:spPr>
        <p:txBody>
          <a:bodyPr wrap="square" lIns="0" tIns="152400" rIns="127000" bIns="0" rtlCol="0" anchor="ctr"/>
          <a:lstStyle/>
          <a:p>
            <a:pPr algn="l" indent="0" marL="0">
              <a:buNone/>
            </a:pPr>
            <a:r>
              <a:rPr lang="en-US" sz="1300" dirty="0">
                <a:solidFill>
                  <a:srgbClr val="FFFFFF"/>
                </a:solidFill>
              </a:rPr>
              <a:t>01   A mobile-first app in Hindi  →</a:t>
            </a:r>
            <a:endParaRPr lang="en-US" sz="1300" dirty="0"/>
          </a:p>
        </p:txBody>
      </p:sp>
      <p:sp>
        <p:nvSpPr>
          <p:cNvPr id="7" name="menu-link-studentapp">
            <a:hlinkClick r:id="rId1" tooltip="A mobile-first app in Hindi" action="ppaction://hlinksldjump"/>
          </p:cNvPr>
          <p:cNvSpPr/>
          <p:nvPr/>
        </p:nvSpPr>
        <p:spPr>
          <a:xfrm>
            <a:off x="8001000" y="1828800"/>
            <a:ext cx="3611880" cy="457200"/>
          </a:xfrm>
          <a:prstGeom prst="rect">
            <a:avLst/>
          </a:prstGeom>
          <a:solidFill>
            <a:srgbClr val="FFFFFF">
              <a:alpha val="0"/>
            </a:srgbClr>
          </a:solidFill>
          <a:ln w="12700">
            <a:solidFill>
              <a:srgbClr val="FFFFFF">
                <a:alpha val="0"/>
              </a:srgbClr>
            </a:solidFill>
            <a:prstDash val="solid"/>
          </a:ln>
        </p:spPr>
      </p:sp>
      <p:sp>
        <p:nvSpPr>
          <p:cNvPr id="8" name="menu-selfhelp"/>
          <p:cNvSpPr/>
          <p:nvPr/>
        </p:nvSpPr>
        <p:spPr>
          <a:xfrm>
            <a:off x="8001000" y="2395728"/>
            <a:ext cx="3611880" cy="457200"/>
          </a:xfrm>
          <a:prstGeom prst="roundRect">
            <a:avLst>
              <a:gd name="adj" fmla="val 20000"/>
            </a:avLst>
          </a:prstGeom>
          <a:solidFill>
            <a:srgbClr val="134E47"/>
          </a:solidFill>
          <a:ln>
            <a:solidFill>
              <a:srgbClr val="134E47"/>
            </a:solidFill>
          </a:ln>
        </p:spPr>
        <p:txBody>
          <a:bodyPr wrap="square" lIns="0" tIns="152400" rIns="127000" bIns="0" rtlCol="0" anchor="ctr"/>
          <a:lstStyle/>
          <a:p>
            <a:pPr algn="l" indent="0" marL="0">
              <a:buNone/>
            </a:pPr>
            <a:r>
              <a:rPr lang="en-US" sz="1300" dirty="0">
                <a:solidFill>
                  <a:srgbClr val="FFFFFF"/>
                </a:solidFill>
              </a:rPr>
              <a:t>02   Self-improvement and peer help  →</a:t>
            </a:r>
            <a:endParaRPr lang="en-US" sz="1300" dirty="0"/>
          </a:p>
        </p:txBody>
      </p:sp>
      <p:sp>
        <p:nvSpPr>
          <p:cNvPr id="9" name="menu-link-selfhelp">
            <a:hlinkClick r:id="rId2" tooltip="Self-improvement and peer help" action="ppaction://hlinksldjump"/>
          </p:cNvPr>
          <p:cNvSpPr/>
          <p:nvPr/>
        </p:nvSpPr>
        <p:spPr>
          <a:xfrm>
            <a:off x="8001000" y="2395728"/>
            <a:ext cx="3611880" cy="457200"/>
          </a:xfrm>
          <a:prstGeom prst="rect">
            <a:avLst/>
          </a:prstGeom>
          <a:solidFill>
            <a:srgbClr val="FFFFFF">
              <a:alpha val="0"/>
            </a:srgbClr>
          </a:solidFill>
          <a:ln w="12700">
            <a:solidFill>
              <a:srgbClr val="FFFFFF">
                <a:alpha val="0"/>
              </a:srgbClr>
            </a:solidFill>
            <a:prstDash val="solid"/>
          </a:ln>
        </p:spPr>
      </p:sp>
      <p:sp>
        <p:nvSpPr>
          <p:cNvPr id="10" name="icon-bg-FaUserGraduate"/>
          <p:cNvSpPr/>
          <p:nvPr/>
        </p:nvSpPr>
        <p:spPr>
          <a:xfrm>
            <a:off x="731520" y="4206240"/>
            <a:ext cx="1097280" cy="1097280"/>
          </a:xfrm>
          <a:prstGeom prst="ellipse">
            <a:avLst/>
          </a:prstGeom>
          <a:solidFill>
            <a:srgbClr val="E8762B"/>
          </a:solidFill>
          <a:ln w="12700">
            <a:solidFill>
              <a:srgbClr val="E8762B"/>
            </a:solidFill>
            <a:prstDash val="solid"/>
          </a:ln>
        </p:spPr>
      </p:sp>
      <p:pic>
        <p:nvPicPr>
          <p:cNvPr id="11" name="icon-FaUserGraduate" descr="preencoded.png">    </p:cNvPr>
          <p:cNvPicPr>
            <a:picLocks noChangeAspect="1"/>
          </p:cNvPicPr>
          <p:nvPr/>
        </p:nvPicPr>
        <p:blipFill>
          <a:blip r:embed="rId3"/>
          <a:stretch>
            <a:fillRect/>
          </a:stretch>
        </p:blipFill>
        <p:spPr>
          <a:xfrm>
            <a:off x="1005840" y="4480560"/>
            <a:ext cx="548640" cy="548640"/>
          </a:xfrm>
          <a:prstGeom prst="rect">
            <a:avLst/>
          </a:prstGeom>
        </p:spPr>
      </p:pic>
      <p:sp>
        <p:nvSpPr>
          <p:cNvPr id="12" name="button--Agenda"/>
          <p:cNvSpPr/>
          <p:nvPr/>
        </p:nvSpPr>
        <p:spPr>
          <a:xfrm>
            <a:off x="731520" y="5760720"/>
            <a:ext cx="1280160" cy="384048"/>
          </a:xfrm>
          <a:prstGeom prst="roundRect">
            <a:avLst>
              <a:gd name="adj" fmla="val 54762"/>
            </a:avLst>
          </a:prstGeom>
          <a:solidFill>
            <a:srgbClr val="134E47"/>
          </a:solidFill>
          <a:ln>
            <a:solidFill>
              <a:srgbClr val="134E47"/>
            </a:solidFill>
          </a:ln>
        </p:spPr>
        <p:txBody>
          <a:bodyPr wrap="square" lIns="0" tIns="0" rIns="0" bIns="0" rtlCol="0" anchor="ctr"/>
          <a:lstStyle/>
          <a:p>
            <a:pPr algn="ctr" indent="0" marL="0">
              <a:buNone/>
            </a:pPr>
            <a:r>
              <a:rPr lang="en-US" sz="1200" b="1" dirty="0">
                <a:solidFill>
                  <a:srgbClr val="FFFFFF"/>
                </a:solidFill>
              </a:rPr>
              <a:t>☰  Agenda</a:t>
            </a:r>
            <a:endParaRPr lang="en-US" sz="1200" dirty="0"/>
          </a:p>
        </p:txBody>
      </p:sp>
      <p:sp>
        <p:nvSpPr>
          <p:cNvPr id="13" name="button-link--Agenda">
            <a:hlinkClick r:id="rId4" tooltip="Back to the agenda" action="ppaction://hlinksldjump"/>
          </p:cNvPr>
          <p:cNvSpPr/>
          <p:nvPr/>
        </p:nvSpPr>
        <p:spPr>
          <a:xfrm>
            <a:off x="731520" y="5760720"/>
            <a:ext cx="1280160" cy="384048"/>
          </a:xfrm>
          <a:prstGeom prst="rect">
            <a:avLst/>
          </a:prstGeom>
          <a:solidFill>
            <a:srgbClr val="FFFFFF">
              <a:alpha val="0"/>
            </a:srgbClr>
          </a:solidFill>
          <a:ln w="12700">
            <a:solidFill>
              <a:srgbClr val="FFFFFF">
                <a:alpha val="0"/>
              </a:srgbClr>
            </a:solidFill>
            <a:prstDash val="solid"/>
          </a:ln>
        </p:spPr>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15</a:t>
            </a:fld>
            <a:endParaRPr lang="en-US"/>
          </a:p>
        </p:txBody>
      </p:sp>
    </p:spTree>
  </p:cSld>
  <p:clrMapOvr>
    <a:masterClrMapping/>
  </p:clrMapOvr>
  <p:transition spd="med">
    <p:fade/>
  </p:transition>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59536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A mobile-first learning app, Hindi by default</a:t>
            </a:r>
            <a:endParaRPr lang="en-US" sz="3000" dirty="0"/>
          </a:p>
        </p:txBody>
      </p:sp>
      <p:sp>
        <p:nvSpPr>
          <p:cNvPr id="3" name="button--Agenda"/>
          <p:cNvSpPr/>
          <p:nvPr/>
        </p:nvSpPr>
        <p:spPr>
          <a:xfrm>
            <a:off x="9372600" y="502920"/>
            <a:ext cx="1097280" cy="365760"/>
          </a:xfrm>
          <a:prstGeom prst="roundRect">
            <a:avLst>
              <a:gd name="adj" fmla="val 57500"/>
            </a:avLst>
          </a:prstGeom>
          <a:solidFill>
            <a:srgbClr val="EFF5F2"/>
          </a:solidFill>
          <a:ln>
            <a:solidFill>
              <a:srgbClr val="EFF5F2"/>
            </a:solidFill>
          </a:ln>
        </p:spPr>
        <p:txBody>
          <a:bodyPr wrap="square" lIns="0" tIns="0" rIns="0" bIns="0" rtlCol="0" anchor="ctr"/>
          <a:lstStyle/>
          <a:p>
            <a:pPr algn="ctr" indent="0" marL="0">
              <a:buNone/>
            </a:pPr>
            <a:r>
              <a:rPr lang="en-US" sz="1200" b="1" dirty="0">
                <a:solidFill>
                  <a:srgbClr val="0B3B36"/>
                </a:solidFill>
              </a:rPr>
              <a:t>☰  Agenda</a:t>
            </a:r>
            <a:endParaRPr lang="en-US" sz="1200" dirty="0"/>
          </a:p>
        </p:txBody>
      </p:sp>
      <p:sp>
        <p:nvSpPr>
          <p:cNvPr id="4" name="button-link--Agenda">
            <a:hlinkClick r:id="rId1" tooltip="Back to the agenda" action="ppaction://hlinksldjump"/>
          </p:cNvPr>
          <p:cNvSpPr/>
          <p:nvPr/>
        </p:nvSpPr>
        <p:spPr>
          <a:xfrm>
            <a:off x="9372600" y="502920"/>
            <a:ext cx="1097280" cy="365760"/>
          </a:xfrm>
          <a:prstGeom prst="rect">
            <a:avLst/>
          </a:prstGeom>
          <a:solidFill>
            <a:srgbClr val="FFFFFF">
              <a:alpha val="0"/>
            </a:srgbClr>
          </a:solidFill>
          <a:ln w="12700">
            <a:solidFill>
              <a:srgbClr val="FFFFFF">
                <a:alpha val="0"/>
              </a:srgbClr>
            </a:solidFill>
            <a:prstDash val="solid"/>
          </a:ln>
        </p:spPr>
      </p:sp>
      <p:sp>
        <p:nvSpPr>
          <p:cNvPr id="5" name="button-Live-demo-"/>
          <p:cNvSpPr/>
          <p:nvPr/>
        </p:nvSpPr>
        <p:spPr>
          <a:xfrm>
            <a:off x="10561320" y="502920"/>
            <a:ext cx="1097280" cy="365760"/>
          </a:xfrm>
          <a:prstGeom prst="roundRect">
            <a:avLst>
              <a:gd name="adj" fmla="val 57500"/>
            </a:avLst>
          </a:prstGeom>
          <a:solidFill>
            <a:srgbClr val="0B3B36"/>
          </a:solidFill>
          <a:ln>
            <a:solidFill>
              <a:srgbClr val="0B3B36"/>
            </a:solidFill>
          </a:ln>
        </p:spPr>
        <p:txBody>
          <a:bodyPr wrap="square" lIns="0" tIns="0" rIns="0" bIns="0" rtlCol="0" anchor="ctr"/>
          <a:lstStyle/>
          <a:p>
            <a:pPr algn="ctr" indent="0" marL="0">
              <a:buNone/>
            </a:pPr>
            <a:r>
              <a:rPr lang="en-US" sz="1200" b="1" dirty="0">
                <a:solidFill>
                  <a:srgbClr val="FFFFFF"/>
                </a:solidFill>
              </a:rPr>
              <a:t>Live demo ↗</a:t>
            </a:r>
            <a:endParaRPr lang="en-US" sz="1200" dirty="0"/>
          </a:p>
        </p:txBody>
      </p:sp>
      <p:sp>
        <p:nvSpPr>
          <p:cNvPr id="6" name="button-link-Live-demo-">
            <a:hlinkClick r:id="rId2" tooltip="Open the live demo"/>
          </p:cNvPr>
          <p:cNvSpPr/>
          <p:nvPr/>
        </p:nvSpPr>
        <p:spPr>
          <a:xfrm>
            <a:off x="10561320" y="502920"/>
            <a:ext cx="1097280" cy="365760"/>
          </a:xfrm>
          <a:prstGeom prst="rect">
            <a:avLst/>
          </a:prstGeom>
          <a:solidFill>
            <a:srgbClr val="FFFFFF">
              <a:alpha val="0"/>
            </a:srgbClr>
          </a:solidFill>
          <a:ln w="12700">
            <a:solidFill>
              <a:srgbClr val="FFFFFF">
                <a:alpha val="0"/>
              </a:srgbClr>
            </a:solidFill>
            <a:prstDash val="solid"/>
          </a:ln>
        </p:spPr>
      </p:sp>
      <p:sp>
        <p:nvSpPr>
          <p:cNvPr id="7" name="phone-student-home.png"/>
          <p:cNvSpPr/>
          <p:nvPr/>
        </p:nvSpPr>
        <p:spPr>
          <a:xfrm>
            <a:off x="777240" y="1280160"/>
            <a:ext cx="2118006" cy="4343400"/>
          </a:xfrm>
          <a:prstGeom prst="roundRect">
            <a:avLst>
              <a:gd name="adj" fmla="val 10793"/>
            </a:avLst>
          </a:prstGeom>
          <a:solidFill>
            <a:srgbClr val="17242A"/>
          </a:solidFill>
          <a:ln w="12700">
            <a:solidFill>
              <a:srgbClr val="17242A"/>
            </a:solidFill>
            <a:prstDash val="solid"/>
          </a:ln>
          <a:effectLst>
            <a:outerShdw sx="100000" sy="100000" kx="0" ky="0" algn="bl" rotWithShape="0" blurRad="101600" dist="25400" dir="5400000">
              <a:srgbClr val="17242A">
                <a:alpha val="16000"/>
              </a:srgbClr>
            </a:outerShdw>
          </a:effectLst>
        </p:spPr>
      </p:sp>
      <p:pic>
        <p:nvPicPr>
          <p:cNvPr id="8" name="screen-student-home.png" descr="C:\Users\Niladri Ghosh\AppData\Local\Temp\claude\c--Users-Niladri-Ghosh-OneDrive-Desktop-Python-Workspace-Hamar-Shiksha\f3e4742b-a4be-48e9-8e6b-760e759cec7c\scratchpad\deck2\shots\student-home.png">    </p:cNvPr>
          <p:cNvPicPr>
            <a:picLocks noChangeAspect="1"/>
          </p:cNvPicPr>
          <p:nvPr/>
        </p:nvPicPr>
        <p:blipFill>
          <a:blip r:embed="rId3"/>
          <a:stretch>
            <a:fillRect/>
          </a:stretch>
        </p:blipFill>
        <p:spPr>
          <a:xfrm>
            <a:off x="868680" y="1371600"/>
            <a:ext cx="1935126" cy="4160520"/>
          </a:xfrm>
          <a:prstGeom prst="rect">
            <a:avLst/>
          </a:prstGeom>
        </p:spPr>
      </p:pic>
      <p:sp>
        <p:nvSpPr>
          <p:cNvPr id="9" name="Text 6"/>
          <p:cNvSpPr txBox="1"/>
          <p:nvPr/>
        </p:nvSpPr>
        <p:spPr>
          <a:xfrm>
            <a:off x="777240" y="5669280"/>
            <a:ext cx="2148840" cy="594360"/>
          </a:xfrm>
          <a:prstGeom prst="rect">
            <a:avLst/>
          </a:prstGeom>
          <a:noFill/>
          <a:ln/>
        </p:spPr>
        <p:txBody>
          <a:bodyPr wrap="square" lIns="0" tIns="0" rIns="0" bIns="0" rtlCol="0" anchor="t"/>
          <a:lstStyle/>
          <a:p>
            <a:pPr algn="ctr" indent="0" marL="0">
              <a:buNone/>
            </a:pPr>
            <a:r>
              <a:rPr lang="en-US" sz="1200" dirty="0">
                <a:solidFill>
                  <a:srgbClr val="5E6B70"/>
                </a:solidFill>
              </a:rPr>
              <a:t>Home: level, streak, weekly challenge, next steps</a:t>
            </a:r>
            <a:endParaRPr lang="en-US" sz="1200" dirty="0"/>
          </a:p>
        </p:txBody>
      </p:sp>
      <p:sp>
        <p:nvSpPr>
          <p:cNvPr id="10" name="phone-student-ask.png"/>
          <p:cNvSpPr/>
          <p:nvPr/>
        </p:nvSpPr>
        <p:spPr>
          <a:xfrm>
            <a:off x="3383280" y="1280160"/>
            <a:ext cx="2118006" cy="4343400"/>
          </a:xfrm>
          <a:prstGeom prst="roundRect">
            <a:avLst>
              <a:gd name="adj" fmla="val 10793"/>
            </a:avLst>
          </a:prstGeom>
          <a:solidFill>
            <a:srgbClr val="17242A"/>
          </a:solidFill>
          <a:ln w="12700">
            <a:solidFill>
              <a:srgbClr val="17242A"/>
            </a:solidFill>
            <a:prstDash val="solid"/>
          </a:ln>
          <a:effectLst>
            <a:outerShdw sx="100000" sy="100000" kx="0" ky="0" algn="bl" rotWithShape="0" blurRad="101600" dist="25400" dir="5400000">
              <a:srgbClr val="17242A">
                <a:alpha val="16000"/>
              </a:srgbClr>
            </a:outerShdw>
          </a:effectLst>
        </p:spPr>
      </p:sp>
      <p:pic>
        <p:nvPicPr>
          <p:cNvPr id="11" name="screen-student-ask.png" descr="C:\Users\Niladri Ghosh\AppData\Local\Temp\claude\c--Users-Niladri-Ghosh-OneDrive-Desktop-Python-Workspace-Hamar-Shiksha\f3e4742b-a4be-48e9-8e6b-760e759cec7c\scratchpad\deck2\shots\student-ask.png">    </p:cNvPr>
          <p:cNvPicPr>
            <a:picLocks noChangeAspect="1"/>
          </p:cNvPicPr>
          <p:nvPr/>
        </p:nvPicPr>
        <p:blipFill>
          <a:blip r:embed="rId4"/>
          <a:stretch>
            <a:fillRect/>
          </a:stretch>
        </p:blipFill>
        <p:spPr>
          <a:xfrm>
            <a:off x="3474720" y="1371600"/>
            <a:ext cx="1935126" cy="4160520"/>
          </a:xfrm>
          <a:prstGeom prst="rect">
            <a:avLst/>
          </a:prstGeom>
        </p:spPr>
      </p:pic>
      <p:sp>
        <p:nvSpPr>
          <p:cNvPr id="12" name="Text 8"/>
          <p:cNvSpPr txBox="1"/>
          <p:nvPr/>
        </p:nvSpPr>
        <p:spPr>
          <a:xfrm>
            <a:off x="3383280" y="5669280"/>
            <a:ext cx="2148840" cy="594360"/>
          </a:xfrm>
          <a:prstGeom prst="rect">
            <a:avLst/>
          </a:prstGeom>
          <a:noFill/>
          <a:ln/>
        </p:spPr>
        <p:txBody>
          <a:bodyPr wrap="square" lIns="0" tIns="0" rIns="0" bIns="0" rtlCol="0" anchor="t"/>
          <a:lstStyle/>
          <a:p>
            <a:pPr algn="ctr" indent="0" marL="0">
              <a:buNone/>
            </a:pPr>
            <a:r>
              <a:rPr lang="en-US" sz="1200" dirty="0">
                <a:solidFill>
                  <a:srgbClr val="5E6B70"/>
                </a:solidFill>
              </a:rPr>
              <a:t>Ask Gyan: answers from the child's own textbooks</a:t>
            </a:r>
            <a:endParaRPr lang="en-US" sz="1200" dirty="0"/>
          </a:p>
        </p:txBody>
      </p:sp>
      <p:sp>
        <p:nvSpPr>
          <p:cNvPr id="13" name="phone-student-badges.png"/>
          <p:cNvSpPr/>
          <p:nvPr/>
        </p:nvSpPr>
        <p:spPr>
          <a:xfrm>
            <a:off x="5989320" y="1280160"/>
            <a:ext cx="2118006" cy="4343400"/>
          </a:xfrm>
          <a:prstGeom prst="roundRect">
            <a:avLst>
              <a:gd name="adj" fmla="val 10793"/>
            </a:avLst>
          </a:prstGeom>
          <a:solidFill>
            <a:srgbClr val="17242A"/>
          </a:solidFill>
          <a:ln w="12700">
            <a:solidFill>
              <a:srgbClr val="17242A"/>
            </a:solidFill>
            <a:prstDash val="solid"/>
          </a:ln>
          <a:effectLst>
            <a:outerShdw sx="100000" sy="100000" kx="0" ky="0" algn="bl" rotWithShape="0" blurRad="101600" dist="25400" dir="5400000">
              <a:srgbClr val="17242A">
                <a:alpha val="16000"/>
              </a:srgbClr>
            </a:outerShdw>
          </a:effectLst>
        </p:spPr>
      </p:sp>
      <p:pic>
        <p:nvPicPr>
          <p:cNvPr id="14" name="screen-student-badges.png" descr="C:\Users\Niladri Ghosh\AppData\Local\Temp\claude\c--Users-Niladri-Ghosh-OneDrive-Desktop-Python-Workspace-Hamar-Shiksha\f3e4742b-a4be-48e9-8e6b-760e759cec7c\scratchpad\deck2\shots\student-badges.png">    </p:cNvPr>
          <p:cNvPicPr>
            <a:picLocks noChangeAspect="1"/>
          </p:cNvPicPr>
          <p:nvPr/>
        </p:nvPicPr>
        <p:blipFill>
          <a:blip r:embed="rId5"/>
          <a:stretch>
            <a:fillRect/>
          </a:stretch>
        </p:blipFill>
        <p:spPr>
          <a:xfrm>
            <a:off x="6080760" y="1371600"/>
            <a:ext cx="1935126" cy="4160520"/>
          </a:xfrm>
          <a:prstGeom prst="rect">
            <a:avLst/>
          </a:prstGeom>
        </p:spPr>
      </p:pic>
      <p:sp>
        <p:nvSpPr>
          <p:cNvPr id="15" name="Text 10"/>
          <p:cNvSpPr txBox="1"/>
          <p:nvPr/>
        </p:nvSpPr>
        <p:spPr>
          <a:xfrm>
            <a:off x="5989320" y="5669280"/>
            <a:ext cx="2148840" cy="594360"/>
          </a:xfrm>
          <a:prstGeom prst="rect">
            <a:avLst/>
          </a:prstGeom>
          <a:noFill/>
          <a:ln/>
        </p:spPr>
        <p:txBody>
          <a:bodyPr wrap="square" lIns="0" tIns="0" rIns="0" bIns="0" rtlCol="0" anchor="t"/>
          <a:lstStyle/>
          <a:p>
            <a:pPr algn="ctr" indent="0" marL="0">
              <a:buNone/>
            </a:pPr>
            <a:r>
              <a:rPr lang="en-US" sz="1200" dirty="0">
                <a:solidFill>
                  <a:srgbClr val="5E6B70"/>
                </a:solidFill>
              </a:rPr>
              <a:t>Badges and printable certificates</a:t>
            </a:r>
            <a:endParaRPr lang="en-US" sz="1200" dirty="0"/>
          </a:p>
        </p:txBody>
      </p:sp>
      <p:sp>
        <p:nvSpPr>
          <p:cNvPr id="16" name="Text 11"/>
          <p:cNvSpPr/>
          <p:nvPr/>
        </p:nvSpPr>
        <p:spPr>
          <a:xfrm>
            <a:off x="8778240" y="1463040"/>
            <a:ext cx="2880360" cy="4114800"/>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rgbClr val="000000"/>
                </a:solidFill>
              </a:rPr>
              <a:t>Levels, XP and learning streaks</a:t>
            </a:r>
            <a:endParaRPr lang="en-US" sz="1500" dirty="0"/>
          </a:p>
          <a:p>
            <a:pPr marL="203200" indent="-203200">
              <a:spcAft>
                <a:spcPts val="600"/>
              </a:spcAft>
              <a:buSzPct val="100000"/>
              <a:buChar char="•"/>
            </a:pPr>
            <a:r>
              <a:rPr lang="en-US" sz="1500" dirty="0">
                <a:solidFill>
                  <a:srgbClr val="000000"/>
                </a:solidFill>
              </a:rPr>
              <a:t>A weekly class challenge</a:t>
            </a:r>
            <a:endParaRPr lang="en-US" sz="1500" dirty="0"/>
          </a:p>
          <a:p>
            <a:pPr marL="203200" indent="-203200">
              <a:spcAft>
                <a:spcPts val="600"/>
              </a:spcAft>
              <a:buSzPct val="100000"/>
              <a:buChar char="•"/>
            </a:pPr>
            <a:r>
              <a:rPr lang="en-US" sz="1500" dirty="0">
                <a:solidFill>
                  <a:srgbClr val="000000"/>
                </a:solidFill>
              </a:rPr>
              <a:t>Voice questions in Hindi or English</a:t>
            </a:r>
            <a:endParaRPr lang="en-US" sz="1500" dirty="0"/>
          </a:p>
          <a:p>
            <a:pPr marL="203200" indent="-203200">
              <a:spcAft>
                <a:spcPts val="600"/>
              </a:spcAft>
              <a:buSzPct val="100000"/>
              <a:buChar char="•"/>
            </a:pPr>
            <a:r>
              <a:rPr lang="en-US" sz="1500" dirty="0">
                <a:solidFill>
                  <a:srgbClr val="000000"/>
                </a:solidFill>
              </a:rPr>
              <a:t>Light and dark themes, colour choices</a:t>
            </a:r>
            <a:endParaRPr lang="en-US" sz="1500" dirty="0"/>
          </a:p>
          <a:p>
            <a:pPr marL="203200" indent="-203200">
              <a:spcAft>
                <a:spcPts val="600"/>
              </a:spcAft>
              <a:buSzPct val="100000"/>
              <a:buChar char="•"/>
            </a:pPr>
            <a:r>
              <a:rPr lang="en-US" sz="1500" dirty="0">
                <a:solidFill>
                  <a:srgbClr val="000000"/>
                </a:solidFill>
              </a:rPr>
              <a:t>Works offline; syncs later</a:t>
            </a:r>
            <a:endParaRPr lang="en-US" sz="1500" dirty="0"/>
          </a:p>
        </p:txBody>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16</a:t>
            </a:fld>
            <a:endParaRPr lang="en-US"/>
          </a:p>
        </p:txBody>
      </p:sp>
    </p:spTree>
  </p:cSld>
  <p:clrMapOvr>
    <a:masterClrMapping/>
  </p:clrMapOvr>
  <p:transition spd="med">
    <p:fade/>
  </p:transition>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59536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Improve by yourself, or with the help of others</a:t>
            </a:r>
            <a:endParaRPr lang="en-US" sz="3000" dirty="0"/>
          </a:p>
        </p:txBody>
      </p:sp>
      <p:sp>
        <p:nvSpPr>
          <p:cNvPr id="3" name="button--Agenda"/>
          <p:cNvSpPr/>
          <p:nvPr/>
        </p:nvSpPr>
        <p:spPr>
          <a:xfrm>
            <a:off x="9372600" y="502920"/>
            <a:ext cx="1097280" cy="365760"/>
          </a:xfrm>
          <a:prstGeom prst="roundRect">
            <a:avLst>
              <a:gd name="adj" fmla="val 57500"/>
            </a:avLst>
          </a:prstGeom>
          <a:solidFill>
            <a:srgbClr val="EFF5F2"/>
          </a:solidFill>
          <a:ln>
            <a:solidFill>
              <a:srgbClr val="EFF5F2"/>
            </a:solidFill>
          </a:ln>
        </p:spPr>
        <p:txBody>
          <a:bodyPr wrap="square" lIns="0" tIns="0" rIns="0" bIns="0" rtlCol="0" anchor="ctr"/>
          <a:lstStyle/>
          <a:p>
            <a:pPr algn="ctr" indent="0" marL="0">
              <a:buNone/>
            </a:pPr>
            <a:r>
              <a:rPr lang="en-US" sz="1200" b="1" dirty="0">
                <a:solidFill>
                  <a:srgbClr val="0B3B36"/>
                </a:solidFill>
              </a:rPr>
              <a:t>☰  Agenda</a:t>
            </a:r>
            <a:endParaRPr lang="en-US" sz="1200" dirty="0"/>
          </a:p>
        </p:txBody>
      </p:sp>
      <p:sp>
        <p:nvSpPr>
          <p:cNvPr id="4" name="button-link--Agenda">
            <a:hlinkClick r:id="rId1" tooltip="Back to the agenda" action="ppaction://hlinksldjump"/>
          </p:cNvPr>
          <p:cNvSpPr/>
          <p:nvPr/>
        </p:nvSpPr>
        <p:spPr>
          <a:xfrm>
            <a:off x="9372600" y="502920"/>
            <a:ext cx="1097280" cy="365760"/>
          </a:xfrm>
          <a:prstGeom prst="rect">
            <a:avLst/>
          </a:prstGeom>
          <a:solidFill>
            <a:srgbClr val="FFFFFF">
              <a:alpha val="0"/>
            </a:srgbClr>
          </a:solidFill>
          <a:ln w="12700">
            <a:solidFill>
              <a:srgbClr val="FFFFFF">
                <a:alpha val="0"/>
              </a:srgbClr>
            </a:solidFill>
            <a:prstDash val="solid"/>
          </a:ln>
        </p:spPr>
      </p:sp>
      <p:sp>
        <p:nvSpPr>
          <p:cNvPr id="5" name="button-Live-demo-"/>
          <p:cNvSpPr/>
          <p:nvPr/>
        </p:nvSpPr>
        <p:spPr>
          <a:xfrm>
            <a:off x="10561320" y="502920"/>
            <a:ext cx="1097280" cy="365760"/>
          </a:xfrm>
          <a:prstGeom prst="roundRect">
            <a:avLst>
              <a:gd name="adj" fmla="val 57500"/>
            </a:avLst>
          </a:prstGeom>
          <a:solidFill>
            <a:srgbClr val="0B3B36"/>
          </a:solidFill>
          <a:ln>
            <a:solidFill>
              <a:srgbClr val="0B3B36"/>
            </a:solidFill>
          </a:ln>
        </p:spPr>
        <p:txBody>
          <a:bodyPr wrap="square" lIns="0" tIns="0" rIns="0" bIns="0" rtlCol="0" anchor="ctr"/>
          <a:lstStyle/>
          <a:p>
            <a:pPr algn="ctr" indent="0" marL="0">
              <a:buNone/>
            </a:pPr>
            <a:r>
              <a:rPr lang="en-US" sz="1200" b="1" dirty="0">
                <a:solidFill>
                  <a:srgbClr val="FFFFFF"/>
                </a:solidFill>
              </a:rPr>
              <a:t>Live demo ↗</a:t>
            </a:r>
            <a:endParaRPr lang="en-US" sz="1200" dirty="0"/>
          </a:p>
        </p:txBody>
      </p:sp>
      <p:sp>
        <p:nvSpPr>
          <p:cNvPr id="6" name="button-link-Live-demo-">
            <a:hlinkClick r:id="rId2" tooltip="Open the live demo"/>
          </p:cNvPr>
          <p:cNvSpPr/>
          <p:nvPr/>
        </p:nvSpPr>
        <p:spPr>
          <a:xfrm>
            <a:off x="10561320" y="502920"/>
            <a:ext cx="1097280" cy="365760"/>
          </a:xfrm>
          <a:prstGeom prst="rect">
            <a:avLst/>
          </a:prstGeom>
          <a:solidFill>
            <a:srgbClr val="FFFFFF">
              <a:alpha val="0"/>
            </a:srgbClr>
          </a:solidFill>
          <a:ln w="12700">
            <a:solidFill>
              <a:srgbClr val="FFFFFF">
                <a:alpha val="0"/>
              </a:srgbClr>
            </a:solidFill>
            <a:prstDash val="solid"/>
          </a:ln>
        </p:spPr>
      </p:sp>
      <p:sp>
        <p:nvSpPr>
          <p:cNvPr id="7" name="phone-student-revise.png"/>
          <p:cNvSpPr/>
          <p:nvPr/>
        </p:nvSpPr>
        <p:spPr>
          <a:xfrm>
            <a:off x="777240" y="1280160"/>
            <a:ext cx="2118006" cy="4343400"/>
          </a:xfrm>
          <a:prstGeom prst="roundRect">
            <a:avLst>
              <a:gd name="adj" fmla="val 10793"/>
            </a:avLst>
          </a:prstGeom>
          <a:solidFill>
            <a:srgbClr val="17242A"/>
          </a:solidFill>
          <a:ln w="12700">
            <a:solidFill>
              <a:srgbClr val="17242A"/>
            </a:solidFill>
            <a:prstDash val="solid"/>
          </a:ln>
          <a:effectLst>
            <a:outerShdw sx="100000" sy="100000" kx="0" ky="0" algn="bl" rotWithShape="0" blurRad="101600" dist="25400" dir="5400000">
              <a:srgbClr val="17242A">
                <a:alpha val="16000"/>
              </a:srgbClr>
            </a:outerShdw>
          </a:effectLst>
        </p:spPr>
      </p:sp>
      <p:pic>
        <p:nvPicPr>
          <p:cNvPr id="8" name="screen-student-revise.png" descr="C:\Users\Niladri Ghosh\AppData\Local\Temp\claude\c--Users-Niladri-Ghosh-OneDrive-Desktop-Python-Workspace-Hamar-Shiksha\f3e4742b-a4be-48e9-8e6b-760e759cec7c\scratchpad\deck2\shots\student-revise.png">    </p:cNvPr>
          <p:cNvPicPr>
            <a:picLocks noChangeAspect="1"/>
          </p:cNvPicPr>
          <p:nvPr/>
        </p:nvPicPr>
        <p:blipFill>
          <a:blip r:embed="rId3"/>
          <a:stretch>
            <a:fillRect/>
          </a:stretch>
        </p:blipFill>
        <p:spPr>
          <a:xfrm>
            <a:off x="868680" y="1371600"/>
            <a:ext cx="1935126" cy="4160520"/>
          </a:xfrm>
          <a:prstGeom prst="rect">
            <a:avLst/>
          </a:prstGeom>
        </p:spPr>
      </p:pic>
      <p:sp>
        <p:nvSpPr>
          <p:cNvPr id="9" name="phone-student-class.png"/>
          <p:cNvSpPr/>
          <p:nvPr/>
        </p:nvSpPr>
        <p:spPr>
          <a:xfrm>
            <a:off x="3383280" y="1280160"/>
            <a:ext cx="2118006" cy="4343400"/>
          </a:xfrm>
          <a:prstGeom prst="roundRect">
            <a:avLst>
              <a:gd name="adj" fmla="val 10793"/>
            </a:avLst>
          </a:prstGeom>
          <a:solidFill>
            <a:srgbClr val="17242A"/>
          </a:solidFill>
          <a:ln w="12700">
            <a:solidFill>
              <a:srgbClr val="17242A"/>
            </a:solidFill>
            <a:prstDash val="solid"/>
          </a:ln>
          <a:effectLst>
            <a:outerShdw sx="100000" sy="100000" kx="0" ky="0" algn="bl" rotWithShape="0" blurRad="101600" dist="25400" dir="5400000">
              <a:srgbClr val="17242A">
                <a:alpha val="16000"/>
              </a:srgbClr>
            </a:outerShdw>
          </a:effectLst>
        </p:spPr>
      </p:sp>
      <p:pic>
        <p:nvPicPr>
          <p:cNvPr id="10" name="screen-student-class.png" descr="C:\Users\Niladri Ghosh\AppData\Local\Temp\claude\c--Users-Niladri-Ghosh-OneDrive-Desktop-Python-Workspace-Hamar-Shiksha\f3e4742b-a4be-48e9-8e6b-760e759cec7c\scratchpad\deck2\shots\student-class.png">    </p:cNvPr>
          <p:cNvPicPr>
            <a:picLocks noChangeAspect="1"/>
          </p:cNvPicPr>
          <p:nvPr/>
        </p:nvPicPr>
        <p:blipFill>
          <a:blip r:embed="rId4"/>
          <a:stretch>
            <a:fillRect/>
          </a:stretch>
        </p:blipFill>
        <p:spPr>
          <a:xfrm>
            <a:off x="3474720" y="1371600"/>
            <a:ext cx="1935126" cy="4160520"/>
          </a:xfrm>
          <a:prstGeom prst="rect">
            <a:avLst/>
          </a:prstGeom>
        </p:spPr>
      </p:pic>
      <p:sp>
        <p:nvSpPr>
          <p:cNvPr id="11" name="icon-bg-FaRotate"/>
          <p:cNvSpPr/>
          <p:nvPr/>
        </p:nvSpPr>
        <p:spPr>
          <a:xfrm>
            <a:off x="6400800" y="1371600"/>
            <a:ext cx="566928" cy="566928"/>
          </a:xfrm>
          <a:prstGeom prst="ellipse">
            <a:avLst/>
          </a:prstGeom>
          <a:solidFill>
            <a:srgbClr val="E8762B"/>
          </a:solidFill>
          <a:ln w="12700">
            <a:solidFill>
              <a:srgbClr val="E8762B"/>
            </a:solidFill>
            <a:prstDash val="solid"/>
          </a:ln>
        </p:spPr>
      </p:sp>
      <p:pic>
        <p:nvPicPr>
          <p:cNvPr id="12" name="icon-FaRotate" descr="preencoded.png">    </p:cNvPr>
          <p:cNvPicPr>
            <a:picLocks noChangeAspect="1"/>
          </p:cNvPicPr>
          <p:nvPr/>
        </p:nvPicPr>
        <p:blipFill>
          <a:blip r:embed="rId5"/>
          <a:stretch>
            <a:fillRect/>
          </a:stretch>
        </p:blipFill>
        <p:spPr>
          <a:xfrm>
            <a:off x="6542532" y="1513332"/>
            <a:ext cx="283464" cy="283464"/>
          </a:xfrm>
          <a:prstGeom prst="rect">
            <a:avLst/>
          </a:prstGeom>
        </p:spPr>
      </p:pic>
      <p:sp>
        <p:nvSpPr>
          <p:cNvPr id="13" name="Text 8"/>
          <p:cNvSpPr txBox="1"/>
          <p:nvPr/>
        </p:nvSpPr>
        <p:spPr>
          <a:xfrm>
            <a:off x="7132320" y="1353312"/>
            <a:ext cx="4480560" cy="329184"/>
          </a:xfrm>
          <a:prstGeom prst="rect">
            <a:avLst/>
          </a:prstGeom>
          <a:noFill/>
          <a:ln/>
        </p:spPr>
        <p:txBody>
          <a:bodyPr wrap="square" lIns="0" tIns="0" rIns="0" bIns="0" rtlCol="0" anchor="t"/>
          <a:lstStyle/>
          <a:p>
            <a:pPr indent="0" marL="0">
              <a:buNone/>
            </a:pPr>
            <a:r>
              <a:rPr lang="en-US" sz="1600" b="1" dirty="0">
                <a:solidFill>
                  <a:srgbClr val="0B3B36"/>
                </a:solidFill>
              </a:rPr>
              <a:t>Fix my mistakes</a:t>
            </a:r>
            <a:endParaRPr lang="en-US" sz="1600" dirty="0"/>
          </a:p>
        </p:txBody>
      </p:sp>
      <p:sp>
        <p:nvSpPr>
          <p:cNvPr id="14" name="Text 9"/>
          <p:cNvSpPr txBox="1"/>
          <p:nvPr/>
        </p:nvSpPr>
        <p:spPr>
          <a:xfrm>
            <a:off x="7132320" y="1673352"/>
            <a:ext cx="4480560" cy="329184"/>
          </a:xfrm>
          <a:prstGeom prst="rect">
            <a:avLst/>
          </a:prstGeom>
          <a:noFill/>
          <a:ln/>
        </p:spPr>
        <p:txBody>
          <a:bodyPr wrap="square" lIns="0" tIns="0" rIns="0" bIns="0" rtlCol="0" anchor="t"/>
          <a:lstStyle/>
          <a:p>
            <a:pPr indent="0" marL="0">
              <a:buNone/>
            </a:pPr>
            <a:r>
              <a:rPr lang="en-US" sz="1400" dirty="0">
                <a:solidFill>
                  <a:srgbClr val="5E6B70"/>
                </a:solidFill>
              </a:rPr>
              <a:t>Spaced revision of every wrong answer</a:t>
            </a:r>
            <a:endParaRPr lang="en-US" sz="1400" dirty="0"/>
          </a:p>
        </p:txBody>
      </p:sp>
      <p:sp>
        <p:nvSpPr>
          <p:cNvPr id="15" name="icon-bg-FaBookOpen"/>
          <p:cNvSpPr/>
          <p:nvPr/>
        </p:nvSpPr>
        <p:spPr>
          <a:xfrm>
            <a:off x="6400800" y="2240280"/>
            <a:ext cx="566928" cy="566928"/>
          </a:xfrm>
          <a:prstGeom prst="ellipse">
            <a:avLst/>
          </a:prstGeom>
          <a:solidFill>
            <a:srgbClr val="E8762B"/>
          </a:solidFill>
          <a:ln w="12700">
            <a:solidFill>
              <a:srgbClr val="E8762B"/>
            </a:solidFill>
            <a:prstDash val="solid"/>
          </a:ln>
        </p:spPr>
      </p:sp>
      <p:pic>
        <p:nvPicPr>
          <p:cNvPr id="16" name="icon-FaBookOpen" descr="preencoded.png">    </p:cNvPr>
          <p:cNvPicPr>
            <a:picLocks noChangeAspect="1"/>
          </p:cNvPicPr>
          <p:nvPr/>
        </p:nvPicPr>
        <p:blipFill>
          <a:blip r:embed="rId6"/>
          <a:stretch>
            <a:fillRect/>
          </a:stretch>
        </p:blipFill>
        <p:spPr>
          <a:xfrm>
            <a:off x="6542532" y="2382012"/>
            <a:ext cx="283464" cy="283464"/>
          </a:xfrm>
          <a:prstGeom prst="rect">
            <a:avLst/>
          </a:prstGeom>
        </p:spPr>
      </p:pic>
      <p:sp>
        <p:nvSpPr>
          <p:cNvPr id="17" name="Text 11"/>
          <p:cNvSpPr txBox="1"/>
          <p:nvPr/>
        </p:nvSpPr>
        <p:spPr>
          <a:xfrm>
            <a:off x="7132320" y="2221992"/>
            <a:ext cx="4480560" cy="329184"/>
          </a:xfrm>
          <a:prstGeom prst="rect">
            <a:avLst/>
          </a:prstGeom>
          <a:noFill/>
          <a:ln/>
        </p:spPr>
        <p:txBody>
          <a:bodyPr wrap="square" lIns="0" tIns="0" rIns="0" bIns="0" rtlCol="0" anchor="t"/>
          <a:lstStyle/>
          <a:p>
            <a:pPr indent="0" marL="0">
              <a:buNone/>
            </a:pPr>
            <a:r>
              <a:rPr lang="en-US" sz="1600" b="1" dirty="0">
                <a:solidFill>
                  <a:srgbClr val="0B3B36"/>
                </a:solidFill>
              </a:rPr>
              <a:t>Textbook library</a:t>
            </a:r>
            <a:endParaRPr lang="en-US" sz="1600" dirty="0"/>
          </a:p>
        </p:txBody>
      </p:sp>
      <p:sp>
        <p:nvSpPr>
          <p:cNvPr id="18" name="Text 12"/>
          <p:cNvSpPr txBox="1"/>
          <p:nvPr/>
        </p:nvSpPr>
        <p:spPr>
          <a:xfrm>
            <a:off x="7132320" y="2542032"/>
            <a:ext cx="4480560" cy="329184"/>
          </a:xfrm>
          <a:prstGeom prst="rect">
            <a:avLst/>
          </a:prstGeom>
          <a:noFill/>
          <a:ln/>
        </p:spPr>
        <p:txBody>
          <a:bodyPr wrap="square" lIns="0" tIns="0" rIns="0" bIns="0" rtlCol="0" anchor="t"/>
          <a:lstStyle/>
          <a:p>
            <a:pPr indent="0" marL="0">
              <a:buNone/>
            </a:pPr>
            <a:r>
              <a:rPr lang="en-US" sz="1400" dirty="0">
                <a:solidFill>
                  <a:srgbClr val="5E6B70"/>
                </a:solidFill>
              </a:rPr>
              <a:t>Read SCERT books chapter by chapter</a:t>
            </a:r>
            <a:endParaRPr lang="en-US" sz="1400" dirty="0"/>
          </a:p>
        </p:txBody>
      </p:sp>
      <p:sp>
        <p:nvSpPr>
          <p:cNvPr id="19" name="icon-bg-FaBullseye"/>
          <p:cNvSpPr/>
          <p:nvPr/>
        </p:nvSpPr>
        <p:spPr>
          <a:xfrm>
            <a:off x="6400800" y="3108960"/>
            <a:ext cx="566928" cy="566928"/>
          </a:xfrm>
          <a:prstGeom prst="ellipse">
            <a:avLst/>
          </a:prstGeom>
          <a:solidFill>
            <a:srgbClr val="E8762B"/>
          </a:solidFill>
          <a:ln w="12700">
            <a:solidFill>
              <a:srgbClr val="E8762B"/>
            </a:solidFill>
            <a:prstDash val="solid"/>
          </a:ln>
        </p:spPr>
      </p:sp>
      <p:pic>
        <p:nvPicPr>
          <p:cNvPr id="20" name="icon-FaBullseye" descr="preencoded.png">    </p:cNvPr>
          <p:cNvPicPr>
            <a:picLocks noChangeAspect="1"/>
          </p:cNvPicPr>
          <p:nvPr/>
        </p:nvPicPr>
        <p:blipFill>
          <a:blip r:embed="rId7"/>
          <a:stretch>
            <a:fillRect/>
          </a:stretch>
        </p:blipFill>
        <p:spPr>
          <a:xfrm>
            <a:off x="6542532" y="3250692"/>
            <a:ext cx="283464" cy="283464"/>
          </a:xfrm>
          <a:prstGeom prst="rect">
            <a:avLst/>
          </a:prstGeom>
        </p:spPr>
      </p:pic>
      <p:sp>
        <p:nvSpPr>
          <p:cNvPr id="21" name="Text 14"/>
          <p:cNvSpPr txBox="1"/>
          <p:nvPr/>
        </p:nvSpPr>
        <p:spPr>
          <a:xfrm>
            <a:off x="7132320" y="3090672"/>
            <a:ext cx="4480560" cy="329184"/>
          </a:xfrm>
          <a:prstGeom prst="rect">
            <a:avLst/>
          </a:prstGeom>
          <a:noFill/>
          <a:ln/>
        </p:spPr>
        <p:txBody>
          <a:bodyPr wrap="square" lIns="0" tIns="0" rIns="0" bIns="0" rtlCol="0" anchor="t"/>
          <a:lstStyle/>
          <a:p>
            <a:pPr indent="0" marL="0">
              <a:buNone/>
            </a:pPr>
            <a:r>
              <a:rPr lang="en-US" sz="1600" b="1" dirty="0">
                <a:solidFill>
                  <a:srgbClr val="0B3B36"/>
                </a:solidFill>
              </a:rPr>
              <a:t>Weekly goals</a:t>
            </a:r>
            <a:endParaRPr lang="en-US" sz="1600" dirty="0"/>
          </a:p>
        </p:txBody>
      </p:sp>
      <p:sp>
        <p:nvSpPr>
          <p:cNvPr id="22" name="Text 15"/>
          <p:cNvSpPr txBox="1"/>
          <p:nvPr/>
        </p:nvSpPr>
        <p:spPr>
          <a:xfrm>
            <a:off x="7132320" y="3410712"/>
            <a:ext cx="4480560" cy="329184"/>
          </a:xfrm>
          <a:prstGeom prst="rect">
            <a:avLst/>
          </a:prstGeom>
          <a:noFill/>
          <a:ln/>
        </p:spPr>
        <p:txBody>
          <a:bodyPr wrap="square" lIns="0" tIns="0" rIns="0" bIns="0" rtlCol="0" anchor="t"/>
          <a:lstStyle/>
          <a:p>
            <a:pPr indent="0" marL="0">
              <a:buNone/>
            </a:pPr>
            <a:r>
              <a:rPr lang="en-US" sz="1400" dirty="0">
                <a:solidFill>
                  <a:srgbClr val="5E6B70"/>
                </a:solidFill>
              </a:rPr>
              <a:t>Set and track your own targets</a:t>
            </a:r>
            <a:endParaRPr lang="en-US" sz="1400" dirty="0"/>
          </a:p>
        </p:txBody>
      </p:sp>
      <p:sp>
        <p:nvSpPr>
          <p:cNvPr id="23" name="icon-bg-FaUsers"/>
          <p:cNvSpPr/>
          <p:nvPr/>
        </p:nvSpPr>
        <p:spPr>
          <a:xfrm>
            <a:off x="6400800" y="3977640"/>
            <a:ext cx="566928" cy="566928"/>
          </a:xfrm>
          <a:prstGeom prst="ellipse">
            <a:avLst/>
          </a:prstGeom>
          <a:solidFill>
            <a:srgbClr val="E8762B"/>
          </a:solidFill>
          <a:ln w="12700">
            <a:solidFill>
              <a:srgbClr val="E8762B"/>
            </a:solidFill>
            <a:prstDash val="solid"/>
          </a:ln>
        </p:spPr>
      </p:sp>
      <p:pic>
        <p:nvPicPr>
          <p:cNvPr id="24" name="icon-FaUsers" descr="preencoded.png">    </p:cNvPr>
          <p:cNvPicPr>
            <a:picLocks noChangeAspect="1"/>
          </p:cNvPicPr>
          <p:nvPr/>
        </p:nvPicPr>
        <p:blipFill>
          <a:blip r:embed="rId8"/>
          <a:stretch>
            <a:fillRect/>
          </a:stretch>
        </p:blipFill>
        <p:spPr>
          <a:xfrm>
            <a:off x="6542532" y="4119372"/>
            <a:ext cx="283464" cy="283464"/>
          </a:xfrm>
          <a:prstGeom prst="rect">
            <a:avLst/>
          </a:prstGeom>
        </p:spPr>
      </p:pic>
      <p:sp>
        <p:nvSpPr>
          <p:cNvPr id="25" name="Text 17"/>
          <p:cNvSpPr txBox="1"/>
          <p:nvPr/>
        </p:nvSpPr>
        <p:spPr>
          <a:xfrm>
            <a:off x="7132320" y="3959352"/>
            <a:ext cx="4480560" cy="329184"/>
          </a:xfrm>
          <a:prstGeom prst="rect">
            <a:avLst/>
          </a:prstGeom>
          <a:noFill/>
          <a:ln/>
        </p:spPr>
        <p:txBody>
          <a:bodyPr wrap="square" lIns="0" tIns="0" rIns="0" bIns="0" rtlCol="0" anchor="t"/>
          <a:lstStyle/>
          <a:p>
            <a:pPr indent="0" marL="0">
              <a:buNone/>
            </a:pPr>
            <a:r>
              <a:rPr lang="en-US" sz="1600" b="1" dirty="0">
                <a:solidFill>
                  <a:srgbClr val="0B3B36"/>
                </a:solidFill>
              </a:rPr>
              <a:t>Class doubt board</a:t>
            </a:r>
            <a:endParaRPr lang="en-US" sz="1600" dirty="0"/>
          </a:p>
        </p:txBody>
      </p:sp>
      <p:sp>
        <p:nvSpPr>
          <p:cNvPr id="26" name="Text 18"/>
          <p:cNvSpPr txBox="1"/>
          <p:nvPr/>
        </p:nvSpPr>
        <p:spPr>
          <a:xfrm>
            <a:off x="7132320" y="4279392"/>
            <a:ext cx="4480560" cy="329184"/>
          </a:xfrm>
          <a:prstGeom prst="rect">
            <a:avLst/>
          </a:prstGeom>
          <a:noFill/>
          <a:ln/>
        </p:spPr>
        <p:txBody>
          <a:bodyPr wrap="square" lIns="0" tIns="0" rIns="0" bIns="0" rtlCol="0" anchor="t"/>
          <a:lstStyle/>
          <a:p>
            <a:pPr indent="0" marL="0">
              <a:buNone/>
            </a:pPr>
            <a:r>
              <a:rPr lang="en-US" sz="1400" dirty="0">
                <a:solidFill>
                  <a:srgbClr val="5E6B70"/>
                </a:solidFill>
              </a:rPr>
              <a:t>Classmates answer; teacher moderates</a:t>
            </a:r>
            <a:endParaRPr lang="en-US" sz="1400" dirty="0"/>
          </a:p>
        </p:txBody>
      </p:sp>
      <p:sp>
        <p:nvSpPr>
          <p:cNvPr id="27" name="icon-bg-FaHandshake"/>
          <p:cNvSpPr/>
          <p:nvPr/>
        </p:nvSpPr>
        <p:spPr>
          <a:xfrm>
            <a:off x="6400800" y="4846320"/>
            <a:ext cx="566928" cy="566928"/>
          </a:xfrm>
          <a:prstGeom prst="ellipse">
            <a:avLst/>
          </a:prstGeom>
          <a:solidFill>
            <a:srgbClr val="E8762B"/>
          </a:solidFill>
          <a:ln w="12700">
            <a:solidFill>
              <a:srgbClr val="E8762B"/>
            </a:solidFill>
            <a:prstDash val="solid"/>
          </a:ln>
        </p:spPr>
      </p:sp>
      <p:pic>
        <p:nvPicPr>
          <p:cNvPr id="28" name="icon-FaHandshake" descr="preencoded.png">    </p:cNvPr>
          <p:cNvPicPr>
            <a:picLocks noChangeAspect="1"/>
          </p:cNvPicPr>
          <p:nvPr/>
        </p:nvPicPr>
        <p:blipFill>
          <a:blip r:embed="rId9"/>
          <a:stretch>
            <a:fillRect/>
          </a:stretch>
        </p:blipFill>
        <p:spPr>
          <a:xfrm>
            <a:off x="6542532" y="4988052"/>
            <a:ext cx="283464" cy="283464"/>
          </a:xfrm>
          <a:prstGeom prst="rect">
            <a:avLst/>
          </a:prstGeom>
        </p:spPr>
      </p:pic>
      <p:sp>
        <p:nvSpPr>
          <p:cNvPr id="29" name="Text 20"/>
          <p:cNvSpPr txBox="1"/>
          <p:nvPr/>
        </p:nvSpPr>
        <p:spPr>
          <a:xfrm>
            <a:off x="7132320" y="4828032"/>
            <a:ext cx="4480560" cy="329184"/>
          </a:xfrm>
          <a:prstGeom prst="rect">
            <a:avLst/>
          </a:prstGeom>
          <a:noFill/>
          <a:ln/>
        </p:spPr>
        <p:txBody>
          <a:bodyPr wrap="square" lIns="0" tIns="0" rIns="0" bIns="0" rtlCol="0" anchor="t"/>
          <a:lstStyle/>
          <a:p>
            <a:pPr indent="0" marL="0">
              <a:buNone/>
            </a:pPr>
            <a:r>
              <a:rPr lang="en-US" sz="1600" b="1" dirty="0">
                <a:solidFill>
                  <a:srgbClr val="0B3B36"/>
                </a:solidFill>
              </a:rPr>
              <a:t>Study buddies</a:t>
            </a:r>
            <a:endParaRPr lang="en-US" sz="1600" dirty="0"/>
          </a:p>
        </p:txBody>
      </p:sp>
      <p:sp>
        <p:nvSpPr>
          <p:cNvPr id="30" name="Text 21"/>
          <p:cNvSpPr txBox="1"/>
          <p:nvPr/>
        </p:nvSpPr>
        <p:spPr>
          <a:xfrm>
            <a:off x="7132320" y="5148072"/>
            <a:ext cx="4480560" cy="329184"/>
          </a:xfrm>
          <a:prstGeom prst="rect">
            <a:avLst/>
          </a:prstGeom>
          <a:noFill/>
          <a:ln/>
        </p:spPr>
        <p:txBody>
          <a:bodyPr wrap="square" lIns="0" tIns="0" rIns="0" bIns="0" rtlCol="0" anchor="t"/>
          <a:lstStyle/>
          <a:p>
            <a:pPr indent="0" marL="0">
              <a:buNone/>
            </a:pPr>
            <a:r>
              <a:rPr lang="en-US" sz="1400" dirty="0">
                <a:solidFill>
                  <a:srgbClr val="5E6B70"/>
                </a:solidFill>
              </a:rPr>
              <a:t>Paired by the teacher from mastery data</a:t>
            </a:r>
            <a:endParaRPr lang="en-US" sz="1400" dirty="0"/>
          </a:p>
        </p:txBody>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17</a:t>
            </a:fld>
            <a:endParaRPr lang="en-US"/>
          </a:p>
        </p:txBody>
      </p:sp>
    </p:spTree>
  </p:cSld>
  <p:clrMapOvr>
    <a:masterClrMapping/>
  </p:clrMapOvr>
  <p:transition spd="med">
    <p:fade/>
  </p:transition>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766560" cy="1188720"/>
          </a:xfrm>
          <a:prstGeom prst="rect">
            <a:avLst/>
          </a:prstGeom>
          <a:noFill/>
          <a:ln/>
        </p:spPr>
        <p:txBody>
          <a:bodyPr wrap="square" lIns="0" tIns="0" rIns="0" bIns="0" rtlCol="0" anchor="b"/>
          <a:lstStyle/>
          <a:p>
            <a:pPr algn="l" indent="0" marL="0">
              <a:buNone/>
            </a:pPr>
            <a:r>
              <a:rPr lang="en-US" sz="4400" b="1" dirty="0">
                <a:solidFill>
                  <a:schemeClr val="bg1"/>
                </a:solidFill>
                <a:latin typeface="Cambria" pitchFamily="34" charset="0"/>
                <a:ea typeface="Cambria" pitchFamily="34" charset="-122"/>
                <a:cs typeface="Cambria" pitchFamily="34" charset="-120"/>
              </a:rPr>
              <a:t>AI, curriculum and trust</a:t>
            </a:r>
            <a:endParaRPr lang="en-US" sz="4400" dirty="0"/>
          </a:p>
        </p:txBody>
      </p:sp>
      <p:sp>
        <p:nvSpPr>
          <p:cNvPr id="3" name="Text 0"/>
          <p:cNvSpPr/>
          <p:nvPr>
            <p:ph idx="101" type="body" hasCustomPrompt="1"/>
          </p:nvPr>
        </p:nvSpPr>
        <p:spPr>
          <a:xfrm>
            <a:off x="731520" y="2788920"/>
            <a:ext cx="6400800" cy="1097280"/>
          </a:xfrm>
          <a:prstGeom prst="rect">
            <a:avLst/>
          </a:prstGeom>
          <a:noFill/>
          <a:ln/>
        </p:spPr>
        <p:txBody>
          <a:bodyPr wrap="square" lIns="0" tIns="0" rIns="0" bIns="0" rtlCol="0" anchor="t"/>
          <a:lstStyle/>
          <a:p>
            <a:pPr indent="0" marL="0">
              <a:buNone/>
            </a:pPr>
            <a:r>
              <a:rPr lang="en-US" sz="1800" dirty="0">
                <a:solidFill>
                  <a:schemeClr val="bg2"/>
                </a:solidFill>
              </a:rPr>
              <a:t>A small local model grounded in SCERT books</a:t>
            </a:r>
            <a:endParaRPr lang="en-US" sz="1800" dirty="0"/>
          </a:p>
        </p:txBody>
      </p:sp>
      <p:sp>
        <p:nvSpPr>
          <p:cNvPr id="4" name="Text 2"/>
          <p:cNvSpPr txBox="1"/>
          <p:nvPr/>
        </p:nvSpPr>
        <p:spPr>
          <a:xfrm>
            <a:off x="731520" y="685800"/>
            <a:ext cx="1828800" cy="731520"/>
          </a:xfrm>
          <a:prstGeom prst="rect">
            <a:avLst/>
          </a:prstGeom>
          <a:noFill/>
          <a:ln/>
        </p:spPr>
        <p:txBody>
          <a:bodyPr wrap="square" lIns="0" tIns="0" rIns="0" bIns="0" rtlCol="0" anchor="ctr"/>
          <a:lstStyle/>
          <a:p>
            <a:pPr indent="0" marL="0">
              <a:buNone/>
            </a:pPr>
            <a:r>
              <a:rPr lang="en-US" sz="4000" b="1" dirty="0">
                <a:solidFill>
                  <a:srgbClr val="7A4FC9"/>
                </a:solidFill>
                <a:latin typeface="Cambria" pitchFamily="34" charset="0"/>
                <a:ea typeface="Cambria" pitchFamily="34" charset="-122"/>
                <a:cs typeface="Cambria" pitchFamily="34" charset="-120"/>
              </a:rPr>
              <a:t>05</a:t>
            </a:r>
            <a:endParaRPr lang="en-US" sz="4000" dirty="0"/>
          </a:p>
        </p:txBody>
      </p:sp>
      <p:sp>
        <p:nvSpPr>
          <p:cNvPr id="5" name="Text 3"/>
          <p:cNvSpPr txBox="1"/>
          <p:nvPr/>
        </p:nvSpPr>
        <p:spPr>
          <a:xfrm>
            <a:off x="8001000" y="1417320"/>
            <a:ext cx="3474720" cy="320040"/>
          </a:xfrm>
          <a:prstGeom prst="rect">
            <a:avLst/>
          </a:prstGeom>
          <a:noFill/>
          <a:ln/>
        </p:spPr>
        <p:txBody>
          <a:bodyPr wrap="square" lIns="0" tIns="0" rIns="0" bIns="0" rtlCol="0" anchor="t"/>
          <a:lstStyle/>
          <a:p>
            <a:pPr indent="0" marL="0">
              <a:buNone/>
            </a:pPr>
            <a:r>
              <a:rPr lang="en-US" sz="1200" b="1" spc="200" kern="0" dirty="0">
                <a:solidFill>
                  <a:srgbClr val="C9921A"/>
                </a:solidFill>
              </a:rPr>
              <a:t>IN THIS SECTION</a:t>
            </a:r>
            <a:endParaRPr lang="en-US" sz="1200" dirty="0"/>
          </a:p>
        </p:txBody>
      </p:sp>
      <p:sp>
        <p:nvSpPr>
          <p:cNvPr id="6" name="menu-gyan"/>
          <p:cNvSpPr/>
          <p:nvPr/>
        </p:nvSpPr>
        <p:spPr>
          <a:xfrm>
            <a:off x="8001000" y="1828800"/>
            <a:ext cx="3611880" cy="457200"/>
          </a:xfrm>
          <a:prstGeom prst="roundRect">
            <a:avLst>
              <a:gd name="adj" fmla="val 20000"/>
            </a:avLst>
          </a:prstGeom>
          <a:solidFill>
            <a:srgbClr val="134E47"/>
          </a:solidFill>
          <a:ln>
            <a:solidFill>
              <a:srgbClr val="134E47"/>
            </a:solidFill>
          </a:ln>
        </p:spPr>
        <p:txBody>
          <a:bodyPr wrap="square" lIns="0" tIns="152400" rIns="127000" bIns="0" rtlCol="0" anchor="ctr"/>
          <a:lstStyle/>
          <a:p>
            <a:pPr algn="l" indent="0" marL="0">
              <a:buNone/>
            </a:pPr>
            <a:r>
              <a:rPr lang="en-US" sz="1300" dirty="0">
                <a:solidFill>
                  <a:srgbClr val="FFFFFF"/>
                </a:solidFill>
              </a:rPr>
              <a:t>01   Gyan SLM: answers with citations  →</a:t>
            </a:r>
            <a:endParaRPr lang="en-US" sz="1300" dirty="0"/>
          </a:p>
        </p:txBody>
      </p:sp>
      <p:sp>
        <p:nvSpPr>
          <p:cNvPr id="7" name="menu-link-gyan">
            <a:hlinkClick r:id="rId1" tooltip="Gyan SLM: answers with citations" action="ppaction://hlinksldjump"/>
          </p:cNvPr>
          <p:cNvSpPr/>
          <p:nvPr/>
        </p:nvSpPr>
        <p:spPr>
          <a:xfrm>
            <a:off x="8001000" y="1828800"/>
            <a:ext cx="3611880" cy="457200"/>
          </a:xfrm>
          <a:prstGeom prst="rect">
            <a:avLst/>
          </a:prstGeom>
          <a:solidFill>
            <a:srgbClr val="FFFFFF">
              <a:alpha val="0"/>
            </a:srgbClr>
          </a:solidFill>
          <a:ln w="12700">
            <a:solidFill>
              <a:srgbClr val="FFFFFF">
                <a:alpha val="0"/>
              </a:srgbClr>
            </a:solidFill>
            <a:prstDash val="solid"/>
          </a:ln>
        </p:spPr>
      </p:sp>
      <p:sp>
        <p:nvSpPr>
          <p:cNvPr id="8" name="menu-trust"/>
          <p:cNvSpPr/>
          <p:nvPr/>
        </p:nvSpPr>
        <p:spPr>
          <a:xfrm>
            <a:off x="8001000" y="2395728"/>
            <a:ext cx="3611880" cy="457200"/>
          </a:xfrm>
          <a:prstGeom prst="roundRect">
            <a:avLst>
              <a:gd name="adj" fmla="val 20000"/>
            </a:avLst>
          </a:prstGeom>
          <a:solidFill>
            <a:srgbClr val="134E47"/>
          </a:solidFill>
          <a:ln>
            <a:solidFill>
              <a:srgbClr val="134E47"/>
            </a:solidFill>
          </a:ln>
        </p:spPr>
        <p:txBody>
          <a:bodyPr wrap="square" lIns="0" tIns="152400" rIns="127000" bIns="0" rtlCol="0" anchor="ctr"/>
          <a:lstStyle/>
          <a:p>
            <a:pPr algn="l" indent="0" marL="0">
              <a:buNone/>
            </a:pPr>
            <a:r>
              <a:rPr lang="en-US" sz="1300" dirty="0">
                <a:solidFill>
                  <a:srgbClr val="FFFFFF"/>
                </a:solidFill>
              </a:rPr>
              <a:t>02   Offline, secure, private, safe  →</a:t>
            </a:r>
            <a:endParaRPr lang="en-US" sz="1300" dirty="0"/>
          </a:p>
        </p:txBody>
      </p:sp>
      <p:sp>
        <p:nvSpPr>
          <p:cNvPr id="9" name="menu-link-trust">
            <a:hlinkClick r:id="rId2" tooltip="Offline, secure, private, safe" action="ppaction://hlinksldjump"/>
          </p:cNvPr>
          <p:cNvSpPr/>
          <p:nvPr/>
        </p:nvSpPr>
        <p:spPr>
          <a:xfrm>
            <a:off x="8001000" y="2395728"/>
            <a:ext cx="3611880" cy="457200"/>
          </a:xfrm>
          <a:prstGeom prst="rect">
            <a:avLst/>
          </a:prstGeom>
          <a:solidFill>
            <a:srgbClr val="FFFFFF">
              <a:alpha val="0"/>
            </a:srgbClr>
          </a:solidFill>
          <a:ln w="12700">
            <a:solidFill>
              <a:srgbClr val="FFFFFF">
                <a:alpha val="0"/>
              </a:srgbClr>
            </a:solidFill>
            <a:prstDash val="solid"/>
          </a:ln>
        </p:spPr>
      </p:sp>
      <p:sp>
        <p:nvSpPr>
          <p:cNvPr id="10" name="icon-bg-FaBrain"/>
          <p:cNvSpPr/>
          <p:nvPr/>
        </p:nvSpPr>
        <p:spPr>
          <a:xfrm>
            <a:off x="731520" y="4206240"/>
            <a:ext cx="1097280" cy="1097280"/>
          </a:xfrm>
          <a:prstGeom prst="ellipse">
            <a:avLst/>
          </a:prstGeom>
          <a:solidFill>
            <a:srgbClr val="7A4FC9"/>
          </a:solidFill>
          <a:ln w="12700">
            <a:solidFill>
              <a:srgbClr val="7A4FC9"/>
            </a:solidFill>
            <a:prstDash val="solid"/>
          </a:ln>
        </p:spPr>
      </p:sp>
      <p:pic>
        <p:nvPicPr>
          <p:cNvPr id="11" name="icon-FaBrain" descr="preencoded.png">    </p:cNvPr>
          <p:cNvPicPr>
            <a:picLocks noChangeAspect="1"/>
          </p:cNvPicPr>
          <p:nvPr/>
        </p:nvPicPr>
        <p:blipFill>
          <a:blip r:embed="rId3"/>
          <a:stretch>
            <a:fillRect/>
          </a:stretch>
        </p:blipFill>
        <p:spPr>
          <a:xfrm>
            <a:off x="1005840" y="4480560"/>
            <a:ext cx="548640" cy="548640"/>
          </a:xfrm>
          <a:prstGeom prst="rect">
            <a:avLst/>
          </a:prstGeom>
        </p:spPr>
      </p:pic>
      <p:sp>
        <p:nvSpPr>
          <p:cNvPr id="12" name="button--Agenda"/>
          <p:cNvSpPr/>
          <p:nvPr/>
        </p:nvSpPr>
        <p:spPr>
          <a:xfrm>
            <a:off x="731520" y="5760720"/>
            <a:ext cx="1280160" cy="384048"/>
          </a:xfrm>
          <a:prstGeom prst="roundRect">
            <a:avLst>
              <a:gd name="adj" fmla="val 54762"/>
            </a:avLst>
          </a:prstGeom>
          <a:solidFill>
            <a:srgbClr val="134E47"/>
          </a:solidFill>
          <a:ln>
            <a:solidFill>
              <a:srgbClr val="134E47"/>
            </a:solidFill>
          </a:ln>
        </p:spPr>
        <p:txBody>
          <a:bodyPr wrap="square" lIns="0" tIns="0" rIns="0" bIns="0" rtlCol="0" anchor="ctr"/>
          <a:lstStyle/>
          <a:p>
            <a:pPr algn="ctr" indent="0" marL="0">
              <a:buNone/>
            </a:pPr>
            <a:r>
              <a:rPr lang="en-US" sz="1200" b="1" dirty="0">
                <a:solidFill>
                  <a:srgbClr val="FFFFFF"/>
                </a:solidFill>
              </a:rPr>
              <a:t>☰  Agenda</a:t>
            </a:r>
            <a:endParaRPr lang="en-US" sz="1200" dirty="0"/>
          </a:p>
        </p:txBody>
      </p:sp>
      <p:sp>
        <p:nvSpPr>
          <p:cNvPr id="13" name="button-link--Agenda">
            <a:hlinkClick r:id="rId4" tooltip="Back to the agenda" action="ppaction://hlinksldjump"/>
          </p:cNvPr>
          <p:cNvSpPr/>
          <p:nvPr/>
        </p:nvSpPr>
        <p:spPr>
          <a:xfrm>
            <a:off x="731520" y="5760720"/>
            <a:ext cx="1280160" cy="384048"/>
          </a:xfrm>
          <a:prstGeom prst="rect">
            <a:avLst/>
          </a:prstGeom>
          <a:solidFill>
            <a:srgbClr val="FFFFFF">
              <a:alpha val="0"/>
            </a:srgbClr>
          </a:solidFill>
          <a:ln w="12700">
            <a:solidFill>
              <a:srgbClr val="FFFFFF">
                <a:alpha val="0"/>
              </a:srgbClr>
            </a:solidFill>
            <a:prstDash val="solid"/>
          </a:ln>
        </p:spPr>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18</a:t>
            </a:fld>
            <a:endParaRPr lang="en-US"/>
          </a:p>
        </p:txBody>
      </p:sp>
    </p:spTree>
  </p:cSld>
  <p:clrMapOvr>
    <a:masterClrMapping/>
  </p:clrMapOvr>
  <p:transition spd="med">
    <p:fade/>
  </p:transition>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59536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Gyan SLM: answers grounded in SCERT textbooks</a:t>
            </a:r>
            <a:endParaRPr lang="en-US" sz="3000" dirty="0"/>
          </a:p>
        </p:txBody>
      </p:sp>
      <p:sp>
        <p:nvSpPr>
          <p:cNvPr id="3" name="button--Agenda"/>
          <p:cNvSpPr/>
          <p:nvPr/>
        </p:nvSpPr>
        <p:spPr>
          <a:xfrm>
            <a:off x="9372600" y="502920"/>
            <a:ext cx="1097280" cy="365760"/>
          </a:xfrm>
          <a:prstGeom prst="roundRect">
            <a:avLst>
              <a:gd name="adj" fmla="val 57500"/>
            </a:avLst>
          </a:prstGeom>
          <a:solidFill>
            <a:srgbClr val="EFF5F2"/>
          </a:solidFill>
          <a:ln>
            <a:solidFill>
              <a:srgbClr val="EFF5F2"/>
            </a:solidFill>
          </a:ln>
        </p:spPr>
        <p:txBody>
          <a:bodyPr wrap="square" lIns="0" tIns="0" rIns="0" bIns="0" rtlCol="0" anchor="ctr"/>
          <a:lstStyle/>
          <a:p>
            <a:pPr algn="ctr" indent="0" marL="0">
              <a:buNone/>
            </a:pPr>
            <a:r>
              <a:rPr lang="en-US" sz="1200" b="1" dirty="0">
                <a:solidFill>
                  <a:srgbClr val="0B3B36"/>
                </a:solidFill>
              </a:rPr>
              <a:t>☰  Agenda</a:t>
            </a:r>
            <a:endParaRPr lang="en-US" sz="1200" dirty="0"/>
          </a:p>
        </p:txBody>
      </p:sp>
      <p:sp>
        <p:nvSpPr>
          <p:cNvPr id="4" name="button-link--Agenda">
            <a:hlinkClick r:id="rId1" tooltip="Back to the agenda" action="ppaction://hlinksldjump"/>
          </p:cNvPr>
          <p:cNvSpPr/>
          <p:nvPr/>
        </p:nvSpPr>
        <p:spPr>
          <a:xfrm>
            <a:off x="9372600" y="502920"/>
            <a:ext cx="1097280" cy="365760"/>
          </a:xfrm>
          <a:prstGeom prst="rect">
            <a:avLst/>
          </a:prstGeom>
          <a:solidFill>
            <a:srgbClr val="FFFFFF">
              <a:alpha val="0"/>
            </a:srgbClr>
          </a:solidFill>
          <a:ln w="12700">
            <a:solidFill>
              <a:srgbClr val="FFFFFF">
                <a:alpha val="0"/>
              </a:srgbClr>
            </a:solidFill>
            <a:prstDash val="solid"/>
          </a:ln>
        </p:spPr>
      </p:sp>
      <p:sp>
        <p:nvSpPr>
          <p:cNvPr id="5" name="button-Live-demo-"/>
          <p:cNvSpPr/>
          <p:nvPr/>
        </p:nvSpPr>
        <p:spPr>
          <a:xfrm>
            <a:off x="10561320" y="502920"/>
            <a:ext cx="1097280" cy="365760"/>
          </a:xfrm>
          <a:prstGeom prst="roundRect">
            <a:avLst>
              <a:gd name="adj" fmla="val 57500"/>
            </a:avLst>
          </a:prstGeom>
          <a:solidFill>
            <a:srgbClr val="0B3B36"/>
          </a:solidFill>
          <a:ln>
            <a:solidFill>
              <a:srgbClr val="0B3B36"/>
            </a:solidFill>
          </a:ln>
        </p:spPr>
        <p:txBody>
          <a:bodyPr wrap="square" lIns="0" tIns="0" rIns="0" bIns="0" rtlCol="0" anchor="ctr"/>
          <a:lstStyle/>
          <a:p>
            <a:pPr algn="ctr" indent="0" marL="0">
              <a:buNone/>
            </a:pPr>
            <a:r>
              <a:rPr lang="en-US" sz="1200" b="1" dirty="0">
                <a:solidFill>
                  <a:srgbClr val="FFFFFF"/>
                </a:solidFill>
              </a:rPr>
              <a:t>Live demo ↗</a:t>
            </a:r>
            <a:endParaRPr lang="en-US" sz="1200" dirty="0"/>
          </a:p>
        </p:txBody>
      </p:sp>
      <p:sp>
        <p:nvSpPr>
          <p:cNvPr id="6" name="button-link-Live-demo-">
            <a:hlinkClick r:id="rId2" tooltip="Open the live demo"/>
          </p:cNvPr>
          <p:cNvSpPr/>
          <p:nvPr/>
        </p:nvSpPr>
        <p:spPr>
          <a:xfrm>
            <a:off x="10561320" y="502920"/>
            <a:ext cx="1097280" cy="365760"/>
          </a:xfrm>
          <a:prstGeom prst="rect">
            <a:avLst/>
          </a:prstGeom>
          <a:solidFill>
            <a:srgbClr val="FFFFFF">
              <a:alpha val="0"/>
            </a:srgbClr>
          </a:solidFill>
          <a:ln w="12700">
            <a:solidFill>
              <a:srgbClr val="FFFFFF">
                <a:alpha val="0"/>
              </a:srgbClr>
            </a:solidFill>
            <a:prstDash val="solid"/>
          </a:ln>
        </p:spPr>
      </p:sp>
      <p:sp>
        <p:nvSpPr>
          <p:cNvPr id="7" name="flow-0"/>
          <p:cNvSpPr/>
          <p:nvPr/>
        </p:nvSpPr>
        <p:spPr>
          <a:xfrm>
            <a:off x="548640" y="1371600"/>
            <a:ext cx="2011680" cy="1783080"/>
          </a:xfrm>
          <a:prstGeom prst="roundRect">
            <a:avLst>
              <a:gd name="adj" fmla="val 6154"/>
            </a:avLst>
          </a:prstGeom>
          <a:solidFill>
            <a:srgbClr val="EFF5F2"/>
          </a:solidFill>
          <a:ln w="12700">
            <a:solidFill>
              <a:srgbClr val="EFF5F2"/>
            </a:solidFill>
            <a:prstDash val="solid"/>
          </a:ln>
          <a:effectLst>
            <a:outerShdw sx="100000" sy="100000" kx="0" ky="0" algn="bl" rotWithShape="0" blurRad="101600" dist="25400" dir="5400000">
              <a:srgbClr val="17242A">
                <a:alpha val="16000"/>
              </a:srgbClr>
            </a:outerShdw>
          </a:effectLst>
        </p:spPr>
      </p:sp>
      <p:sp>
        <p:nvSpPr>
          <p:cNvPr id="8" name="icon-bg-FaCircleQuestion"/>
          <p:cNvSpPr/>
          <p:nvPr/>
        </p:nvSpPr>
        <p:spPr>
          <a:xfrm>
            <a:off x="1234440" y="1508760"/>
            <a:ext cx="640080" cy="640080"/>
          </a:xfrm>
          <a:prstGeom prst="ellipse">
            <a:avLst/>
          </a:prstGeom>
          <a:solidFill>
            <a:srgbClr val="7A4FC9"/>
          </a:solidFill>
          <a:ln w="12700">
            <a:solidFill>
              <a:srgbClr val="7A4FC9"/>
            </a:solidFill>
            <a:prstDash val="solid"/>
          </a:ln>
        </p:spPr>
      </p:sp>
      <p:pic>
        <p:nvPicPr>
          <p:cNvPr id="9" name="icon-FaCircleQuestion" descr="preencoded.png">    </p:cNvPr>
          <p:cNvPicPr>
            <a:picLocks noChangeAspect="1"/>
          </p:cNvPicPr>
          <p:nvPr/>
        </p:nvPicPr>
        <p:blipFill>
          <a:blip r:embed="rId3"/>
          <a:stretch>
            <a:fillRect/>
          </a:stretch>
        </p:blipFill>
        <p:spPr>
          <a:xfrm>
            <a:off x="1394460" y="1668780"/>
            <a:ext cx="320040" cy="320040"/>
          </a:xfrm>
          <a:prstGeom prst="rect">
            <a:avLst/>
          </a:prstGeom>
        </p:spPr>
      </p:pic>
      <p:sp>
        <p:nvSpPr>
          <p:cNvPr id="10" name="Text 7"/>
          <p:cNvSpPr txBox="1"/>
          <p:nvPr/>
        </p:nvSpPr>
        <p:spPr>
          <a:xfrm>
            <a:off x="640080" y="2240280"/>
            <a:ext cx="1828800" cy="365760"/>
          </a:xfrm>
          <a:prstGeom prst="rect">
            <a:avLst/>
          </a:prstGeom>
          <a:noFill/>
          <a:ln/>
        </p:spPr>
        <p:txBody>
          <a:bodyPr wrap="square" lIns="0" tIns="0" rIns="0" bIns="0" rtlCol="0" anchor="t"/>
          <a:lstStyle/>
          <a:p>
            <a:pPr algn="ctr" indent="0" marL="0">
              <a:buNone/>
            </a:pPr>
            <a:r>
              <a:rPr lang="en-US" sz="1600" b="1" dirty="0">
                <a:solidFill>
                  <a:srgbClr val="0B3B36"/>
                </a:solidFill>
              </a:rPr>
              <a:t>Question</a:t>
            </a:r>
            <a:endParaRPr lang="en-US" sz="1600" dirty="0"/>
          </a:p>
        </p:txBody>
      </p:sp>
      <p:sp>
        <p:nvSpPr>
          <p:cNvPr id="11" name="Text 8"/>
          <p:cNvSpPr txBox="1"/>
          <p:nvPr/>
        </p:nvSpPr>
        <p:spPr>
          <a:xfrm>
            <a:off x="640080" y="2606040"/>
            <a:ext cx="1828800" cy="457200"/>
          </a:xfrm>
          <a:prstGeom prst="rect">
            <a:avLst/>
          </a:prstGeom>
          <a:noFill/>
          <a:ln/>
        </p:spPr>
        <p:txBody>
          <a:bodyPr wrap="square" lIns="0" tIns="0" rIns="0" bIns="0" rtlCol="0" anchor="t"/>
          <a:lstStyle/>
          <a:p>
            <a:pPr algn="ctr" indent="0" marL="0">
              <a:buNone/>
            </a:pPr>
            <a:r>
              <a:rPr lang="en-US" sz="1200" dirty="0">
                <a:solidFill>
                  <a:srgbClr val="5E6B70"/>
                </a:solidFill>
              </a:rPr>
              <a:t>typed or spoken</a:t>
            </a:r>
            <a:endParaRPr lang="en-US" sz="1200" dirty="0"/>
          </a:p>
        </p:txBody>
      </p:sp>
      <p:pic>
        <p:nvPicPr>
          <p:cNvPr id="12" name="arrow-0" descr="preencoded.png">    </p:cNvPr>
          <p:cNvPicPr>
            <a:picLocks noChangeAspect="1"/>
          </p:cNvPicPr>
          <p:nvPr/>
        </p:nvPicPr>
        <p:blipFill>
          <a:blip r:embed="rId4"/>
          <a:stretch>
            <a:fillRect/>
          </a:stretch>
        </p:blipFill>
        <p:spPr>
          <a:xfrm>
            <a:off x="2624328" y="2148840"/>
            <a:ext cx="182880" cy="228600"/>
          </a:xfrm>
          <a:prstGeom prst="rect">
            <a:avLst/>
          </a:prstGeom>
        </p:spPr>
      </p:pic>
      <p:sp>
        <p:nvSpPr>
          <p:cNvPr id="13" name="flow-1"/>
          <p:cNvSpPr/>
          <p:nvPr/>
        </p:nvSpPr>
        <p:spPr>
          <a:xfrm>
            <a:off x="2834640" y="1371600"/>
            <a:ext cx="2011680" cy="1783080"/>
          </a:xfrm>
          <a:prstGeom prst="roundRect">
            <a:avLst>
              <a:gd name="adj" fmla="val 6154"/>
            </a:avLst>
          </a:prstGeom>
          <a:solidFill>
            <a:srgbClr val="EFF5F2"/>
          </a:solidFill>
          <a:ln w="12700">
            <a:solidFill>
              <a:srgbClr val="EFF5F2"/>
            </a:solidFill>
            <a:prstDash val="solid"/>
          </a:ln>
          <a:effectLst>
            <a:outerShdw sx="100000" sy="100000" kx="0" ky="0" algn="bl" rotWithShape="0" blurRad="101600" dist="25400" dir="5400000">
              <a:srgbClr val="17242A">
                <a:alpha val="16000"/>
              </a:srgbClr>
            </a:outerShdw>
          </a:effectLst>
        </p:spPr>
      </p:sp>
      <p:sp>
        <p:nvSpPr>
          <p:cNvPr id="14" name="icon-bg-FaMagnifyingGlass"/>
          <p:cNvSpPr/>
          <p:nvPr/>
        </p:nvSpPr>
        <p:spPr>
          <a:xfrm>
            <a:off x="3520440" y="1508760"/>
            <a:ext cx="640080" cy="640080"/>
          </a:xfrm>
          <a:prstGeom prst="ellipse">
            <a:avLst/>
          </a:prstGeom>
          <a:solidFill>
            <a:srgbClr val="7A4FC9"/>
          </a:solidFill>
          <a:ln w="12700">
            <a:solidFill>
              <a:srgbClr val="7A4FC9"/>
            </a:solidFill>
            <a:prstDash val="solid"/>
          </a:ln>
        </p:spPr>
      </p:sp>
      <p:pic>
        <p:nvPicPr>
          <p:cNvPr id="15" name="icon-FaMagnifyingGlass" descr="preencoded.png">    </p:cNvPr>
          <p:cNvPicPr>
            <a:picLocks noChangeAspect="1"/>
          </p:cNvPicPr>
          <p:nvPr/>
        </p:nvPicPr>
        <p:blipFill>
          <a:blip r:embed="rId5"/>
          <a:stretch>
            <a:fillRect/>
          </a:stretch>
        </p:blipFill>
        <p:spPr>
          <a:xfrm>
            <a:off x="3680460" y="1668780"/>
            <a:ext cx="320040" cy="320040"/>
          </a:xfrm>
          <a:prstGeom prst="rect">
            <a:avLst/>
          </a:prstGeom>
        </p:spPr>
      </p:pic>
      <p:sp>
        <p:nvSpPr>
          <p:cNvPr id="16" name="Text 11"/>
          <p:cNvSpPr txBox="1"/>
          <p:nvPr/>
        </p:nvSpPr>
        <p:spPr>
          <a:xfrm>
            <a:off x="2926080" y="2240280"/>
            <a:ext cx="1828800" cy="365760"/>
          </a:xfrm>
          <a:prstGeom prst="rect">
            <a:avLst/>
          </a:prstGeom>
          <a:noFill/>
          <a:ln/>
        </p:spPr>
        <p:txBody>
          <a:bodyPr wrap="square" lIns="0" tIns="0" rIns="0" bIns="0" rtlCol="0" anchor="t"/>
          <a:lstStyle/>
          <a:p>
            <a:pPr algn="ctr" indent="0" marL="0">
              <a:buNone/>
            </a:pPr>
            <a:r>
              <a:rPr lang="en-US" sz="1600" b="1" dirty="0">
                <a:solidFill>
                  <a:srgbClr val="0B3B36"/>
                </a:solidFill>
              </a:rPr>
              <a:t>Retrieve</a:t>
            </a:r>
            <a:endParaRPr lang="en-US" sz="1600" dirty="0"/>
          </a:p>
        </p:txBody>
      </p:sp>
      <p:sp>
        <p:nvSpPr>
          <p:cNvPr id="17" name="Text 12"/>
          <p:cNvSpPr txBox="1"/>
          <p:nvPr/>
        </p:nvSpPr>
        <p:spPr>
          <a:xfrm>
            <a:off x="2926080" y="2606040"/>
            <a:ext cx="1828800" cy="457200"/>
          </a:xfrm>
          <a:prstGeom prst="rect">
            <a:avLst/>
          </a:prstGeom>
          <a:noFill/>
          <a:ln/>
        </p:spPr>
        <p:txBody>
          <a:bodyPr wrap="square" lIns="0" tIns="0" rIns="0" bIns="0" rtlCol="0" anchor="t"/>
          <a:lstStyle/>
          <a:p>
            <a:pPr algn="ctr" indent="0" marL="0">
              <a:buNone/>
            </a:pPr>
            <a:r>
              <a:rPr lang="en-US" sz="1200" dirty="0">
                <a:solidFill>
                  <a:srgbClr val="5E6B70"/>
                </a:solidFill>
              </a:rPr>
              <a:t>matching textbook passages</a:t>
            </a:r>
            <a:endParaRPr lang="en-US" sz="1200" dirty="0"/>
          </a:p>
        </p:txBody>
      </p:sp>
      <p:pic>
        <p:nvPicPr>
          <p:cNvPr id="18" name="arrow-1" descr="preencoded.png">    </p:cNvPr>
          <p:cNvPicPr>
            <a:picLocks noChangeAspect="1"/>
          </p:cNvPicPr>
          <p:nvPr/>
        </p:nvPicPr>
        <p:blipFill>
          <a:blip r:embed="rId6"/>
          <a:stretch>
            <a:fillRect/>
          </a:stretch>
        </p:blipFill>
        <p:spPr>
          <a:xfrm>
            <a:off x="4910328" y="2148840"/>
            <a:ext cx="182880" cy="228600"/>
          </a:xfrm>
          <a:prstGeom prst="rect">
            <a:avLst/>
          </a:prstGeom>
        </p:spPr>
      </p:pic>
      <p:sp>
        <p:nvSpPr>
          <p:cNvPr id="19" name="flow-2"/>
          <p:cNvSpPr/>
          <p:nvPr/>
        </p:nvSpPr>
        <p:spPr>
          <a:xfrm>
            <a:off x="5120640" y="1371600"/>
            <a:ext cx="2011680" cy="1783080"/>
          </a:xfrm>
          <a:prstGeom prst="roundRect">
            <a:avLst>
              <a:gd name="adj" fmla="val 6154"/>
            </a:avLst>
          </a:prstGeom>
          <a:solidFill>
            <a:srgbClr val="EFF5F2"/>
          </a:solidFill>
          <a:ln w="12700">
            <a:solidFill>
              <a:srgbClr val="EFF5F2"/>
            </a:solidFill>
            <a:prstDash val="solid"/>
          </a:ln>
          <a:effectLst>
            <a:outerShdw sx="100000" sy="100000" kx="0" ky="0" algn="bl" rotWithShape="0" blurRad="101600" dist="25400" dir="5400000">
              <a:srgbClr val="17242A">
                <a:alpha val="16000"/>
              </a:srgbClr>
            </a:outerShdw>
          </a:effectLst>
        </p:spPr>
      </p:sp>
      <p:sp>
        <p:nvSpPr>
          <p:cNvPr id="20" name="icon-bg-FaBrain"/>
          <p:cNvSpPr/>
          <p:nvPr/>
        </p:nvSpPr>
        <p:spPr>
          <a:xfrm>
            <a:off x="5806440" y="1508760"/>
            <a:ext cx="640080" cy="640080"/>
          </a:xfrm>
          <a:prstGeom prst="ellipse">
            <a:avLst/>
          </a:prstGeom>
          <a:solidFill>
            <a:srgbClr val="7A4FC9"/>
          </a:solidFill>
          <a:ln w="12700">
            <a:solidFill>
              <a:srgbClr val="7A4FC9"/>
            </a:solidFill>
            <a:prstDash val="solid"/>
          </a:ln>
        </p:spPr>
      </p:sp>
      <p:pic>
        <p:nvPicPr>
          <p:cNvPr id="21" name="icon-FaBrain" descr="preencoded.png">    </p:cNvPr>
          <p:cNvPicPr>
            <a:picLocks noChangeAspect="1"/>
          </p:cNvPicPr>
          <p:nvPr/>
        </p:nvPicPr>
        <p:blipFill>
          <a:blip r:embed="rId7"/>
          <a:stretch>
            <a:fillRect/>
          </a:stretch>
        </p:blipFill>
        <p:spPr>
          <a:xfrm>
            <a:off x="5966460" y="1668780"/>
            <a:ext cx="320040" cy="320040"/>
          </a:xfrm>
          <a:prstGeom prst="rect">
            <a:avLst/>
          </a:prstGeom>
        </p:spPr>
      </p:pic>
      <p:sp>
        <p:nvSpPr>
          <p:cNvPr id="22" name="Text 15"/>
          <p:cNvSpPr txBox="1"/>
          <p:nvPr/>
        </p:nvSpPr>
        <p:spPr>
          <a:xfrm>
            <a:off x="5212080" y="2240280"/>
            <a:ext cx="1828800" cy="365760"/>
          </a:xfrm>
          <a:prstGeom prst="rect">
            <a:avLst/>
          </a:prstGeom>
          <a:noFill/>
          <a:ln/>
        </p:spPr>
        <p:txBody>
          <a:bodyPr wrap="square" lIns="0" tIns="0" rIns="0" bIns="0" rtlCol="0" anchor="t"/>
          <a:lstStyle/>
          <a:p>
            <a:pPr algn="ctr" indent="0" marL="0">
              <a:buNone/>
            </a:pPr>
            <a:r>
              <a:rPr lang="en-US" sz="1600" b="1" dirty="0">
                <a:solidFill>
                  <a:srgbClr val="0B3B36"/>
                </a:solidFill>
              </a:rPr>
              <a:t>Generate</a:t>
            </a:r>
            <a:endParaRPr lang="en-US" sz="1600" dirty="0"/>
          </a:p>
        </p:txBody>
      </p:sp>
      <p:sp>
        <p:nvSpPr>
          <p:cNvPr id="23" name="Text 16"/>
          <p:cNvSpPr txBox="1"/>
          <p:nvPr/>
        </p:nvSpPr>
        <p:spPr>
          <a:xfrm>
            <a:off x="5212080" y="2606040"/>
            <a:ext cx="1828800" cy="457200"/>
          </a:xfrm>
          <a:prstGeom prst="rect">
            <a:avLst/>
          </a:prstGeom>
          <a:noFill/>
          <a:ln/>
        </p:spPr>
        <p:txBody>
          <a:bodyPr wrap="square" lIns="0" tIns="0" rIns="0" bIns="0" rtlCol="0" anchor="t"/>
          <a:lstStyle/>
          <a:p>
            <a:pPr algn="ctr" indent="0" marL="0">
              <a:buNone/>
            </a:pPr>
            <a:r>
              <a:rPr lang="en-US" sz="1200" dirty="0">
                <a:solidFill>
                  <a:srgbClr val="5E6B70"/>
                </a:solidFill>
              </a:rPr>
              <a:t>local model (llama3.2:3b)</a:t>
            </a:r>
            <a:endParaRPr lang="en-US" sz="1200" dirty="0"/>
          </a:p>
        </p:txBody>
      </p:sp>
      <p:pic>
        <p:nvPicPr>
          <p:cNvPr id="24" name="arrow-2" descr="preencoded.png">    </p:cNvPr>
          <p:cNvPicPr>
            <a:picLocks noChangeAspect="1"/>
          </p:cNvPicPr>
          <p:nvPr/>
        </p:nvPicPr>
        <p:blipFill>
          <a:blip r:embed="rId8"/>
          <a:stretch>
            <a:fillRect/>
          </a:stretch>
        </p:blipFill>
        <p:spPr>
          <a:xfrm>
            <a:off x="7196328" y="2148840"/>
            <a:ext cx="182880" cy="228600"/>
          </a:xfrm>
          <a:prstGeom prst="rect">
            <a:avLst/>
          </a:prstGeom>
        </p:spPr>
      </p:pic>
      <p:sp>
        <p:nvSpPr>
          <p:cNvPr id="25" name="flow-3"/>
          <p:cNvSpPr/>
          <p:nvPr/>
        </p:nvSpPr>
        <p:spPr>
          <a:xfrm>
            <a:off x="7406640" y="1371600"/>
            <a:ext cx="2011680" cy="1783080"/>
          </a:xfrm>
          <a:prstGeom prst="roundRect">
            <a:avLst>
              <a:gd name="adj" fmla="val 6154"/>
            </a:avLst>
          </a:prstGeom>
          <a:solidFill>
            <a:srgbClr val="EFF5F2"/>
          </a:solidFill>
          <a:ln w="12700">
            <a:solidFill>
              <a:srgbClr val="EFF5F2"/>
            </a:solidFill>
            <a:prstDash val="solid"/>
          </a:ln>
          <a:effectLst>
            <a:outerShdw sx="100000" sy="100000" kx="0" ky="0" algn="bl" rotWithShape="0" blurRad="101600" dist="25400" dir="5400000">
              <a:srgbClr val="17242A">
                <a:alpha val="16000"/>
              </a:srgbClr>
            </a:outerShdw>
          </a:effectLst>
        </p:spPr>
      </p:sp>
      <p:sp>
        <p:nvSpPr>
          <p:cNvPr id="26" name="icon-bg-FaShieldHalved"/>
          <p:cNvSpPr/>
          <p:nvPr/>
        </p:nvSpPr>
        <p:spPr>
          <a:xfrm>
            <a:off x="8092440" y="1508760"/>
            <a:ext cx="640080" cy="640080"/>
          </a:xfrm>
          <a:prstGeom prst="ellipse">
            <a:avLst/>
          </a:prstGeom>
          <a:solidFill>
            <a:srgbClr val="7A4FC9"/>
          </a:solidFill>
          <a:ln w="12700">
            <a:solidFill>
              <a:srgbClr val="7A4FC9"/>
            </a:solidFill>
            <a:prstDash val="solid"/>
          </a:ln>
        </p:spPr>
      </p:sp>
      <p:pic>
        <p:nvPicPr>
          <p:cNvPr id="27" name="icon-FaShieldHalved" descr="preencoded.png">    </p:cNvPr>
          <p:cNvPicPr>
            <a:picLocks noChangeAspect="1"/>
          </p:cNvPicPr>
          <p:nvPr/>
        </p:nvPicPr>
        <p:blipFill>
          <a:blip r:embed="rId9"/>
          <a:stretch>
            <a:fillRect/>
          </a:stretch>
        </p:blipFill>
        <p:spPr>
          <a:xfrm>
            <a:off x="8252460" y="1668780"/>
            <a:ext cx="320040" cy="320040"/>
          </a:xfrm>
          <a:prstGeom prst="rect">
            <a:avLst/>
          </a:prstGeom>
        </p:spPr>
      </p:pic>
      <p:sp>
        <p:nvSpPr>
          <p:cNvPr id="28" name="Text 19"/>
          <p:cNvSpPr txBox="1"/>
          <p:nvPr/>
        </p:nvSpPr>
        <p:spPr>
          <a:xfrm>
            <a:off x="7498080" y="2240280"/>
            <a:ext cx="1828800" cy="365760"/>
          </a:xfrm>
          <a:prstGeom prst="rect">
            <a:avLst/>
          </a:prstGeom>
          <a:noFill/>
          <a:ln/>
        </p:spPr>
        <p:txBody>
          <a:bodyPr wrap="square" lIns="0" tIns="0" rIns="0" bIns="0" rtlCol="0" anchor="t"/>
          <a:lstStyle/>
          <a:p>
            <a:pPr algn="ctr" indent="0" marL="0">
              <a:buNone/>
            </a:pPr>
            <a:r>
              <a:rPr lang="en-US" sz="1600" b="1" dirty="0">
                <a:solidFill>
                  <a:srgbClr val="0B3B36"/>
                </a:solidFill>
              </a:rPr>
              <a:t>Validate</a:t>
            </a:r>
            <a:endParaRPr lang="en-US" sz="1600" dirty="0"/>
          </a:p>
        </p:txBody>
      </p:sp>
      <p:sp>
        <p:nvSpPr>
          <p:cNvPr id="29" name="Text 20"/>
          <p:cNvSpPr txBox="1"/>
          <p:nvPr/>
        </p:nvSpPr>
        <p:spPr>
          <a:xfrm>
            <a:off x="7498080" y="2606040"/>
            <a:ext cx="1828800" cy="457200"/>
          </a:xfrm>
          <a:prstGeom prst="rect">
            <a:avLst/>
          </a:prstGeom>
          <a:noFill/>
          <a:ln/>
        </p:spPr>
        <p:txBody>
          <a:bodyPr wrap="square" lIns="0" tIns="0" rIns="0" bIns="0" rtlCol="0" anchor="t"/>
          <a:lstStyle/>
          <a:p>
            <a:pPr algn="ctr" indent="0" marL="0">
              <a:buNone/>
            </a:pPr>
            <a:r>
              <a:rPr lang="en-US" sz="1200" dirty="0">
                <a:solidFill>
                  <a:srgbClr val="5E6B70"/>
                </a:solidFill>
              </a:rPr>
              <a:t>citations and word coverage</a:t>
            </a:r>
            <a:endParaRPr lang="en-US" sz="1200" dirty="0"/>
          </a:p>
        </p:txBody>
      </p:sp>
      <p:pic>
        <p:nvPicPr>
          <p:cNvPr id="30" name="arrow-3" descr="preencoded.png">    </p:cNvPr>
          <p:cNvPicPr>
            <a:picLocks noChangeAspect="1"/>
          </p:cNvPicPr>
          <p:nvPr/>
        </p:nvPicPr>
        <p:blipFill>
          <a:blip r:embed="rId10"/>
          <a:stretch>
            <a:fillRect/>
          </a:stretch>
        </p:blipFill>
        <p:spPr>
          <a:xfrm>
            <a:off x="9482328" y="2148840"/>
            <a:ext cx="182880" cy="228600"/>
          </a:xfrm>
          <a:prstGeom prst="rect">
            <a:avLst/>
          </a:prstGeom>
        </p:spPr>
      </p:pic>
      <p:sp>
        <p:nvSpPr>
          <p:cNvPr id="31" name="flow-4"/>
          <p:cNvSpPr/>
          <p:nvPr/>
        </p:nvSpPr>
        <p:spPr>
          <a:xfrm>
            <a:off x="9692640" y="1371600"/>
            <a:ext cx="2011680" cy="1783080"/>
          </a:xfrm>
          <a:prstGeom prst="roundRect">
            <a:avLst>
              <a:gd name="adj" fmla="val 6154"/>
            </a:avLst>
          </a:prstGeom>
          <a:solidFill>
            <a:srgbClr val="EFF5F2"/>
          </a:solidFill>
          <a:ln w="12700">
            <a:solidFill>
              <a:srgbClr val="EFF5F2"/>
            </a:solidFill>
            <a:prstDash val="solid"/>
          </a:ln>
          <a:effectLst>
            <a:outerShdw sx="100000" sy="100000" kx="0" ky="0" algn="bl" rotWithShape="0" blurRad="101600" dist="25400" dir="5400000">
              <a:srgbClr val="17242A">
                <a:alpha val="16000"/>
              </a:srgbClr>
            </a:outerShdw>
          </a:effectLst>
        </p:spPr>
      </p:sp>
      <p:sp>
        <p:nvSpPr>
          <p:cNvPr id="32" name="icon-bg-FaBookOpen"/>
          <p:cNvSpPr/>
          <p:nvPr/>
        </p:nvSpPr>
        <p:spPr>
          <a:xfrm>
            <a:off x="10378440" y="1508760"/>
            <a:ext cx="640080" cy="640080"/>
          </a:xfrm>
          <a:prstGeom prst="ellipse">
            <a:avLst/>
          </a:prstGeom>
          <a:solidFill>
            <a:srgbClr val="7A4FC9"/>
          </a:solidFill>
          <a:ln w="12700">
            <a:solidFill>
              <a:srgbClr val="7A4FC9"/>
            </a:solidFill>
            <a:prstDash val="solid"/>
          </a:ln>
        </p:spPr>
      </p:sp>
      <p:pic>
        <p:nvPicPr>
          <p:cNvPr id="33" name="icon-FaBookOpen" descr="preencoded.png">    </p:cNvPr>
          <p:cNvPicPr>
            <a:picLocks noChangeAspect="1"/>
          </p:cNvPicPr>
          <p:nvPr/>
        </p:nvPicPr>
        <p:blipFill>
          <a:blip r:embed="rId11"/>
          <a:stretch>
            <a:fillRect/>
          </a:stretch>
        </p:blipFill>
        <p:spPr>
          <a:xfrm>
            <a:off x="10538460" y="1668780"/>
            <a:ext cx="320040" cy="320040"/>
          </a:xfrm>
          <a:prstGeom prst="rect">
            <a:avLst/>
          </a:prstGeom>
        </p:spPr>
      </p:pic>
      <p:sp>
        <p:nvSpPr>
          <p:cNvPr id="34" name="Text 23"/>
          <p:cNvSpPr txBox="1"/>
          <p:nvPr/>
        </p:nvSpPr>
        <p:spPr>
          <a:xfrm>
            <a:off x="9784080" y="2240280"/>
            <a:ext cx="1828800" cy="365760"/>
          </a:xfrm>
          <a:prstGeom prst="rect">
            <a:avLst/>
          </a:prstGeom>
          <a:noFill/>
          <a:ln/>
        </p:spPr>
        <p:txBody>
          <a:bodyPr wrap="square" lIns="0" tIns="0" rIns="0" bIns="0" rtlCol="0" anchor="t"/>
          <a:lstStyle/>
          <a:p>
            <a:pPr algn="ctr" indent="0" marL="0">
              <a:buNone/>
            </a:pPr>
            <a:r>
              <a:rPr lang="en-US" sz="1600" b="1" dirty="0">
                <a:solidFill>
                  <a:srgbClr val="0B3B36"/>
                </a:solidFill>
              </a:rPr>
              <a:t>Answer</a:t>
            </a:r>
            <a:endParaRPr lang="en-US" sz="1600" dirty="0"/>
          </a:p>
        </p:txBody>
      </p:sp>
      <p:sp>
        <p:nvSpPr>
          <p:cNvPr id="35" name="Text 24"/>
          <p:cNvSpPr txBox="1"/>
          <p:nvPr/>
        </p:nvSpPr>
        <p:spPr>
          <a:xfrm>
            <a:off x="9784080" y="2606040"/>
            <a:ext cx="1828800" cy="457200"/>
          </a:xfrm>
          <a:prstGeom prst="rect">
            <a:avLst/>
          </a:prstGeom>
          <a:noFill/>
          <a:ln/>
        </p:spPr>
        <p:txBody>
          <a:bodyPr wrap="square" lIns="0" tIns="0" rIns="0" bIns="0" rtlCol="0" anchor="t"/>
          <a:lstStyle/>
          <a:p>
            <a:pPr algn="ctr" indent="0" marL="0">
              <a:buNone/>
            </a:pPr>
            <a:r>
              <a:rPr lang="en-US" sz="1200" dirty="0">
                <a:solidFill>
                  <a:srgbClr val="5E6B70"/>
                </a:solidFill>
              </a:rPr>
              <a:t>with book, chapter, page</a:t>
            </a:r>
            <a:endParaRPr lang="en-US" sz="1200" dirty="0"/>
          </a:p>
        </p:txBody>
      </p:sp>
      <p:sp>
        <p:nvSpPr>
          <p:cNvPr id="36" name="Text 25"/>
          <p:cNvSpPr txBox="1"/>
          <p:nvPr/>
        </p:nvSpPr>
        <p:spPr>
          <a:xfrm>
            <a:off x="548640" y="3520440"/>
            <a:ext cx="2651760" cy="777240"/>
          </a:xfrm>
          <a:prstGeom prst="rect">
            <a:avLst/>
          </a:prstGeom>
          <a:noFill/>
          <a:ln/>
        </p:spPr>
        <p:txBody>
          <a:bodyPr wrap="square" lIns="0" tIns="0" rIns="0" bIns="0" rtlCol="0" anchor="t"/>
          <a:lstStyle/>
          <a:p>
            <a:pPr indent="0" marL="0">
              <a:buNone/>
            </a:pPr>
            <a:r>
              <a:rPr lang="en-US" sz="4400" b="1" dirty="0">
                <a:solidFill>
                  <a:srgbClr val="7A4FC9"/>
                </a:solidFill>
                <a:latin typeface="Cambria" pitchFamily="34" charset="0"/>
                <a:ea typeface="Cambria" pitchFamily="34" charset="-122"/>
                <a:cs typeface="Cambria" pitchFamily="34" charset="-120"/>
              </a:rPr>
              <a:t>37</a:t>
            </a:r>
            <a:endParaRPr lang="en-US" sz="4400" dirty="0"/>
          </a:p>
        </p:txBody>
      </p:sp>
      <p:sp>
        <p:nvSpPr>
          <p:cNvPr id="37" name="Text 26"/>
          <p:cNvSpPr txBox="1"/>
          <p:nvPr/>
        </p:nvSpPr>
        <p:spPr>
          <a:xfrm>
            <a:off x="548640" y="4297680"/>
            <a:ext cx="2651760" cy="365760"/>
          </a:xfrm>
          <a:prstGeom prst="rect">
            <a:avLst/>
          </a:prstGeom>
          <a:noFill/>
          <a:ln/>
        </p:spPr>
        <p:txBody>
          <a:bodyPr wrap="square" lIns="0" tIns="0" rIns="0" bIns="0" rtlCol="0" anchor="t"/>
          <a:lstStyle/>
          <a:p>
            <a:pPr indent="0" marL="0">
              <a:buNone/>
            </a:pPr>
            <a:r>
              <a:rPr lang="en-US" sz="1400" dirty="0">
                <a:solidFill>
                  <a:srgbClr val="5E6B70"/>
                </a:solidFill>
              </a:rPr>
              <a:t>SCERT textbooks loaded</a:t>
            </a:r>
            <a:endParaRPr lang="en-US" sz="1400" dirty="0"/>
          </a:p>
        </p:txBody>
      </p:sp>
      <p:sp>
        <p:nvSpPr>
          <p:cNvPr id="38" name="Text 27"/>
          <p:cNvSpPr txBox="1"/>
          <p:nvPr/>
        </p:nvSpPr>
        <p:spPr>
          <a:xfrm>
            <a:off x="3383280" y="3520440"/>
            <a:ext cx="2651760" cy="777240"/>
          </a:xfrm>
          <a:prstGeom prst="rect">
            <a:avLst/>
          </a:prstGeom>
          <a:noFill/>
          <a:ln/>
        </p:spPr>
        <p:txBody>
          <a:bodyPr wrap="square" lIns="0" tIns="0" rIns="0" bIns="0" rtlCol="0" anchor="t"/>
          <a:lstStyle/>
          <a:p>
            <a:pPr indent="0" marL="0">
              <a:buNone/>
            </a:pPr>
            <a:r>
              <a:rPr lang="en-US" sz="4400" b="1" dirty="0">
                <a:solidFill>
                  <a:srgbClr val="7A4FC9"/>
                </a:solidFill>
                <a:latin typeface="Cambria" pitchFamily="34" charset="0"/>
                <a:ea typeface="Cambria" pitchFamily="34" charset="-122"/>
                <a:cs typeface="Cambria" pitchFamily="34" charset="-120"/>
              </a:rPr>
              <a:t>8</a:t>
            </a:r>
            <a:endParaRPr lang="en-US" sz="4400" dirty="0"/>
          </a:p>
        </p:txBody>
      </p:sp>
      <p:sp>
        <p:nvSpPr>
          <p:cNvPr id="39" name="Text 28"/>
          <p:cNvSpPr txBox="1"/>
          <p:nvPr/>
        </p:nvSpPr>
        <p:spPr>
          <a:xfrm>
            <a:off x="3383280" y="4297680"/>
            <a:ext cx="2651760" cy="365760"/>
          </a:xfrm>
          <a:prstGeom prst="rect">
            <a:avLst/>
          </a:prstGeom>
          <a:noFill/>
          <a:ln/>
        </p:spPr>
        <p:txBody>
          <a:bodyPr wrap="square" lIns="0" tIns="0" rIns="0" bIns="0" rtlCol="0" anchor="t"/>
          <a:lstStyle/>
          <a:p>
            <a:pPr indent="0" marL="0">
              <a:buNone/>
            </a:pPr>
            <a:r>
              <a:rPr lang="en-US" sz="1400" dirty="0">
                <a:solidFill>
                  <a:srgbClr val="5E6B70"/>
                </a:solidFill>
              </a:rPr>
              <a:t>classes (1 to 8)</a:t>
            </a:r>
            <a:endParaRPr lang="en-US" sz="1400" dirty="0"/>
          </a:p>
        </p:txBody>
      </p:sp>
      <p:sp>
        <p:nvSpPr>
          <p:cNvPr id="40" name="Text 29"/>
          <p:cNvSpPr txBox="1"/>
          <p:nvPr/>
        </p:nvSpPr>
        <p:spPr>
          <a:xfrm>
            <a:off x="6217920" y="3520440"/>
            <a:ext cx="2651760" cy="777240"/>
          </a:xfrm>
          <a:prstGeom prst="rect">
            <a:avLst/>
          </a:prstGeom>
          <a:noFill/>
          <a:ln/>
        </p:spPr>
        <p:txBody>
          <a:bodyPr wrap="square" lIns="0" tIns="0" rIns="0" bIns="0" rtlCol="0" anchor="t"/>
          <a:lstStyle/>
          <a:p>
            <a:pPr indent="0" marL="0">
              <a:buNone/>
            </a:pPr>
            <a:r>
              <a:rPr lang="en-US" sz="4400" b="1" dirty="0">
                <a:solidFill>
                  <a:srgbClr val="7A4FC9"/>
                </a:solidFill>
                <a:latin typeface="Cambria" pitchFamily="34" charset="0"/>
                <a:ea typeface="Cambria" pitchFamily="34" charset="-122"/>
                <a:cs typeface="Cambria" pitchFamily="34" charset="-120"/>
              </a:rPr>
              <a:t>11,057</a:t>
            </a:r>
            <a:endParaRPr lang="en-US" sz="4400" dirty="0"/>
          </a:p>
        </p:txBody>
      </p:sp>
      <p:sp>
        <p:nvSpPr>
          <p:cNvPr id="41" name="Text 30"/>
          <p:cNvSpPr txBox="1"/>
          <p:nvPr/>
        </p:nvSpPr>
        <p:spPr>
          <a:xfrm>
            <a:off x="6217920" y="4297680"/>
            <a:ext cx="2651760" cy="365760"/>
          </a:xfrm>
          <a:prstGeom prst="rect">
            <a:avLst/>
          </a:prstGeom>
          <a:noFill/>
          <a:ln/>
        </p:spPr>
        <p:txBody>
          <a:bodyPr wrap="square" lIns="0" tIns="0" rIns="0" bIns="0" rtlCol="0" anchor="t"/>
          <a:lstStyle/>
          <a:p>
            <a:pPr indent="0" marL="0">
              <a:buNone/>
            </a:pPr>
            <a:r>
              <a:rPr lang="en-US" sz="1400" dirty="0">
                <a:solidFill>
                  <a:srgbClr val="5E6B70"/>
                </a:solidFill>
              </a:rPr>
              <a:t>textbook passages</a:t>
            </a:r>
            <a:endParaRPr lang="en-US" sz="1400" dirty="0"/>
          </a:p>
        </p:txBody>
      </p:sp>
      <p:sp>
        <p:nvSpPr>
          <p:cNvPr id="42" name="Text 31"/>
          <p:cNvSpPr txBox="1"/>
          <p:nvPr/>
        </p:nvSpPr>
        <p:spPr>
          <a:xfrm>
            <a:off x="9052560" y="3520440"/>
            <a:ext cx="2651760" cy="777240"/>
          </a:xfrm>
          <a:prstGeom prst="rect">
            <a:avLst/>
          </a:prstGeom>
          <a:noFill/>
          <a:ln/>
        </p:spPr>
        <p:txBody>
          <a:bodyPr wrap="square" lIns="0" tIns="0" rIns="0" bIns="0" rtlCol="0" anchor="t"/>
          <a:lstStyle/>
          <a:p>
            <a:pPr indent="0" marL="0">
              <a:buNone/>
            </a:pPr>
            <a:r>
              <a:rPr lang="en-US" sz="4400" b="1" dirty="0">
                <a:solidFill>
                  <a:srgbClr val="7A4FC9"/>
                </a:solidFill>
                <a:latin typeface="Cambria" pitchFamily="34" charset="0"/>
                <a:ea typeface="Cambria" pitchFamily="34" charset="-122"/>
                <a:cs typeface="Cambria" pitchFamily="34" charset="-120"/>
              </a:rPr>
              <a:t>0</a:t>
            </a:r>
            <a:endParaRPr lang="en-US" sz="4400" dirty="0"/>
          </a:p>
        </p:txBody>
      </p:sp>
      <p:sp>
        <p:nvSpPr>
          <p:cNvPr id="43" name="Text 32"/>
          <p:cNvSpPr txBox="1"/>
          <p:nvPr/>
        </p:nvSpPr>
        <p:spPr>
          <a:xfrm>
            <a:off x="9052560" y="4297680"/>
            <a:ext cx="2651760" cy="365760"/>
          </a:xfrm>
          <a:prstGeom prst="rect">
            <a:avLst/>
          </a:prstGeom>
          <a:noFill/>
          <a:ln/>
        </p:spPr>
        <p:txBody>
          <a:bodyPr wrap="square" lIns="0" tIns="0" rIns="0" bIns="0" rtlCol="0" anchor="t"/>
          <a:lstStyle/>
          <a:p>
            <a:pPr indent="0" marL="0">
              <a:buNone/>
            </a:pPr>
            <a:r>
              <a:rPr lang="en-US" sz="1400" dirty="0">
                <a:solidFill>
                  <a:srgbClr val="5E6B70"/>
                </a:solidFill>
              </a:rPr>
              <a:t>student data sent to the model</a:t>
            </a:r>
            <a:endParaRPr lang="en-US" sz="1400" dirty="0"/>
          </a:p>
        </p:txBody>
      </p:sp>
      <p:sp>
        <p:nvSpPr>
          <p:cNvPr id="44" name="Text 33"/>
          <p:cNvSpPr/>
          <p:nvPr/>
        </p:nvSpPr>
        <p:spPr>
          <a:xfrm>
            <a:off x="548640" y="4846320"/>
            <a:ext cx="11064240" cy="1280160"/>
          </a:xfrm>
          <a:prstGeom prst="rect">
            <a:avLst/>
          </a:prstGeom>
          <a:noFill/>
          <a:ln/>
        </p:spPr>
        <p:txBody>
          <a:bodyPr wrap="square" lIns="0" tIns="0" rIns="0" bIns="0" rtlCol="0" anchor="t"/>
          <a:lstStyle/>
          <a:p>
            <a:pPr marL="203200" indent="-203200">
              <a:spcAft>
                <a:spcPts val="600"/>
              </a:spcAft>
              <a:buSzPct val="100000"/>
              <a:buChar char="•"/>
            </a:pPr>
            <a:r>
              <a:rPr lang="en-US" sz="1400" dirty="0">
                <a:solidFill>
                  <a:srgbClr val="000000"/>
                </a:solidFill>
              </a:rPr>
              <a:t>Runs on a school or state server: no cloud AI, no per-question cost</a:t>
            </a:r>
            <a:endParaRPr lang="en-US" sz="1400" dirty="0"/>
          </a:p>
          <a:p>
            <a:pPr marL="203200" indent="-203200">
              <a:spcAft>
                <a:spcPts val="600"/>
              </a:spcAft>
              <a:buSzPct val="100000"/>
              <a:buChar char="•"/>
            </a:pPr>
            <a:r>
              <a:rPr lang="en-US" sz="1400" dirty="0">
                <a:solidFill>
                  <a:srgbClr val="000000"/>
                </a:solidFill>
              </a:rPr>
              <a:t>Hindi-medium books in Kruti Dev are converted to Unicode automatically</a:t>
            </a:r>
            <a:endParaRPr lang="en-US" sz="1400" dirty="0"/>
          </a:p>
          <a:p>
            <a:pPr marL="203200" indent="-203200">
              <a:spcAft>
                <a:spcPts val="600"/>
              </a:spcAft>
              <a:buSzPct val="100000"/>
              <a:buChar char="•"/>
            </a:pPr>
            <a:r>
              <a:rPr lang="en-US" sz="1400" dirty="0">
                <a:solidFill>
                  <a:srgbClr val="000000"/>
                </a:solidFill>
              </a:rPr>
              <a:t>If the books do not cover a question, it says so instead of guessing</a:t>
            </a:r>
            <a:endParaRPr lang="en-US" sz="1400" dirty="0"/>
          </a:p>
        </p:txBody>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19</a:t>
            </a:fld>
            <a:endParaRPr lang="en-US"/>
          </a:p>
        </p:txBody>
      </p:sp>
    </p:spTree>
  </p:cSld>
  <p:clrMapOvr>
    <a:masterClrMapping/>
  </p:clrMapOvr>
  <p:transition spd="med">
    <p:fade/>
  </p:transition>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59536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Offline, secure, private and safe for children</a:t>
            </a:r>
            <a:endParaRPr lang="en-US" sz="3000" dirty="0"/>
          </a:p>
        </p:txBody>
      </p:sp>
      <p:sp>
        <p:nvSpPr>
          <p:cNvPr id="3" name="button--Agenda"/>
          <p:cNvSpPr/>
          <p:nvPr/>
        </p:nvSpPr>
        <p:spPr>
          <a:xfrm>
            <a:off x="9372600" y="502920"/>
            <a:ext cx="1097280" cy="365760"/>
          </a:xfrm>
          <a:prstGeom prst="roundRect">
            <a:avLst>
              <a:gd name="adj" fmla="val 57500"/>
            </a:avLst>
          </a:prstGeom>
          <a:solidFill>
            <a:srgbClr val="EFF5F2"/>
          </a:solidFill>
          <a:ln>
            <a:solidFill>
              <a:srgbClr val="EFF5F2"/>
            </a:solidFill>
          </a:ln>
        </p:spPr>
        <p:txBody>
          <a:bodyPr wrap="square" lIns="0" tIns="0" rIns="0" bIns="0" rtlCol="0" anchor="ctr"/>
          <a:lstStyle/>
          <a:p>
            <a:pPr algn="ctr" indent="0" marL="0">
              <a:buNone/>
            </a:pPr>
            <a:r>
              <a:rPr lang="en-US" sz="1200" b="1" dirty="0">
                <a:solidFill>
                  <a:srgbClr val="0B3B36"/>
                </a:solidFill>
              </a:rPr>
              <a:t>☰  Agenda</a:t>
            </a:r>
            <a:endParaRPr lang="en-US" sz="1200" dirty="0"/>
          </a:p>
        </p:txBody>
      </p:sp>
      <p:sp>
        <p:nvSpPr>
          <p:cNvPr id="4" name="button-link--Agenda">
            <a:hlinkClick r:id="rId1" tooltip="Back to the agenda" action="ppaction://hlinksldjump"/>
          </p:cNvPr>
          <p:cNvSpPr/>
          <p:nvPr/>
        </p:nvSpPr>
        <p:spPr>
          <a:xfrm>
            <a:off x="9372600" y="502920"/>
            <a:ext cx="1097280" cy="365760"/>
          </a:xfrm>
          <a:prstGeom prst="rect">
            <a:avLst/>
          </a:prstGeom>
          <a:solidFill>
            <a:srgbClr val="FFFFFF">
              <a:alpha val="0"/>
            </a:srgbClr>
          </a:solidFill>
          <a:ln w="12700">
            <a:solidFill>
              <a:srgbClr val="FFFFFF">
                <a:alpha val="0"/>
              </a:srgbClr>
            </a:solidFill>
            <a:prstDash val="solid"/>
          </a:ln>
        </p:spPr>
      </p:sp>
      <p:sp>
        <p:nvSpPr>
          <p:cNvPr id="5" name="button-Live-demo-"/>
          <p:cNvSpPr/>
          <p:nvPr/>
        </p:nvSpPr>
        <p:spPr>
          <a:xfrm>
            <a:off x="10561320" y="502920"/>
            <a:ext cx="1097280" cy="365760"/>
          </a:xfrm>
          <a:prstGeom prst="roundRect">
            <a:avLst>
              <a:gd name="adj" fmla="val 57500"/>
            </a:avLst>
          </a:prstGeom>
          <a:solidFill>
            <a:srgbClr val="0B3B36"/>
          </a:solidFill>
          <a:ln>
            <a:solidFill>
              <a:srgbClr val="0B3B36"/>
            </a:solidFill>
          </a:ln>
        </p:spPr>
        <p:txBody>
          <a:bodyPr wrap="square" lIns="0" tIns="0" rIns="0" bIns="0" rtlCol="0" anchor="ctr"/>
          <a:lstStyle/>
          <a:p>
            <a:pPr algn="ctr" indent="0" marL="0">
              <a:buNone/>
            </a:pPr>
            <a:r>
              <a:rPr lang="en-US" sz="1200" b="1" dirty="0">
                <a:solidFill>
                  <a:srgbClr val="FFFFFF"/>
                </a:solidFill>
              </a:rPr>
              <a:t>Live demo ↗</a:t>
            </a:r>
            <a:endParaRPr lang="en-US" sz="1200" dirty="0"/>
          </a:p>
        </p:txBody>
      </p:sp>
      <p:sp>
        <p:nvSpPr>
          <p:cNvPr id="6" name="button-link-Live-demo-">
            <a:hlinkClick r:id="rId2" tooltip="Open the live demo"/>
          </p:cNvPr>
          <p:cNvSpPr/>
          <p:nvPr/>
        </p:nvSpPr>
        <p:spPr>
          <a:xfrm>
            <a:off x="10561320" y="502920"/>
            <a:ext cx="1097280" cy="365760"/>
          </a:xfrm>
          <a:prstGeom prst="rect">
            <a:avLst/>
          </a:prstGeom>
          <a:solidFill>
            <a:srgbClr val="FFFFFF">
              <a:alpha val="0"/>
            </a:srgbClr>
          </a:solidFill>
          <a:ln w="12700">
            <a:solidFill>
              <a:srgbClr val="FFFFFF">
                <a:alpha val="0"/>
              </a:srgbClr>
            </a:solidFill>
            <a:prstDash val="solid"/>
          </a:ln>
        </p:spPr>
      </p:sp>
      <p:sp>
        <p:nvSpPr>
          <p:cNvPr id="7" name="trust-0"/>
          <p:cNvSpPr/>
          <p:nvPr/>
        </p:nvSpPr>
        <p:spPr>
          <a:xfrm>
            <a:off x="548640" y="1371600"/>
            <a:ext cx="3520440" cy="2148840"/>
          </a:xfrm>
          <a:prstGeom prst="roundRect">
            <a:avLst>
              <a:gd name="adj" fmla="val 5106"/>
            </a:avLst>
          </a:prstGeom>
          <a:solidFill>
            <a:srgbClr val="EFF5F2"/>
          </a:solidFill>
          <a:ln w="12700">
            <a:solidFill>
              <a:srgbClr val="EFF5F2"/>
            </a:solidFill>
            <a:prstDash val="solid"/>
          </a:ln>
          <a:effectLst>
            <a:outerShdw sx="100000" sy="100000" kx="0" ky="0" algn="bl" rotWithShape="0" blurRad="101600" dist="25400" dir="5400000">
              <a:srgbClr val="17242A">
                <a:alpha val="16000"/>
              </a:srgbClr>
            </a:outerShdw>
          </a:effectLst>
        </p:spPr>
      </p:sp>
      <p:sp>
        <p:nvSpPr>
          <p:cNvPr id="8" name="icon-bg-FaWifi"/>
          <p:cNvSpPr/>
          <p:nvPr/>
        </p:nvSpPr>
        <p:spPr>
          <a:xfrm>
            <a:off x="777240" y="1600200"/>
            <a:ext cx="594360" cy="594360"/>
          </a:xfrm>
          <a:prstGeom prst="ellipse">
            <a:avLst/>
          </a:prstGeom>
          <a:solidFill>
            <a:srgbClr val="0B3B36"/>
          </a:solidFill>
          <a:ln w="12700">
            <a:solidFill>
              <a:srgbClr val="0B3B36"/>
            </a:solidFill>
            <a:prstDash val="solid"/>
          </a:ln>
        </p:spPr>
      </p:sp>
      <p:pic>
        <p:nvPicPr>
          <p:cNvPr id="9" name="icon-FaWifi" descr="preencoded.png">    </p:cNvPr>
          <p:cNvPicPr>
            <a:picLocks noChangeAspect="1"/>
          </p:cNvPicPr>
          <p:nvPr/>
        </p:nvPicPr>
        <p:blipFill>
          <a:blip r:embed="rId3"/>
          <a:stretch>
            <a:fillRect/>
          </a:stretch>
        </p:blipFill>
        <p:spPr>
          <a:xfrm>
            <a:off x="925830" y="1748790"/>
            <a:ext cx="297180" cy="297180"/>
          </a:xfrm>
          <a:prstGeom prst="rect">
            <a:avLst/>
          </a:prstGeom>
        </p:spPr>
      </p:pic>
      <p:sp>
        <p:nvSpPr>
          <p:cNvPr id="10" name="Text 7"/>
          <p:cNvSpPr txBox="1"/>
          <p:nvPr/>
        </p:nvSpPr>
        <p:spPr>
          <a:xfrm>
            <a:off x="1508760" y="1691640"/>
            <a:ext cx="2468880" cy="411480"/>
          </a:xfrm>
          <a:prstGeom prst="rect">
            <a:avLst/>
          </a:prstGeom>
          <a:noFill/>
          <a:ln/>
        </p:spPr>
        <p:txBody>
          <a:bodyPr wrap="square" lIns="0" tIns="0" rIns="0" bIns="0" rtlCol="0" anchor="t"/>
          <a:lstStyle/>
          <a:p>
            <a:pPr indent="0" marL="0">
              <a:buNone/>
            </a:pPr>
            <a:r>
              <a:rPr lang="en-US" sz="1700" b="1" dirty="0">
                <a:solidFill>
                  <a:srgbClr val="0B3B36"/>
                </a:solidFill>
                <a:latin typeface="Cambria" pitchFamily="34" charset="0"/>
                <a:ea typeface="Cambria" pitchFamily="34" charset="-122"/>
                <a:cs typeface="Cambria" pitchFamily="34" charset="-120"/>
              </a:rPr>
              <a:t>Works offline</a:t>
            </a:r>
            <a:endParaRPr lang="en-US" sz="1700" dirty="0"/>
          </a:p>
        </p:txBody>
      </p:sp>
      <p:sp>
        <p:nvSpPr>
          <p:cNvPr id="11" name="Text 8"/>
          <p:cNvSpPr txBox="1"/>
          <p:nvPr/>
        </p:nvSpPr>
        <p:spPr>
          <a:xfrm>
            <a:off x="777240" y="2331720"/>
            <a:ext cx="3108960" cy="1097280"/>
          </a:xfrm>
          <a:prstGeom prst="rect">
            <a:avLst/>
          </a:prstGeom>
          <a:noFill/>
          <a:ln/>
        </p:spPr>
        <p:txBody>
          <a:bodyPr wrap="square" lIns="0" tIns="0" rIns="0" bIns="0" rtlCol="0" anchor="t"/>
          <a:lstStyle/>
          <a:p>
            <a:pPr indent="0" marL="0">
              <a:buNone/>
            </a:pPr>
            <a:r>
              <a:rPr lang="en-US" sz="1300" dirty="0">
                <a:solidFill>
                  <a:srgbClr val="17242A"/>
                </a:solidFill>
              </a:rPr>
              <a:t>App shell, quizzes and rosters cached; attendance and answers queue and sync later, re-checked on the server</a:t>
            </a:r>
            <a:endParaRPr lang="en-US" sz="1300" dirty="0"/>
          </a:p>
        </p:txBody>
      </p:sp>
      <p:sp>
        <p:nvSpPr>
          <p:cNvPr id="12" name="trust-1"/>
          <p:cNvSpPr/>
          <p:nvPr/>
        </p:nvSpPr>
        <p:spPr>
          <a:xfrm>
            <a:off x="4297680" y="1371600"/>
            <a:ext cx="3520440" cy="2148840"/>
          </a:xfrm>
          <a:prstGeom prst="roundRect">
            <a:avLst>
              <a:gd name="adj" fmla="val 5106"/>
            </a:avLst>
          </a:prstGeom>
          <a:solidFill>
            <a:srgbClr val="EFF5F2"/>
          </a:solidFill>
          <a:ln w="12700">
            <a:solidFill>
              <a:srgbClr val="EFF5F2"/>
            </a:solidFill>
            <a:prstDash val="solid"/>
          </a:ln>
          <a:effectLst>
            <a:outerShdw sx="100000" sy="100000" kx="0" ky="0" algn="bl" rotWithShape="0" blurRad="101600" dist="25400" dir="5400000">
              <a:srgbClr val="17242A">
                <a:alpha val="16000"/>
              </a:srgbClr>
            </a:outerShdw>
          </a:effectLst>
        </p:spPr>
      </p:sp>
      <p:sp>
        <p:nvSpPr>
          <p:cNvPr id="13" name="icon-bg-FaLock"/>
          <p:cNvSpPr/>
          <p:nvPr/>
        </p:nvSpPr>
        <p:spPr>
          <a:xfrm>
            <a:off x="4526280" y="1600200"/>
            <a:ext cx="594360" cy="594360"/>
          </a:xfrm>
          <a:prstGeom prst="ellipse">
            <a:avLst/>
          </a:prstGeom>
          <a:solidFill>
            <a:srgbClr val="0B3B36"/>
          </a:solidFill>
          <a:ln w="12700">
            <a:solidFill>
              <a:srgbClr val="0B3B36"/>
            </a:solidFill>
            <a:prstDash val="solid"/>
          </a:ln>
        </p:spPr>
      </p:sp>
      <p:pic>
        <p:nvPicPr>
          <p:cNvPr id="14" name="icon-FaLock" descr="preencoded.png">    </p:cNvPr>
          <p:cNvPicPr>
            <a:picLocks noChangeAspect="1"/>
          </p:cNvPicPr>
          <p:nvPr/>
        </p:nvPicPr>
        <p:blipFill>
          <a:blip r:embed="rId4"/>
          <a:stretch>
            <a:fillRect/>
          </a:stretch>
        </p:blipFill>
        <p:spPr>
          <a:xfrm>
            <a:off x="4674870" y="1748790"/>
            <a:ext cx="297180" cy="297180"/>
          </a:xfrm>
          <a:prstGeom prst="rect">
            <a:avLst/>
          </a:prstGeom>
        </p:spPr>
      </p:pic>
      <p:sp>
        <p:nvSpPr>
          <p:cNvPr id="15" name="Text 11"/>
          <p:cNvSpPr txBox="1"/>
          <p:nvPr/>
        </p:nvSpPr>
        <p:spPr>
          <a:xfrm>
            <a:off x="5257800" y="1691640"/>
            <a:ext cx="2468880" cy="411480"/>
          </a:xfrm>
          <a:prstGeom prst="rect">
            <a:avLst/>
          </a:prstGeom>
          <a:noFill/>
          <a:ln/>
        </p:spPr>
        <p:txBody>
          <a:bodyPr wrap="square" lIns="0" tIns="0" rIns="0" bIns="0" rtlCol="0" anchor="t"/>
          <a:lstStyle/>
          <a:p>
            <a:pPr indent="0" marL="0">
              <a:buNone/>
            </a:pPr>
            <a:r>
              <a:rPr lang="en-US" sz="1700" b="1" dirty="0">
                <a:solidFill>
                  <a:srgbClr val="0B3B36"/>
                </a:solidFill>
                <a:latin typeface="Cambria" pitchFamily="34" charset="0"/>
                <a:ea typeface="Cambria" pitchFamily="34" charset="-122"/>
                <a:cs typeface="Cambria" pitchFamily="34" charset="-120"/>
              </a:rPr>
              <a:t>Secure access</a:t>
            </a:r>
            <a:endParaRPr lang="en-US" sz="1700" dirty="0"/>
          </a:p>
        </p:txBody>
      </p:sp>
      <p:sp>
        <p:nvSpPr>
          <p:cNvPr id="16" name="Text 12"/>
          <p:cNvSpPr txBox="1"/>
          <p:nvPr/>
        </p:nvSpPr>
        <p:spPr>
          <a:xfrm>
            <a:off x="4526280" y="2331720"/>
            <a:ext cx="3108960" cy="1097280"/>
          </a:xfrm>
          <a:prstGeom prst="rect">
            <a:avLst/>
          </a:prstGeom>
          <a:noFill/>
          <a:ln/>
        </p:spPr>
        <p:txBody>
          <a:bodyPr wrap="square" lIns="0" tIns="0" rIns="0" bIns="0" rtlCol="0" anchor="t"/>
          <a:lstStyle/>
          <a:p>
            <a:pPr indent="0" marL="0">
              <a:buNone/>
            </a:pPr>
            <a:r>
              <a:rPr lang="en-US" sz="1300" dirty="0">
                <a:solidFill>
                  <a:srgbClr val="17242A"/>
                </a:solidFill>
              </a:rPr>
              <a:t>Separate portals, role and area scope on every request, strong passwords, admin two-step login, audit log</a:t>
            </a:r>
            <a:endParaRPr lang="en-US" sz="1300" dirty="0"/>
          </a:p>
        </p:txBody>
      </p:sp>
      <p:sp>
        <p:nvSpPr>
          <p:cNvPr id="17" name="trust-2"/>
          <p:cNvSpPr/>
          <p:nvPr/>
        </p:nvSpPr>
        <p:spPr>
          <a:xfrm>
            <a:off x="8046720" y="1371600"/>
            <a:ext cx="3520440" cy="2148840"/>
          </a:xfrm>
          <a:prstGeom prst="roundRect">
            <a:avLst>
              <a:gd name="adj" fmla="val 5106"/>
            </a:avLst>
          </a:prstGeom>
          <a:solidFill>
            <a:srgbClr val="EFF5F2"/>
          </a:solidFill>
          <a:ln w="12700">
            <a:solidFill>
              <a:srgbClr val="EFF5F2"/>
            </a:solidFill>
            <a:prstDash val="solid"/>
          </a:ln>
          <a:effectLst>
            <a:outerShdw sx="100000" sy="100000" kx="0" ky="0" algn="bl" rotWithShape="0" blurRad="101600" dist="25400" dir="5400000">
              <a:srgbClr val="17242A">
                <a:alpha val="16000"/>
              </a:srgbClr>
            </a:outerShdw>
          </a:effectLst>
        </p:spPr>
      </p:sp>
      <p:sp>
        <p:nvSpPr>
          <p:cNvPr id="18" name="icon-bg-FaUserShield"/>
          <p:cNvSpPr/>
          <p:nvPr/>
        </p:nvSpPr>
        <p:spPr>
          <a:xfrm>
            <a:off x="8275320" y="1600200"/>
            <a:ext cx="594360" cy="594360"/>
          </a:xfrm>
          <a:prstGeom prst="ellipse">
            <a:avLst/>
          </a:prstGeom>
          <a:solidFill>
            <a:srgbClr val="0B3B36"/>
          </a:solidFill>
          <a:ln w="12700">
            <a:solidFill>
              <a:srgbClr val="0B3B36"/>
            </a:solidFill>
            <a:prstDash val="solid"/>
          </a:ln>
        </p:spPr>
      </p:sp>
      <p:pic>
        <p:nvPicPr>
          <p:cNvPr id="19" name="icon-FaUserShield" descr="preencoded.png">    </p:cNvPr>
          <p:cNvPicPr>
            <a:picLocks noChangeAspect="1"/>
          </p:cNvPicPr>
          <p:nvPr/>
        </p:nvPicPr>
        <p:blipFill>
          <a:blip r:embed="rId5"/>
          <a:stretch>
            <a:fillRect/>
          </a:stretch>
        </p:blipFill>
        <p:spPr>
          <a:xfrm>
            <a:off x="8423910" y="1748790"/>
            <a:ext cx="297180" cy="297180"/>
          </a:xfrm>
          <a:prstGeom prst="rect">
            <a:avLst/>
          </a:prstGeom>
        </p:spPr>
      </p:pic>
      <p:sp>
        <p:nvSpPr>
          <p:cNvPr id="20" name="Text 15"/>
          <p:cNvSpPr txBox="1"/>
          <p:nvPr/>
        </p:nvSpPr>
        <p:spPr>
          <a:xfrm>
            <a:off x="9006840" y="1691640"/>
            <a:ext cx="2468880" cy="411480"/>
          </a:xfrm>
          <a:prstGeom prst="rect">
            <a:avLst/>
          </a:prstGeom>
          <a:noFill/>
          <a:ln/>
        </p:spPr>
        <p:txBody>
          <a:bodyPr wrap="square" lIns="0" tIns="0" rIns="0" bIns="0" rtlCol="0" anchor="t"/>
          <a:lstStyle/>
          <a:p>
            <a:pPr indent="0" marL="0">
              <a:buNone/>
            </a:pPr>
            <a:r>
              <a:rPr lang="en-US" sz="1700" b="1" dirty="0">
                <a:solidFill>
                  <a:srgbClr val="0B3B36"/>
                </a:solidFill>
                <a:latin typeface="Cambria" pitchFamily="34" charset="0"/>
                <a:ea typeface="Cambria" pitchFamily="34" charset="-122"/>
                <a:cs typeface="Cambria" pitchFamily="34" charset="-120"/>
              </a:rPr>
              <a:t>Privacy by design</a:t>
            </a:r>
            <a:endParaRPr lang="en-US" sz="1700" dirty="0"/>
          </a:p>
        </p:txBody>
      </p:sp>
      <p:sp>
        <p:nvSpPr>
          <p:cNvPr id="21" name="Text 16"/>
          <p:cNvSpPr txBox="1"/>
          <p:nvPr/>
        </p:nvSpPr>
        <p:spPr>
          <a:xfrm>
            <a:off x="8275320" y="2331720"/>
            <a:ext cx="3108960" cy="1097280"/>
          </a:xfrm>
          <a:prstGeom prst="rect">
            <a:avLst/>
          </a:prstGeom>
          <a:noFill/>
          <a:ln/>
        </p:spPr>
        <p:txBody>
          <a:bodyPr wrap="square" lIns="0" tIns="0" rIns="0" bIns="0" rtlCol="0" anchor="t"/>
          <a:lstStyle/>
          <a:p>
            <a:pPr indent="0" marL="0">
              <a:buNone/>
            </a:pPr>
            <a:r>
              <a:rPr lang="en-US" sz="1300" dirty="0">
                <a:solidFill>
                  <a:srgbClr val="17242A"/>
                </a:solidFill>
              </a:rPr>
              <a:t>Minimal data, guardian consent, officers see aggregates; no ads, trackers or third-party scripts</a:t>
            </a:r>
            <a:endParaRPr lang="en-US" sz="1300" dirty="0"/>
          </a:p>
        </p:txBody>
      </p:sp>
      <p:sp>
        <p:nvSpPr>
          <p:cNvPr id="22" name="trust-3"/>
          <p:cNvSpPr/>
          <p:nvPr/>
        </p:nvSpPr>
        <p:spPr>
          <a:xfrm>
            <a:off x="548640" y="3749040"/>
            <a:ext cx="3520440" cy="2148840"/>
          </a:xfrm>
          <a:prstGeom prst="roundRect">
            <a:avLst>
              <a:gd name="adj" fmla="val 5106"/>
            </a:avLst>
          </a:prstGeom>
          <a:solidFill>
            <a:srgbClr val="EFF5F2"/>
          </a:solidFill>
          <a:ln w="12700">
            <a:solidFill>
              <a:srgbClr val="EFF5F2"/>
            </a:solidFill>
            <a:prstDash val="solid"/>
          </a:ln>
          <a:effectLst>
            <a:outerShdw sx="100000" sy="100000" kx="0" ky="0" algn="bl" rotWithShape="0" blurRad="101600" dist="25400" dir="5400000">
              <a:srgbClr val="17242A">
                <a:alpha val="16000"/>
              </a:srgbClr>
            </a:outerShdw>
          </a:effectLst>
        </p:spPr>
      </p:sp>
      <p:sp>
        <p:nvSpPr>
          <p:cNvPr id="23" name="icon-bg-FaChild"/>
          <p:cNvSpPr/>
          <p:nvPr/>
        </p:nvSpPr>
        <p:spPr>
          <a:xfrm>
            <a:off x="777240" y="3977640"/>
            <a:ext cx="594360" cy="594360"/>
          </a:xfrm>
          <a:prstGeom prst="ellipse">
            <a:avLst/>
          </a:prstGeom>
          <a:solidFill>
            <a:srgbClr val="0B3B36"/>
          </a:solidFill>
          <a:ln w="12700">
            <a:solidFill>
              <a:srgbClr val="0B3B36"/>
            </a:solidFill>
            <a:prstDash val="solid"/>
          </a:ln>
        </p:spPr>
      </p:sp>
      <p:pic>
        <p:nvPicPr>
          <p:cNvPr id="24" name="icon-FaChild" descr="preencoded.png">    </p:cNvPr>
          <p:cNvPicPr>
            <a:picLocks noChangeAspect="1"/>
          </p:cNvPicPr>
          <p:nvPr/>
        </p:nvPicPr>
        <p:blipFill>
          <a:blip r:embed="rId6"/>
          <a:stretch>
            <a:fillRect/>
          </a:stretch>
        </p:blipFill>
        <p:spPr>
          <a:xfrm>
            <a:off x="925830" y="4126230"/>
            <a:ext cx="297180" cy="297180"/>
          </a:xfrm>
          <a:prstGeom prst="rect">
            <a:avLst/>
          </a:prstGeom>
        </p:spPr>
      </p:pic>
      <p:sp>
        <p:nvSpPr>
          <p:cNvPr id="25" name="Text 19"/>
          <p:cNvSpPr txBox="1"/>
          <p:nvPr/>
        </p:nvSpPr>
        <p:spPr>
          <a:xfrm>
            <a:off x="1508760" y="4069080"/>
            <a:ext cx="2468880" cy="411480"/>
          </a:xfrm>
          <a:prstGeom prst="rect">
            <a:avLst/>
          </a:prstGeom>
          <a:noFill/>
          <a:ln/>
        </p:spPr>
        <p:txBody>
          <a:bodyPr wrap="square" lIns="0" tIns="0" rIns="0" bIns="0" rtlCol="0" anchor="t"/>
          <a:lstStyle/>
          <a:p>
            <a:pPr indent="0" marL="0">
              <a:buNone/>
            </a:pPr>
            <a:r>
              <a:rPr lang="en-US" sz="1700" b="1" dirty="0">
                <a:solidFill>
                  <a:srgbClr val="0B3B36"/>
                </a:solidFill>
                <a:latin typeface="Cambria" pitchFamily="34" charset="0"/>
                <a:ea typeface="Cambria" pitchFamily="34" charset="-122"/>
                <a:cs typeface="Cambria" pitchFamily="34" charset="-120"/>
              </a:rPr>
              <a:t>Child safety</a:t>
            </a:r>
            <a:endParaRPr lang="en-US" sz="1700" dirty="0"/>
          </a:p>
        </p:txBody>
      </p:sp>
      <p:sp>
        <p:nvSpPr>
          <p:cNvPr id="26" name="Text 20"/>
          <p:cNvSpPr txBox="1"/>
          <p:nvPr/>
        </p:nvSpPr>
        <p:spPr>
          <a:xfrm>
            <a:off x="777240" y="4709160"/>
            <a:ext cx="3108960" cy="1097280"/>
          </a:xfrm>
          <a:prstGeom prst="rect">
            <a:avLst/>
          </a:prstGeom>
          <a:noFill/>
          <a:ln/>
        </p:spPr>
        <p:txBody>
          <a:bodyPr wrap="square" lIns="0" tIns="0" rIns="0" bIns="0" rtlCol="0" anchor="t"/>
          <a:lstStyle/>
          <a:p>
            <a:pPr indent="0" marL="0">
              <a:buNone/>
            </a:pPr>
            <a:r>
              <a:rPr lang="en-US" sz="1300" dirty="0">
                <a:solidFill>
                  <a:srgbClr val="17242A"/>
                </a:solidFill>
              </a:rPr>
              <a:t>Wellbeing phrases get CHILDLINE 1098 and alert the teacher; personal details and unkind posts are blocked</a:t>
            </a:r>
            <a:endParaRPr lang="en-US" sz="1300" dirty="0"/>
          </a:p>
        </p:txBody>
      </p:sp>
      <p:sp>
        <p:nvSpPr>
          <p:cNvPr id="27" name="trust-4"/>
          <p:cNvSpPr/>
          <p:nvPr/>
        </p:nvSpPr>
        <p:spPr>
          <a:xfrm>
            <a:off x="4297680" y="3749040"/>
            <a:ext cx="3520440" cy="2148840"/>
          </a:xfrm>
          <a:prstGeom prst="roundRect">
            <a:avLst>
              <a:gd name="adj" fmla="val 5106"/>
            </a:avLst>
          </a:prstGeom>
          <a:solidFill>
            <a:srgbClr val="EFF5F2"/>
          </a:solidFill>
          <a:ln w="12700">
            <a:solidFill>
              <a:srgbClr val="EFF5F2"/>
            </a:solidFill>
            <a:prstDash val="solid"/>
          </a:ln>
          <a:effectLst>
            <a:outerShdw sx="100000" sy="100000" kx="0" ky="0" algn="bl" rotWithShape="0" blurRad="101600" dist="25400" dir="5400000">
              <a:srgbClr val="17242A">
                <a:alpha val="16000"/>
              </a:srgbClr>
            </a:outerShdw>
          </a:effectLst>
        </p:spPr>
      </p:sp>
      <p:sp>
        <p:nvSpPr>
          <p:cNvPr id="28" name="icon-bg-FaLanguage"/>
          <p:cNvSpPr/>
          <p:nvPr/>
        </p:nvSpPr>
        <p:spPr>
          <a:xfrm>
            <a:off x="4526280" y="3977640"/>
            <a:ext cx="594360" cy="594360"/>
          </a:xfrm>
          <a:prstGeom prst="ellipse">
            <a:avLst/>
          </a:prstGeom>
          <a:solidFill>
            <a:srgbClr val="0B3B36"/>
          </a:solidFill>
          <a:ln w="12700">
            <a:solidFill>
              <a:srgbClr val="0B3B36"/>
            </a:solidFill>
            <a:prstDash val="solid"/>
          </a:ln>
        </p:spPr>
      </p:sp>
      <p:pic>
        <p:nvPicPr>
          <p:cNvPr id="29" name="icon-FaLanguage" descr="preencoded.png">    </p:cNvPr>
          <p:cNvPicPr>
            <a:picLocks noChangeAspect="1"/>
          </p:cNvPicPr>
          <p:nvPr/>
        </p:nvPicPr>
        <p:blipFill>
          <a:blip r:embed="rId7"/>
          <a:stretch>
            <a:fillRect/>
          </a:stretch>
        </p:blipFill>
        <p:spPr>
          <a:xfrm>
            <a:off x="4674870" y="4126230"/>
            <a:ext cx="297180" cy="297180"/>
          </a:xfrm>
          <a:prstGeom prst="rect">
            <a:avLst/>
          </a:prstGeom>
        </p:spPr>
      </p:pic>
      <p:sp>
        <p:nvSpPr>
          <p:cNvPr id="30" name="Text 23"/>
          <p:cNvSpPr txBox="1"/>
          <p:nvPr/>
        </p:nvSpPr>
        <p:spPr>
          <a:xfrm>
            <a:off x="5257800" y="4069080"/>
            <a:ext cx="2468880" cy="411480"/>
          </a:xfrm>
          <a:prstGeom prst="rect">
            <a:avLst/>
          </a:prstGeom>
          <a:noFill/>
          <a:ln/>
        </p:spPr>
        <p:txBody>
          <a:bodyPr wrap="square" lIns="0" tIns="0" rIns="0" bIns="0" rtlCol="0" anchor="t"/>
          <a:lstStyle/>
          <a:p>
            <a:pPr indent="0" marL="0">
              <a:buNone/>
            </a:pPr>
            <a:r>
              <a:rPr lang="en-US" sz="1700" b="1" dirty="0">
                <a:solidFill>
                  <a:srgbClr val="0B3B36"/>
                </a:solidFill>
                <a:latin typeface="Cambria" pitchFamily="34" charset="0"/>
                <a:ea typeface="Cambria" pitchFamily="34" charset="-122"/>
                <a:cs typeface="Cambria" pitchFamily="34" charset="-120"/>
              </a:rPr>
              <a:t>Multilingual</a:t>
            </a:r>
            <a:endParaRPr lang="en-US" sz="1700" dirty="0"/>
          </a:p>
        </p:txBody>
      </p:sp>
      <p:sp>
        <p:nvSpPr>
          <p:cNvPr id="31" name="Text 24"/>
          <p:cNvSpPr txBox="1"/>
          <p:nvPr/>
        </p:nvSpPr>
        <p:spPr>
          <a:xfrm>
            <a:off x="4526280" y="4709160"/>
            <a:ext cx="3108960" cy="1097280"/>
          </a:xfrm>
          <a:prstGeom prst="rect">
            <a:avLst/>
          </a:prstGeom>
          <a:noFill/>
          <a:ln/>
        </p:spPr>
        <p:txBody>
          <a:bodyPr wrap="square" lIns="0" tIns="0" rIns="0" bIns="0" rtlCol="0" anchor="t"/>
          <a:lstStyle/>
          <a:p>
            <a:pPr indent="0" marL="0">
              <a:buNone/>
            </a:pPr>
            <a:r>
              <a:rPr lang="en-US" sz="1300" dirty="0">
                <a:solidFill>
                  <a:srgbClr val="17242A"/>
                </a:solidFill>
              </a:rPr>
              <a:t>Hindi and English today; Chhattisgarhi, Gondi and Halbi on the roadmap</a:t>
            </a:r>
            <a:endParaRPr lang="en-US" sz="1300" dirty="0"/>
          </a:p>
        </p:txBody>
      </p:sp>
      <p:sp>
        <p:nvSpPr>
          <p:cNvPr id="32" name="trust-5"/>
          <p:cNvSpPr/>
          <p:nvPr/>
        </p:nvSpPr>
        <p:spPr>
          <a:xfrm>
            <a:off x="8046720" y="3749040"/>
            <a:ext cx="3520440" cy="2148840"/>
          </a:xfrm>
          <a:prstGeom prst="roundRect">
            <a:avLst>
              <a:gd name="adj" fmla="val 5106"/>
            </a:avLst>
          </a:prstGeom>
          <a:solidFill>
            <a:srgbClr val="EFF5F2"/>
          </a:solidFill>
          <a:ln w="12700">
            <a:solidFill>
              <a:srgbClr val="EFF5F2"/>
            </a:solidFill>
            <a:prstDash val="solid"/>
          </a:ln>
          <a:effectLst>
            <a:outerShdw sx="100000" sy="100000" kx="0" ky="0" algn="bl" rotWithShape="0" blurRad="101600" dist="25400" dir="5400000">
              <a:srgbClr val="17242A">
                <a:alpha val="16000"/>
              </a:srgbClr>
            </a:outerShdw>
          </a:effectLst>
        </p:spPr>
      </p:sp>
      <p:sp>
        <p:nvSpPr>
          <p:cNvPr id="33" name="icon-bg-FaServer"/>
          <p:cNvSpPr/>
          <p:nvPr/>
        </p:nvSpPr>
        <p:spPr>
          <a:xfrm>
            <a:off x="8275320" y="3977640"/>
            <a:ext cx="594360" cy="594360"/>
          </a:xfrm>
          <a:prstGeom prst="ellipse">
            <a:avLst/>
          </a:prstGeom>
          <a:solidFill>
            <a:srgbClr val="0B3B36"/>
          </a:solidFill>
          <a:ln w="12700">
            <a:solidFill>
              <a:srgbClr val="0B3B36"/>
            </a:solidFill>
            <a:prstDash val="solid"/>
          </a:ln>
        </p:spPr>
      </p:sp>
      <p:pic>
        <p:nvPicPr>
          <p:cNvPr id="34" name="icon-FaServer" descr="preencoded.png">    </p:cNvPr>
          <p:cNvPicPr>
            <a:picLocks noChangeAspect="1"/>
          </p:cNvPicPr>
          <p:nvPr/>
        </p:nvPicPr>
        <p:blipFill>
          <a:blip r:embed="rId8"/>
          <a:stretch>
            <a:fillRect/>
          </a:stretch>
        </p:blipFill>
        <p:spPr>
          <a:xfrm>
            <a:off x="8423910" y="4126230"/>
            <a:ext cx="297180" cy="297180"/>
          </a:xfrm>
          <a:prstGeom prst="rect">
            <a:avLst/>
          </a:prstGeom>
        </p:spPr>
      </p:pic>
      <p:sp>
        <p:nvSpPr>
          <p:cNvPr id="35" name="Text 27"/>
          <p:cNvSpPr txBox="1"/>
          <p:nvPr/>
        </p:nvSpPr>
        <p:spPr>
          <a:xfrm>
            <a:off x="9006840" y="4069080"/>
            <a:ext cx="2468880" cy="411480"/>
          </a:xfrm>
          <a:prstGeom prst="rect">
            <a:avLst/>
          </a:prstGeom>
          <a:noFill/>
          <a:ln/>
        </p:spPr>
        <p:txBody>
          <a:bodyPr wrap="square" lIns="0" tIns="0" rIns="0" bIns="0" rtlCol="0" anchor="t"/>
          <a:lstStyle/>
          <a:p>
            <a:pPr indent="0" marL="0">
              <a:buNone/>
            </a:pPr>
            <a:r>
              <a:rPr lang="en-US" sz="1700" b="1" dirty="0">
                <a:solidFill>
                  <a:srgbClr val="0B3B36"/>
                </a:solidFill>
                <a:latin typeface="Cambria" pitchFamily="34" charset="0"/>
                <a:ea typeface="Cambria" pitchFamily="34" charset="-122"/>
                <a:cs typeface="Cambria" pitchFamily="34" charset="-120"/>
              </a:rPr>
              <a:t>Scalable</a:t>
            </a:r>
            <a:endParaRPr lang="en-US" sz="1700" dirty="0"/>
          </a:p>
        </p:txBody>
      </p:sp>
      <p:sp>
        <p:nvSpPr>
          <p:cNvPr id="36" name="Text 28"/>
          <p:cNvSpPr txBox="1"/>
          <p:nvPr/>
        </p:nvSpPr>
        <p:spPr>
          <a:xfrm>
            <a:off x="8275320" y="4709160"/>
            <a:ext cx="3108960" cy="1097280"/>
          </a:xfrm>
          <a:prstGeom prst="rect">
            <a:avLst/>
          </a:prstGeom>
          <a:noFill/>
          <a:ln/>
        </p:spPr>
        <p:txBody>
          <a:bodyPr wrap="square" lIns="0" tIns="0" rIns="0" bIns="0" rtlCol="0" anchor="t"/>
          <a:lstStyle/>
          <a:p>
            <a:pPr indent="0" marL="0">
              <a:buNone/>
            </a:pPr>
            <a:r>
              <a:rPr lang="en-US" sz="1300" dirty="0">
                <a:solidFill>
                  <a:srgbClr val="17242A"/>
                </a:solidFill>
              </a:rPr>
              <a:t>PostgreSQL and Docker for state infrastructure; 128 automated tests</a:t>
            </a:r>
            <a:endParaRPr lang="en-US" sz="1300" dirty="0"/>
          </a:p>
        </p:txBody>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20</a:t>
            </a:fld>
            <a:endParaRPr lang="en-US"/>
          </a:p>
        </p:txBody>
      </p:sp>
    </p:spTree>
  </p:cSld>
  <p:clrMapOvr>
    <a:masterClrMapping/>
  </p:clrMapOvr>
  <p:transition spd="med">
    <p:fade/>
  </p:transition>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766560" cy="1188720"/>
          </a:xfrm>
          <a:prstGeom prst="rect">
            <a:avLst/>
          </a:prstGeom>
          <a:noFill/>
          <a:ln/>
        </p:spPr>
        <p:txBody>
          <a:bodyPr wrap="square" lIns="0" tIns="0" rIns="0" bIns="0" rtlCol="0" anchor="b"/>
          <a:lstStyle/>
          <a:p>
            <a:pPr algn="l" indent="0" marL="0">
              <a:buNone/>
            </a:pPr>
            <a:r>
              <a:rPr lang="en-US" sz="4400" b="1" dirty="0">
                <a:solidFill>
                  <a:schemeClr val="bg1"/>
                </a:solidFill>
                <a:latin typeface="Cambria" pitchFamily="34" charset="0"/>
                <a:ea typeface="Cambria" pitchFamily="34" charset="-122"/>
                <a:cs typeface="Cambria" pitchFamily="34" charset="-120"/>
              </a:rPr>
              <a:t>Deploy and roadmap</a:t>
            </a:r>
            <a:endParaRPr lang="en-US" sz="4400" dirty="0"/>
          </a:p>
        </p:txBody>
      </p:sp>
      <p:sp>
        <p:nvSpPr>
          <p:cNvPr id="3" name="Text 0"/>
          <p:cNvSpPr/>
          <p:nvPr>
            <p:ph idx="101" type="body" hasCustomPrompt="1"/>
          </p:nvPr>
        </p:nvSpPr>
        <p:spPr>
          <a:xfrm>
            <a:off x="731520" y="2788920"/>
            <a:ext cx="6400800" cy="1097280"/>
          </a:xfrm>
          <a:prstGeom prst="rect">
            <a:avLst/>
          </a:prstGeom>
          <a:noFill/>
          <a:ln/>
        </p:spPr>
        <p:txBody>
          <a:bodyPr wrap="square" lIns="0" tIns="0" rIns="0" bIns="0" rtlCol="0" anchor="t"/>
          <a:lstStyle/>
          <a:p>
            <a:pPr indent="0" marL="0">
              <a:buNone/>
            </a:pPr>
            <a:r>
              <a:rPr lang="en-US" sz="1800" dirty="0">
                <a:solidFill>
                  <a:schemeClr val="bg2"/>
                </a:solidFill>
              </a:rPr>
              <a:t>Try it today, and where it goes next</a:t>
            </a:r>
            <a:endParaRPr lang="en-US" sz="1800" dirty="0"/>
          </a:p>
        </p:txBody>
      </p:sp>
      <p:sp>
        <p:nvSpPr>
          <p:cNvPr id="4" name="Text 2"/>
          <p:cNvSpPr txBox="1"/>
          <p:nvPr/>
        </p:nvSpPr>
        <p:spPr>
          <a:xfrm>
            <a:off x="731520" y="685800"/>
            <a:ext cx="1828800" cy="731520"/>
          </a:xfrm>
          <a:prstGeom prst="rect">
            <a:avLst/>
          </a:prstGeom>
          <a:noFill/>
          <a:ln/>
        </p:spPr>
        <p:txBody>
          <a:bodyPr wrap="square" lIns="0" tIns="0" rIns="0" bIns="0" rtlCol="0" anchor="ctr"/>
          <a:lstStyle/>
          <a:p>
            <a:pPr indent="0" marL="0">
              <a:buNone/>
            </a:pPr>
            <a:r>
              <a:rPr lang="en-US" sz="4000" b="1" dirty="0">
                <a:solidFill>
                  <a:srgbClr val="0E8A6E"/>
                </a:solidFill>
                <a:latin typeface="Cambria" pitchFamily="34" charset="0"/>
                <a:ea typeface="Cambria" pitchFamily="34" charset="-122"/>
                <a:cs typeface="Cambria" pitchFamily="34" charset="-120"/>
              </a:rPr>
              <a:t>06</a:t>
            </a:r>
            <a:endParaRPr lang="en-US" sz="4000" dirty="0"/>
          </a:p>
        </p:txBody>
      </p:sp>
      <p:sp>
        <p:nvSpPr>
          <p:cNvPr id="5" name="Text 3"/>
          <p:cNvSpPr txBox="1"/>
          <p:nvPr/>
        </p:nvSpPr>
        <p:spPr>
          <a:xfrm>
            <a:off x="8001000" y="1417320"/>
            <a:ext cx="3474720" cy="320040"/>
          </a:xfrm>
          <a:prstGeom prst="rect">
            <a:avLst/>
          </a:prstGeom>
          <a:noFill/>
          <a:ln/>
        </p:spPr>
        <p:txBody>
          <a:bodyPr wrap="square" lIns="0" tIns="0" rIns="0" bIns="0" rtlCol="0" anchor="t"/>
          <a:lstStyle/>
          <a:p>
            <a:pPr indent="0" marL="0">
              <a:buNone/>
            </a:pPr>
            <a:r>
              <a:rPr lang="en-US" sz="1200" b="1" spc="200" kern="0" dirty="0">
                <a:solidFill>
                  <a:srgbClr val="C9921A"/>
                </a:solidFill>
              </a:rPr>
              <a:t>IN THIS SECTION</a:t>
            </a:r>
            <a:endParaRPr lang="en-US" sz="1200" dirty="0"/>
          </a:p>
        </p:txBody>
      </p:sp>
      <p:sp>
        <p:nvSpPr>
          <p:cNvPr id="6" name="menu-deploy"/>
          <p:cNvSpPr/>
          <p:nvPr/>
        </p:nvSpPr>
        <p:spPr>
          <a:xfrm>
            <a:off x="8001000" y="1828800"/>
            <a:ext cx="3611880" cy="457200"/>
          </a:xfrm>
          <a:prstGeom prst="roundRect">
            <a:avLst>
              <a:gd name="adj" fmla="val 20000"/>
            </a:avLst>
          </a:prstGeom>
          <a:solidFill>
            <a:srgbClr val="134E47"/>
          </a:solidFill>
          <a:ln>
            <a:solidFill>
              <a:srgbClr val="134E47"/>
            </a:solidFill>
          </a:ln>
        </p:spPr>
        <p:txBody>
          <a:bodyPr wrap="square" lIns="0" tIns="152400" rIns="127000" bIns="0" rtlCol="0" anchor="ctr"/>
          <a:lstStyle/>
          <a:p>
            <a:pPr algn="l" indent="0" marL="0">
              <a:buNone/>
            </a:pPr>
            <a:r>
              <a:rPr lang="en-US" sz="1300" dirty="0">
                <a:solidFill>
                  <a:srgbClr val="FFFFFF"/>
                </a:solidFill>
              </a:rPr>
              <a:t>01   How it is deployed  →</a:t>
            </a:r>
            <a:endParaRPr lang="en-US" sz="1300" dirty="0"/>
          </a:p>
        </p:txBody>
      </p:sp>
      <p:sp>
        <p:nvSpPr>
          <p:cNvPr id="7" name="menu-link-deploy">
            <a:hlinkClick r:id="rId1" tooltip="How it is deployed" action="ppaction://hlinksldjump"/>
          </p:cNvPr>
          <p:cNvSpPr/>
          <p:nvPr/>
        </p:nvSpPr>
        <p:spPr>
          <a:xfrm>
            <a:off x="8001000" y="1828800"/>
            <a:ext cx="3611880" cy="457200"/>
          </a:xfrm>
          <a:prstGeom prst="rect">
            <a:avLst/>
          </a:prstGeom>
          <a:solidFill>
            <a:srgbClr val="FFFFFF">
              <a:alpha val="0"/>
            </a:srgbClr>
          </a:solidFill>
          <a:ln w="12700">
            <a:solidFill>
              <a:srgbClr val="FFFFFF">
                <a:alpha val="0"/>
              </a:srgbClr>
            </a:solidFill>
            <a:prstDash val="solid"/>
          </a:ln>
        </p:spPr>
      </p:sp>
      <p:sp>
        <p:nvSpPr>
          <p:cNvPr id="8" name="menu-tryit"/>
          <p:cNvSpPr/>
          <p:nvPr/>
        </p:nvSpPr>
        <p:spPr>
          <a:xfrm>
            <a:off x="8001000" y="2395728"/>
            <a:ext cx="3611880" cy="457200"/>
          </a:xfrm>
          <a:prstGeom prst="roundRect">
            <a:avLst>
              <a:gd name="adj" fmla="val 20000"/>
            </a:avLst>
          </a:prstGeom>
          <a:solidFill>
            <a:srgbClr val="134E47"/>
          </a:solidFill>
          <a:ln>
            <a:solidFill>
              <a:srgbClr val="134E47"/>
            </a:solidFill>
          </a:ln>
        </p:spPr>
        <p:txBody>
          <a:bodyPr wrap="square" lIns="0" tIns="152400" rIns="127000" bIns="0" rtlCol="0" anchor="ctr"/>
          <a:lstStyle/>
          <a:p>
            <a:pPr algn="l" indent="0" marL="0">
              <a:buNone/>
            </a:pPr>
            <a:r>
              <a:rPr lang="en-US" sz="1300" dirty="0">
                <a:solidFill>
                  <a:srgbClr val="FFFFFF"/>
                </a:solidFill>
              </a:rPr>
              <a:t>02   Try the live demo  →</a:t>
            </a:r>
            <a:endParaRPr lang="en-US" sz="1300" dirty="0"/>
          </a:p>
        </p:txBody>
      </p:sp>
      <p:sp>
        <p:nvSpPr>
          <p:cNvPr id="9" name="menu-link-tryit">
            <a:hlinkClick r:id="rId2" tooltip="Try the live demo" action="ppaction://hlinksldjump"/>
          </p:cNvPr>
          <p:cNvSpPr/>
          <p:nvPr/>
        </p:nvSpPr>
        <p:spPr>
          <a:xfrm>
            <a:off x="8001000" y="2395728"/>
            <a:ext cx="3611880" cy="457200"/>
          </a:xfrm>
          <a:prstGeom prst="rect">
            <a:avLst/>
          </a:prstGeom>
          <a:solidFill>
            <a:srgbClr val="FFFFFF">
              <a:alpha val="0"/>
            </a:srgbClr>
          </a:solidFill>
          <a:ln w="12700">
            <a:solidFill>
              <a:srgbClr val="FFFFFF">
                <a:alpha val="0"/>
              </a:srgbClr>
            </a:solidFill>
            <a:prstDash val="solid"/>
          </a:ln>
        </p:spPr>
      </p:sp>
      <p:sp>
        <p:nvSpPr>
          <p:cNvPr id="10" name="menu-roadmap"/>
          <p:cNvSpPr/>
          <p:nvPr/>
        </p:nvSpPr>
        <p:spPr>
          <a:xfrm>
            <a:off x="8001000" y="2962656"/>
            <a:ext cx="3611880" cy="457200"/>
          </a:xfrm>
          <a:prstGeom prst="roundRect">
            <a:avLst>
              <a:gd name="adj" fmla="val 20000"/>
            </a:avLst>
          </a:prstGeom>
          <a:solidFill>
            <a:srgbClr val="134E47"/>
          </a:solidFill>
          <a:ln>
            <a:solidFill>
              <a:srgbClr val="134E47"/>
            </a:solidFill>
          </a:ln>
        </p:spPr>
        <p:txBody>
          <a:bodyPr wrap="square" lIns="0" tIns="152400" rIns="127000" bIns="0" rtlCol="0" anchor="ctr"/>
          <a:lstStyle/>
          <a:p>
            <a:pPr algn="l" indent="0" marL="0">
              <a:buNone/>
            </a:pPr>
            <a:r>
              <a:rPr lang="en-US" sz="1300" dirty="0">
                <a:solidFill>
                  <a:srgbClr val="FFFFFF"/>
                </a:solidFill>
              </a:rPr>
              <a:t>03   Roadmap  →</a:t>
            </a:r>
            <a:endParaRPr lang="en-US" sz="1300" dirty="0"/>
          </a:p>
        </p:txBody>
      </p:sp>
      <p:sp>
        <p:nvSpPr>
          <p:cNvPr id="11" name="menu-link-roadmap">
            <a:hlinkClick r:id="rId3" tooltip="Roadmap" action="ppaction://hlinksldjump"/>
          </p:cNvPr>
          <p:cNvSpPr/>
          <p:nvPr/>
        </p:nvSpPr>
        <p:spPr>
          <a:xfrm>
            <a:off x="8001000" y="2962656"/>
            <a:ext cx="3611880" cy="457200"/>
          </a:xfrm>
          <a:prstGeom prst="rect">
            <a:avLst/>
          </a:prstGeom>
          <a:solidFill>
            <a:srgbClr val="FFFFFF">
              <a:alpha val="0"/>
            </a:srgbClr>
          </a:solidFill>
          <a:ln w="12700">
            <a:solidFill>
              <a:srgbClr val="FFFFFF">
                <a:alpha val="0"/>
              </a:srgbClr>
            </a:solidFill>
            <a:prstDash val="solid"/>
          </a:ln>
        </p:spPr>
      </p:sp>
      <p:sp>
        <p:nvSpPr>
          <p:cNvPr id="12" name="menu-ideas"/>
          <p:cNvSpPr/>
          <p:nvPr/>
        </p:nvSpPr>
        <p:spPr>
          <a:xfrm>
            <a:off x="8001000" y="3529584"/>
            <a:ext cx="3611880" cy="457200"/>
          </a:xfrm>
          <a:prstGeom prst="roundRect">
            <a:avLst>
              <a:gd name="adj" fmla="val 20000"/>
            </a:avLst>
          </a:prstGeom>
          <a:solidFill>
            <a:srgbClr val="134E47"/>
          </a:solidFill>
          <a:ln>
            <a:solidFill>
              <a:srgbClr val="134E47"/>
            </a:solidFill>
          </a:ln>
        </p:spPr>
        <p:txBody>
          <a:bodyPr wrap="square" lIns="0" tIns="152400" rIns="127000" bIns="0" rtlCol="0" anchor="ctr"/>
          <a:lstStyle/>
          <a:p>
            <a:pPr algn="l" indent="0" marL="0">
              <a:buNone/>
            </a:pPr>
            <a:r>
              <a:rPr lang="en-US" sz="1300" dirty="0">
                <a:solidFill>
                  <a:srgbClr val="FFFFFF"/>
                </a:solidFill>
              </a:rPr>
              <a:t>04   Future innovations  →</a:t>
            </a:r>
            <a:endParaRPr lang="en-US" sz="1300" dirty="0"/>
          </a:p>
        </p:txBody>
      </p:sp>
      <p:sp>
        <p:nvSpPr>
          <p:cNvPr id="13" name="menu-link-ideas">
            <a:hlinkClick r:id="rId4" tooltip="Future innovations" action="ppaction://hlinksldjump"/>
          </p:cNvPr>
          <p:cNvSpPr/>
          <p:nvPr/>
        </p:nvSpPr>
        <p:spPr>
          <a:xfrm>
            <a:off x="8001000" y="3529584"/>
            <a:ext cx="3611880" cy="457200"/>
          </a:xfrm>
          <a:prstGeom prst="rect">
            <a:avLst/>
          </a:prstGeom>
          <a:solidFill>
            <a:srgbClr val="FFFFFF">
              <a:alpha val="0"/>
            </a:srgbClr>
          </a:solidFill>
          <a:ln w="12700">
            <a:solidFill>
              <a:srgbClr val="FFFFFF">
                <a:alpha val="0"/>
              </a:srgbClr>
            </a:solidFill>
            <a:prstDash val="solid"/>
          </a:ln>
        </p:spPr>
      </p:sp>
      <p:sp>
        <p:nvSpPr>
          <p:cNvPr id="14" name="menu-pilot"/>
          <p:cNvSpPr/>
          <p:nvPr/>
        </p:nvSpPr>
        <p:spPr>
          <a:xfrm>
            <a:off x="8001000" y="4096512"/>
            <a:ext cx="3611880" cy="457200"/>
          </a:xfrm>
          <a:prstGeom prst="roundRect">
            <a:avLst>
              <a:gd name="adj" fmla="val 20000"/>
            </a:avLst>
          </a:prstGeom>
          <a:solidFill>
            <a:srgbClr val="134E47"/>
          </a:solidFill>
          <a:ln>
            <a:solidFill>
              <a:srgbClr val="134E47"/>
            </a:solidFill>
          </a:ln>
        </p:spPr>
        <p:txBody>
          <a:bodyPr wrap="square" lIns="0" tIns="152400" rIns="127000" bIns="0" rtlCol="0" anchor="ctr"/>
          <a:lstStyle/>
          <a:p>
            <a:pPr algn="l" indent="0" marL="0">
              <a:buNone/>
            </a:pPr>
            <a:r>
              <a:rPr lang="en-US" sz="1300" dirty="0">
                <a:solidFill>
                  <a:srgbClr val="FFFFFF"/>
                </a:solidFill>
              </a:rPr>
              <a:t>05   What a pilot needs  →</a:t>
            </a:r>
            <a:endParaRPr lang="en-US" sz="1300" dirty="0"/>
          </a:p>
        </p:txBody>
      </p:sp>
      <p:sp>
        <p:nvSpPr>
          <p:cNvPr id="15" name="menu-link-pilot">
            <a:hlinkClick r:id="rId5" tooltip="What a pilot needs" action="ppaction://hlinksldjump"/>
          </p:cNvPr>
          <p:cNvSpPr/>
          <p:nvPr/>
        </p:nvSpPr>
        <p:spPr>
          <a:xfrm>
            <a:off x="8001000" y="4096512"/>
            <a:ext cx="3611880" cy="457200"/>
          </a:xfrm>
          <a:prstGeom prst="rect">
            <a:avLst/>
          </a:prstGeom>
          <a:solidFill>
            <a:srgbClr val="FFFFFF">
              <a:alpha val="0"/>
            </a:srgbClr>
          </a:solidFill>
          <a:ln w="12700">
            <a:solidFill>
              <a:srgbClr val="FFFFFF">
                <a:alpha val="0"/>
              </a:srgbClr>
            </a:solidFill>
            <a:prstDash val="solid"/>
          </a:ln>
        </p:spPr>
      </p:sp>
      <p:sp>
        <p:nvSpPr>
          <p:cNvPr id="16" name="icon-bg-FaRocket"/>
          <p:cNvSpPr/>
          <p:nvPr/>
        </p:nvSpPr>
        <p:spPr>
          <a:xfrm>
            <a:off x="731520" y="4206240"/>
            <a:ext cx="1097280" cy="1097280"/>
          </a:xfrm>
          <a:prstGeom prst="ellipse">
            <a:avLst/>
          </a:prstGeom>
          <a:solidFill>
            <a:srgbClr val="0E8A6E"/>
          </a:solidFill>
          <a:ln w="12700">
            <a:solidFill>
              <a:srgbClr val="0E8A6E"/>
            </a:solidFill>
            <a:prstDash val="solid"/>
          </a:ln>
        </p:spPr>
      </p:sp>
      <p:pic>
        <p:nvPicPr>
          <p:cNvPr id="17" name="icon-FaRocket" descr="preencoded.png">    </p:cNvPr>
          <p:cNvPicPr>
            <a:picLocks noChangeAspect="1"/>
          </p:cNvPicPr>
          <p:nvPr/>
        </p:nvPicPr>
        <p:blipFill>
          <a:blip r:embed="rId6"/>
          <a:stretch>
            <a:fillRect/>
          </a:stretch>
        </p:blipFill>
        <p:spPr>
          <a:xfrm>
            <a:off x="1005840" y="4480560"/>
            <a:ext cx="548640" cy="548640"/>
          </a:xfrm>
          <a:prstGeom prst="rect">
            <a:avLst/>
          </a:prstGeom>
        </p:spPr>
      </p:pic>
      <p:sp>
        <p:nvSpPr>
          <p:cNvPr id="18" name="button--Agenda"/>
          <p:cNvSpPr/>
          <p:nvPr/>
        </p:nvSpPr>
        <p:spPr>
          <a:xfrm>
            <a:off x="731520" y="5760720"/>
            <a:ext cx="1280160" cy="384048"/>
          </a:xfrm>
          <a:prstGeom prst="roundRect">
            <a:avLst>
              <a:gd name="adj" fmla="val 54762"/>
            </a:avLst>
          </a:prstGeom>
          <a:solidFill>
            <a:srgbClr val="134E47"/>
          </a:solidFill>
          <a:ln>
            <a:solidFill>
              <a:srgbClr val="134E47"/>
            </a:solidFill>
          </a:ln>
        </p:spPr>
        <p:txBody>
          <a:bodyPr wrap="square" lIns="0" tIns="0" rIns="0" bIns="0" rtlCol="0" anchor="ctr"/>
          <a:lstStyle/>
          <a:p>
            <a:pPr algn="ctr" indent="0" marL="0">
              <a:buNone/>
            </a:pPr>
            <a:r>
              <a:rPr lang="en-US" sz="1200" b="1" dirty="0">
                <a:solidFill>
                  <a:srgbClr val="FFFFFF"/>
                </a:solidFill>
              </a:rPr>
              <a:t>☰  Agenda</a:t>
            </a:r>
            <a:endParaRPr lang="en-US" sz="1200" dirty="0"/>
          </a:p>
        </p:txBody>
      </p:sp>
      <p:sp>
        <p:nvSpPr>
          <p:cNvPr id="19" name="button-link--Agenda">
            <a:hlinkClick r:id="rId7" tooltip="Back to the agenda" action="ppaction://hlinksldjump"/>
          </p:cNvPr>
          <p:cNvSpPr/>
          <p:nvPr/>
        </p:nvSpPr>
        <p:spPr>
          <a:xfrm>
            <a:off x="731520" y="5760720"/>
            <a:ext cx="1280160" cy="384048"/>
          </a:xfrm>
          <a:prstGeom prst="rect">
            <a:avLst/>
          </a:prstGeom>
          <a:solidFill>
            <a:srgbClr val="FFFFFF">
              <a:alpha val="0"/>
            </a:srgbClr>
          </a:solidFill>
          <a:ln w="12700">
            <a:solidFill>
              <a:srgbClr val="FFFFFF">
                <a:alpha val="0"/>
              </a:srgbClr>
            </a:solidFill>
            <a:prstDash val="solid"/>
          </a:ln>
        </p:spPr>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21</a:t>
            </a:fld>
            <a:endParaRPr lang="en-US"/>
          </a:p>
        </p:txBody>
      </p:sp>
    </p:spTree>
  </p:cSld>
  <p:clrMapOvr>
    <a:masterClrMapping/>
  </p:clrMapOvr>
  <p:transition spd="med">
    <p:fade/>
  </p:transition>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59536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Demo today, state infrastructure tomorrow</a:t>
            </a:r>
            <a:endParaRPr lang="en-US" sz="3000" dirty="0"/>
          </a:p>
        </p:txBody>
      </p:sp>
      <p:sp>
        <p:nvSpPr>
          <p:cNvPr id="3" name="button--Agenda"/>
          <p:cNvSpPr/>
          <p:nvPr/>
        </p:nvSpPr>
        <p:spPr>
          <a:xfrm>
            <a:off x="9372600" y="502920"/>
            <a:ext cx="1097280" cy="365760"/>
          </a:xfrm>
          <a:prstGeom prst="roundRect">
            <a:avLst>
              <a:gd name="adj" fmla="val 57500"/>
            </a:avLst>
          </a:prstGeom>
          <a:solidFill>
            <a:srgbClr val="EFF5F2"/>
          </a:solidFill>
          <a:ln>
            <a:solidFill>
              <a:srgbClr val="EFF5F2"/>
            </a:solidFill>
          </a:ln>
        </p:spPr>
        <p:txBody>
          <a:bodyPr wrap="square" lIns="0" tIns="0" rIns="0" bIns="0" rtlCol="0" anchor="ctr"/>
          <a:lstStyle/>
          <a:p>
            <a:pPr algn="ctr" indent="0" marL="0">
              <a:buNone/>
            </a:pPr>
            <a:r>
              <a:rPr lang="en-US" sz="1200" b="1" dirty="0">
                <a:solidFill>
                  <a:srgbClr val="0B3B36"/>
                </a:solidFill>
              </a:rPr>
              <a:t>☰  Agenda</a:t>
            </a:r>
            <a:endParaRPr lang="en-US" sz="1200" dirty="0"/>
          </a:p>
        </p:txBody>
      </p:sp>
      <p:sp>
        <p:nvSpPr>
          <p:cNvPr id="4" name="button-link--Agenda">
            <a:hlinkClick r:id="rId1" tooltip="Back to the agenda" action="ppaction://hlinksldjump"/>
          </p:cNvPr>
          <p:cNvSpPr/>
          <p:nvPr/>
        </p:nvSpPr>
        <p:spPr>
          <a:xfrm>
            <a:off x="9372600" y="502920"/>
            <a:ext cx="1097280" cy="365760"/>
          </a:xfrm>
          <a:prstGeom prst="rect">
            <a:avLst/>
          </a:prstGeom>
          <a:solidFill>
            <a:srgbClr val="FFFFFF">
              <a:alpha val="0"/>
            </a:srgbClr>
          </a:solidFill>
          <a:ln w="12700">
            <a:solidFill>
              <a:srgbClr val="FFFFFF">
                <a:alpha val="0"/>
              </a:srgbClr>
            </a:solidFill>
            <a:prstDash val="solid"/>
          </a:ln>
        </p:spPr>
      </p:sp>
      <p:sp>
        <p:nvSpPr>
          <p:cNvPr id="5" name="button-Live-demo-"/>
          <p:cNvSpPr/>
          <p:nvPr/>
        </p:nvSpPr>
        <p:spPr>
          <a:xfrm>
            <a:off x="10561320" y="502920"/>
            <a:ext cx="1097280" cy="365760"/>
          </a:xfrm>
          <a:prstGeom prst="roundRect">
            <a:avLst>
              <a:gd name="adj" fmla="val 57500"/>
            </a:avLst>
          </a:prstGeom>
          <a:solidFill>
            <a:srgbClr val="0B3B36"/>
          </a:solidFill>
          <a:ln>
            <a:solidFill>
              <a:srgbClr val="0B3B36"/>
            </a:solidFill>
          </a:ln>
        </p:spPr>
        <p:txBody>
          <a:bodyPr wrap="square" lIns="0" tIns="0" rIns="0" bIns="0" rtlCol="0" anchor="ctr"/>
          <a:lstStyle/>
          <a:p>
            <a:pPr algn="ctr" indent="0" marL="0">
              <a:buNone/>
            </a:pPr>
            <a:r>
              <a:rPr lang="en-US" sz="1200" b="1" dirty="0">
                <a:solidFill>
                  <a:srgbClr val="FFFFFF"/>
                </a:solidFill>
              </a:rPr>
              <a:t>Live demo ↗</a:t>
            </a:r>
            <a:endParaRPr lang="en-US" sz="1200" dirty="0"/>
          </a:p>
        </p:txBody>
      </p:sp>
      <p:sp>
        <p:nvSpPr>
          <p:cNvPr id="6" name="button-link-Live-demo-">
            <a:hlinkClick r:id="rId2" tooltip="Open the live demo"/>
          </p:cNvPr>
          <p:cNvSpPr/>
          <p:nvPr/>
        </p:nvSpPr>
        <p:spPr>
          <a:xfrm>
            <a:off x="10561320" y="502920"/>
            <a:ext cx="1097280" cy="365760"/>
          </a:xfrm>
          <a:prstGeom prst="rect">
            <a:avLst/>
          </a:prstGeom>
          <a:solidFill>
            <a:srgbClr val="FFFFFF">
              <a:alpha val="0"/>
            </a:srgbClr>
          </a:solidFill>
          <a:ln w="12700">
            <a:solidFill>
              <a:srgbClr val="FFFFFF">
                <a:alpha val="0"/>
              </a:srgbClr>
            </a:solidFill>
            <a:prstDash val="solid"/>
          </a:ln>
        </p:spPr>
      </p:sp>
      <p:sp>
        <p:nvSpPr>
          <p:cNvPr id="7" name="deploy-demo"/>
          <p:cNvSpPr/>
          <p:nvPr/>
        </p:nvSpPr>
        <p:spPr>
          <a:xfrm>
            <a:off x="548640" y="1325880"/>
            <a:ext cx="5349240" cy="4663440"/>
          </a:xfrm>
          <a:prstGeom prst="roundRect">
            <a:avLst>
              <a:gd name="adj" fmla="val 2353"/>
            </a:avLst>
          </a:prstGeom>
          <a:solidFill>
            <a:srgbClr val="EFF5F2"/>
          </a:solidFill>
          <a:ln w="12700">
            <a:solidFill>
              <a:srgbClr val="EFF5F2"/>
            </a:solidFill>
            <a:prstDash val="solid"/>
          </a:ln>
          <a:effectLst>
            <a:outerShdw sx="100000" sy="100000" kx="0" ky="0" algn="bl" rotWithShape="0" blurRad="101600" dist="25400" dir="5400000">
              <a:srgbClr val="17242A">
                <a:alpha val="16000"/>
              </a:srgbClr>
            </a:outerShdw>
          </a:effectLst>
        </p:spPr>
      </p:sp>
      <p:sp>
        <p:nvSpPr>
          <p:cNvPr id="8" name="deploy-state"/>
          <p:cNvSpPr/>
          <p:nvPr/>
        </p:nvSpPr>
        <p:spPr>
          <a:xfrm>
            <a:off x="6263640" y="1325880"/>
            <a:ext cx="5349240" cy="4663440"/>
          </a:xfrm>
          <a:prstGeom prst="roundRect">
            <a:avLst>
              <a:gd name="adj" fmla="val 2353"/>
            </a:avLst>
          </a:prstGeom>
          <a:solidFill>
            <a:srgbClr val="0B3B36"/>
          </a:solidFill>
          <a:ln w="12700">
            <a:solidFill>
              <a:srgbClr val="0B3B36"/>
            </a:solidFill>
            <a:prstDash val="solid"/>
          </a:ln>
          <a:effectLst>
            <a:outerShdw sx="100000" sy="100000" kx="0" ky="0" algn="bl" rotWithShape="0" blurRad="101600" dist="25400" dir="5400000">
              <a:srgbClr val="17242A">
                <a:alpha val="16000"/>
              </a:srgbClr>
            </a:outerShdw>
          </a:effectLst>
        </p:spPr>
      </p:sp>
      <p:sp>
        <p:nvSpPr>
          <p:cNvPr id="9" name="icon-bg-FaCloud"/>
          <p:cNvSpPr/>
          <p:nvPr/>
        </p:nvSpPr>
        <p:spPr>
          <a:xfrm>
            <a:off x="822960" y="1600200"/>
            <a:ext cx="640080" cy="640080"/>
          </a:xfrm>
          <a:prstGeom prst="ellipse">
            <a:avLst/>
          </a:prstGeom>
          <a:solidFill>
            <a:srgbClr val="E8762B"/>
          </a:solidFill>
          <a:ln w="12700">
            <a:solidFill>
              <a:srgbClr val="E8762B"/>
            </a:solidFill>
            <a:prstDash val="solid"/>
          </a:ln>
        </p:spPr>
      </p:sp>
      <p:pic>
        <p:nvPicPr>
          <p:cNvPr id="10" name="icon-FaCloud" descr="preencoded.png">    </p:cNvPr>
          <p:cNvPicPr>
            <a:picLocks noChangeAspect="1"/>
          </p:cNvPicPr>
          <p:nvPr/>
        </p:nvPicPr>
        <p:blipFill>
          <a:blip r:embed="rId3"/>
          <a:stretch>
            <a:fillRect/>
          </a:stretch>
        </p:blipFill>
        <p:spPr>
          <a:xfrm>
            <a:off x="982980" y="1760220"/>
            <a:ext cx="320040" cy="320040"/>
          </a:xfrm>
          <a:prstGeom prst="rect">
            <a:avLst/>
          </a:prstGeom>
        </p:spPr>
      </p:pic>
      <p:sp>
        <p:nvSpPr>
          <p:cNvPr id="11" name="Text 8"/>
          <p:cNvSpPr txBox="1"/>
          <p:nvPr/>
        </p:nvSpPr>
        <p:spPr>
          <a:xfrm>
            <a:off x="1600200" y="1691640"/>
            <a:ext cx="4114800" cy="457200"/>
          </a:xfrm>
          <a:prstGeom prst="rect">
            <a:avLst/>
          </a:prstGeom>
          <a:noFill/>
          <a:ln/>
        </p:spPr>
        <p:txBody>
          <a:bodyPr wrap="square" lIns="0" tIns="0" rIns="0" bIns="0" rtlCol="0" anchor="t"/>
          <a:lstStyle/>
          <a:p>
            <a:pPr indent="0" marL="0">
              <a:buNone/>
            </a:pPr>
            <a:r>
              <a:rPr lang="en-US" sz="2000" b="1" dirty="0">
                <a:solidFill>
                  <a:srgbClr val="0B3B36"/>
                </a:solidFill>
                <a:latin typeface="Cambria" pitchFamily="34" charset="0"/>
                <a:ea typeface="Cambria" pitchFamily="34" charset="-122"/>
                <a:cs typeface="Cambria" pitchFamily="34" charset="-120"/>
              </a:rPr>
              <a:t>Live demo on Vercel</a:t>
            </a:r>
            <a:endParaRPr lang="en-US" sz="2000" dirty="0"/>
          </a:p>
        </p:txBody>
      </p:sp>
      <p:sp>
        <p:nvSpPr>
          <p:cNvPr id="12" name="Text 9"/>
          <p:cNvSpPr/>
          <p:nvPr/>
        </p:nvSpPr>
        <p:spPr>
          <a:xfrm>
            <a:off x="822960" y="2468880"/>
            <a:ext cx="4846320" cy="2377440"/>
          </a:xfrm>
          <a:prstGeom prst="rect">
            <a:avLst/>
          </a:prstGeom>
          <a:noFill/>
          <a:ln/>
        </p:spPr>
        <p:txBody>
          <a:bodyPr wrap="square" lIns="0" tIns="0" rIns="0" bIns="0" rtlCol="0" anchor="t"/>
          <a:lstStyle/>
          <a:p>
            <a:pPr marL="203200" indent="-203200">
              <a:spcAft>
                <a:spcPts val="600"/>
              </a:spcAft>
              <a:buSzPct val="100000"/>
              <a:buChar char="•"/>
            </a:pPr>
            <a:r>
              <a:rPr lang="en-US" sz="1400" dirty="0">
                <a:solidFill>
                  <a:srgbClr val="000000"/>
                </a:solidFill>
              </a:rPr>
              <a:t>All three portals, demo data, keyword search over textbooks</a:t>
            </a:r>
            <a:endParaRPr lang="en-US" sz="1400" dirty="0"/>
          </a:p>
          <a:p>
            <a:pPr marL="203200" indent="-203200">
              <a:spcAft>
                <a:spcPts val="600"/>
              </a:spcAft>
              <a:buSzPct val="100000"/>
              <a:buChar char="•"/>
            </a:pPr>
            <a:r>
              <a:rPr lang="en-US" sz="1400" dirty="0">
                <a:solidFill>
                  <a:srgbClr val="000000"/>
                </a:solidFill>
              </a:rPr>
              <a:t>Opens in any browser, no installation</a:t>
            </a:r>
            <a:endParaRPr lang="en-US" sz="1400" dirty="0"/>
          </a:p>
          <a:p>
            <a:pPr marL="203200" indent="-203200">
              <a:spcAft>
                <a:spcPts val="600"/>
              </a:spcAft>
              <a:buSzPct val="100000"/>
              <a:buChar char="•"/>
            </a:pPr>
            <a:r>
              <a:rPr lang="en-US" sz="1400" dirty="0">
                <a:solidFill>
                  <a:srgbClr val="000000"/>
                </a:solidFill>
              </a:rPr>
              <a:t>Code on GitHub; every push redeploys</a:t>
            </a:r>
            <a:endParaRPr lang="en-US" sz="1400" dirty="0"/>
          </a:p>
          <a:p>
            <a:pPr marL="203200" indent="-203200">
              <a:spcAft>
                <a:spcPts val="600"/>
              </a:spcAft>
              <a:buSzPct val="100000"/>
              <a:buChar char="•"/>
            </a:pPr>
            <a:r>
              <a:rPr lang="en-US" sz="1400" dirty="0">
                <a:solidFill>
                  <a:srgbClr val="000000"/>
                </a:solidFill>
              </a:rPr>
              <a:t>AI model, vector search and voice need a server (see right)</a:t>
            </a:r>
            <a:endParaRPr lang="en-US" sz="1400" dirty="0"/>
          </a:p>
        </p:txBody>
      </p:sp>
      <p:sp>
        <p:nvSpPr>
          <p:cNvPr id="13" name="button-Open-hamar-shiksha-vercel-app-"/>
          <p:cNvSpPr/>
          <p:nvPr/>
        </p:nvSpPr>
        <p:spPr>
          <a:xfrm>
            <a:off x="822960" y="5166360"/>
            <a:ext cx="3291840" cy="457200"/>
          </a:xfrm>
          <a:prstGeom prst="roundRect">
            <a:avLst>
              <a:gd name="adj" fmla="val 46000"/>
            </a:avLst>
          </a:prstGeom>
          <a:solidFill>
            <a:srgbClr val="E8762B"/>
          </a:solidFill>
          <a:ln>
            <a:solidFill>
              <a:srgbClr val="E8762B"/>
            </a:solidFill>
          </a:ln>
        </p:spPr>
        <p:txBody>
          <a:bodyPr wrap="square" lIns="0" tIns="0" rIns="0" bIns="0" rtlCol="0" anchor="ctr"/>
          <a:lstStyle/>
          <a:p>
            <a:pPr algn="ctr" indent="0" marL="0">
              <a:buNone/>
            </a:pPr>
            <a:r>
              <a:rPr lang="en-US" sz="1400" b="1" dirty="0">
                <a:solidFill>
                  <a:srgbClr val="FFFFFF"/>
                </a:solidFill>
              </a:rPr>
              <a:t>Open hamar-shiksha.vercel.app ↗</a:t>
            </a:r>
            <a:endParaRPr lang="en-US" sz="1400" dirty="0"/>
          </a:p>
        </p:txBody>
      </p:sp>
      <p:sp>
        <p:nvSpPr>
          <p:cNvPr id="14" name="button-link-Open-hamar-shiksha-vercel-app-">
            <a:hlinkClick r:id="rId4" tooltip="https://hamar-shiksha.vercel.app"/>
          </p:cNvPr>
          <p:cNvSpPr/>
          <p:nvPr/>
        </p:nvSpPr>
        <p:spPr>
          <a:xfrm>
            <a:off x="822960" y="5166360"/>
            <a:ext cx="3291840" cy="457200"/>
          </a:xfrm>
          <a:prstGeom prst="rect">
            <a:avLst/>
          </a:prstGeom>
          <a:solidFill>
            <a:srgbClr val="FFFFFF">
              <a:alpha val="0"/>
            </a:srgbClr>
          </a:solidFill>
          <a:ln w="12700">
            <a:solidFill>
              <a:srgbClr val="FFFFFF">
                <a:alpha val="0"/>
              </a:srgbClr>
            </a:solidFill>
            <a:prstDash val="solid"/>
          </a:ln>
        </p:spPr>
      </p:sp>
      <p:sp>
        <p:nvSpPr>
          <p:cNvPr id="15" name="icon-bg-FaServer"/>
          <p:cNvSpPr/>
          <p:nvPr/>
        </p:nvSpPr>
        <p:spPr>
          <a:xfrm>
            <a:off x="6537960" y="1600200"/>
            <a:ext cx="640080" cy="640080"/>
          </a:xfrm>
          <a:prstGeom prst="ellipse">
            <a:avLst/>
          </a:prstGeom>
          <a:solidFill>
            <a:srgbClr val="0E8A6E"/>
          </a:solidFill>
          <a:ln w="12700">
            <a:solidFill>
              <a:srgbClr val="0E8A6E"/>
            </a:solidFill>
            <a:prstDash val="solid"/>
          </a:ln>
        </p:spPr>
      </p:sp>
      <p:pic>
        <p:nvPicPr>
          <p:cNvPr id="16" name="icon-FaServer" descr="preencoded.png">    </p:cNvPr>
          <p:cNvPicPr>
            <a:picLocks noChangeAspect="1"/>
          </p:cNvPicPr>
          <p:nvPr/>
        </p:nvPicPr>
        <p:blipFill>
          <a:blip r:embed="rId5"/>
          <a:stretch>
            <a:fillRect/>
          </a:stretch>
        </p:blipFill>
        <p:spPr>
          <a:xfrm>
            <a:off x="6697980" y="1760220"/>
            <a:ext cx="320040" cy="320040"/>
          </a:xfrm>
          <a:prstGeom prst="rect">
            <a:avLst/>
          </a:prstGeom>
        </p:spPr>
      </p:pic>
      <p:sp>
        <p:nvSpPr>
          <p:cNvPr id="17" name="Text 13"/>
          <p:cNvSpPr txBox="1"/>
          <p:nvPr/>
        </p:nvSpPr>
        <p:spPr>
          <a:xfrm>
            <a:off x="7315200" y="1691640"/>
            <a:ext cx="4114800" cy="457200"/>
          </a:xfrm>
          <a:prstGeom prst="rect">
            <a:avLst/>
          </a:prstGeom>
          <a:noFill/>
          <a:ln/>
        </p:spPr>
        <p:txBody>
          <a:bodyPr wrap="square" lIns="0" tIns="0" rIns="0" bIns="0" rtlCol="0" anchor="t"/>
          <a:lstStyle/>
          <a:p>
            <a:pPr indent="0" marL="0">
              <a:buNone/>
            </a:pPr>
            <a:r>
              <a:rPr lang="en-US" sz="2000" b="1" dirty="0">
                <a:solidFill>
                  <a:srgbClr val="FFFFFF"/>
                </a:solidFill>
                <a:latin typeface="Cambria" pitchFamily="34" charset="0"/>
                <a:ea typeface="Cambria" pitchFamily="34" charset="-122"/>
                <a:cs typeface="Cambria" pitchFamily="34" charset="-120"/>
              </a:rPr>
              <a:t>State deployment (Docker)</a:t>
            </a:r>
            <a:endParaRPr lang="en-US" sz="2000" dirty="0"/>
          </a:p>
        </p:txBody>
      </p:sp>
      <p:sp>
        <p:nvSpPr>
          <p:cNvPr id="18" name="Text 14"/>
          <p:cNvSpPr/>
          <p:nvPr/>
        </p:nvSpPr>
        <p:spPr>
          <a:xfrm>
            <a:off x="6537960" y="2468880"/>
            <a:ext cx="4846320" cy="2377440"/>
          </a:xfrm>
          <a:prstGeom prst="rect">
            <a:avLst/>
          </a:prstGeom>
          <a:noFill/>
          <a:ln/>
        </p:spPr>
        <p:txBody>
          <a:bodyPr wrap="square" lIns="0" tIns="0" rIns="0" bIns="0" rtlCol="0" anchor="t"/>
          <a:lstStyle/>
          <a:p>
            <a:pPr marL="203200" indent="-203200">
              <a:spcAft>
                <a:spcPts val="600"/>
              </a:spcAft>
              <a:buSzPct val="100000"/>
              <a:buChar char="•"/>
            </a:pPr>
            <a:r>
              <a:rPr lang="en-US" sz="1400" dirty="0">
                <a:solidFill>
                  <a:srgbClr val="FFFFFF"/>
                </a:solidFill>
              </a:rPr>
              <a:t>State Data Centre or an empanelled cloud</a:t>
            </a:r>
            <a:endParaRPr lang="en-US" sz="1400" dirty="0"/>
          </a:p>
          <a:p>
            <a:pPr marL="203200" indent="-203200">
              <a:spcAft>
                <a:spcPts val="600"/>
              </a:spcAft>
              <a:buSzPct val="100000"/>
              <a:buChar char="•"/>
            </a:pPr>
            <a:r>
              <a:rPr lang="en-US" sz="1400" dirty="0">
                <a:solidFill>
                  <a:srgbClr val="FFFFFF"/>
                </a:solidFill>
              </a:rPr>
              <a:t>PostgreSQL, HTTPS, backups, production safety checks</a:t>
            </a:r>
            <a:endParaRPr lang="en-US" sz="1400" dirty="0"/>
          </a:p>
          <a:p>
            <a:pPr marL="203200" indent="-203200">
              <a:spcAft>
                <a:spcPts val="600"/>
              </a:spcAft>
              <a:buSzPct val="100000"/>
              <a:buChar char="•"/>
            </a:pPr>
            <a:r>
              <a:rPr lang="en-US" sz="1400" dirty="0">
                <a:solidFill>
                  <a:srgbClr val="FFFFFF"/>
                </a:solidFill>
              </a:rPr>
              <a:t>Local AI model, multilingual vector search and voice</a:t>
            </a:r>
            <a:endParaRPr lang="en-US" sz="1400" dirty="0"/>
          </a:p>
          <a:p>
            <a:pPr marL="203200" indent="-203200">
              <a:spcAft>
                <a:spcPts val="600"/>
              </a:spcAft>
              <a:buSzPct val="100000"/>
              <a:buChar char="•"/>
            </a:pPr>
            <a:r>
              <a:rPr lang="en-US" sz="1400" dirty="0">
                <a:solidFill>
                  <a:srgbClr val="FFFFFF"/>
                </a:solidFill>
              </a:rPr>
              <a:t>Optional school nodes for remote areas</a:t>
            </a:r>
            <a:endParaRPr lang="en-US" sz="1400" dirty="0"/>
          </a:p>
        </p:txBody>
      </p:sp>
      <p:sp>
        <p:nvSpPr>
          <p:cNvPr id="19" name="button-View-source-on-GitHub-"/>
          <p:cNvSpPr/>
          <p:nvPr/>
        </p:nvSpPr>
        <p:spPr>
          <a:xfrm>
            <a:off x="6537960" y="5166360"/>
            <a:ext cx="2926080" cy="457200"/>
          </a:xfrm>
          <a:prstGeom prst="roundRect">
            <a:avLst>
              <a:gd name="adj" fmla="val 46000"/>
            </a:avLst>
          </a:prstGeom>
          <a:solidFill>
            <a:srgbClr val="0E8A6E"/>
          </a:solidFill>
          <a:ln>
            <a:solidFill>
              <a:srgbClr val="0E8A6E"/>
            </a:solidFill>
          </a:ln>
        </p:spPr>
        <p:txBody>
          <a:bodyPr wrap="square" lIns="0" tIns="0" rIns="0" bIns="0" rtlCol="0" anchor="ctr"/>
          <a:lstStyle/>
          <a:p>
            <a:pPr algn="ctr" indent="0" marL="0">
              <a:buNone/>
            </a:pPr>
            <a:r>
              <a:rPr lang="en-US" sz="1400" b="1" dirty="0">
                <a:solidFill>
                  <a:srgbClr val="FFFFFF"/>
                </a:solidFill>
              </a:rPr>
              <a:t>View source on GitHub ↗</a:t>
            </a:r>
            <a:endParaRPr lang="en-US" sz="1400" dirty="0"/>
          </a:p>
        </p:txBody>
      </p:sp>
      <p:sp>
        <p:nvSpPr>
          <p:cNvPr id="20" name="button-link-View-source-on-GitHub-">
            <a:hlinkClick r:id="rId6" tooltip="https://github.com/Niladri962/HAMAR_Shiksha"/>
          </p:cNvPr>
          <p:cNvSpPr/>
          <p:nvPr/>
        </p:nvSpPr>
        <p:spPr>
          <a:xfrm>
            <a:off x="6537960" y="5166360"/>
            <a:ext cx="2926080" cy="457200"/>
          </a:xfrm>
          <a:prstGeom prst="rect">
            <a:avLst/>
          </a:prstGeom>
          <a:solidFill>
            <a:srgbClr val="FFFFFF">
              <a:alpha val="0"/>
            </a:srgbClr>
          </a:solidFill>
          <a:ln w="12700">
            <a:solidFill>
              <a:srgbClr val="FFFFFF">
                <a:alpha val="0"/>
              </a:srgbClr>
            </a:solidFill>
            <a:prstDash val="solid"/>
          </a:ln>
        </p:spPr>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22</a:t>
            </a:fld>
            <a:endParaRPr lang="en-US"/>
          </a:p>
        </p:txBody>
      </p:sp>
    </p:spTree>
  </p:cSld>
  <p:clrMapOvr>
    <a:masterClrMapping/>
  </p:clrMapOvr>
  <p:transition spd="med">
    <p:fade/>
  </p:transition>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59536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Try it now</a:t>
            </a:r>
            <a:endParaRPr lang="en-US" sz="3000" dirty="0"/>
          </a:p>
        </p:txBody>
      </p:sp>
      <p:sp>
        <p:nvSpPr>
          <p:cNvPr id="3" name="button--Agenda"/>
          <p:cNvSpPr/>
          <p:nvPr/>
        </p:nvSpPr>
        <p:spPr>
          <a:xfrm>
            <a:off x="9372600" y="502920"/>
            <a:ext cx="1097280" cy="365760"/>
          </a:xfrm>
          <a:prstGeom prst="roundRect">
            <a:avLst>
              <a:gd name="adj" fmla="val 57500"/>
            </a:avLst>
          </a:prstGeom>
          <a:solidFill>
            <a:srgbClr val="EFF5F2"/>
          </a:solidFill>
          <a:ln>
            <a:solidFill>
              <a:srgbClr val="EFF5F2"/>
            </a:solidFill>
          </a:ln>
        </p:spPr>
        <p:txBody>
          <a:bodyPr wrap="square" lIns="0" tIns="0" rIns="0" bIns="0" rtlCol="0" anchor="ctr"/>
          <a:lstStyle/>
          <a:p>
            <a:pPr algn="ctr" indent="0" marL="0">
              <a:buNone/>
            </a:pPr>
            <a:r>
              <a:rPr lang="en-US" sz="1200" b="1" dirty="0">
                <a:solidFill>
                  <a:srgbClr val="0B3B36"/>
                </a:solidFill>
              </a:rPr>
              <a:t>☰  Agenda</a:t>
            </a:r>
            <a:endParaRPr lang="en-US" sz="1200" dirty="0"/>
          </a:p>
        </p:txBody>
      </p:sp>
      <p:sp>
        <p:nvSpPr>
          <p:cNvPr id="4" name="button-link--Agenda">
            <a:hlinkClick r:id="rId1" tooltip="Back to the agenda" action="ppaction://hlinksldjump"/>
          </p:cNvPr>
          <p:cNvSpPr/>
          <p:nvPr/>
        </p:nvSpPr>
        <p:spPr>
          <a:xfrm>
            <a:off x="9372600" y="502920"/>
            <a:ext cx="1097280" cy="365760"/>
          </a:xfrm>
          <a:prstGeom prst="rect">
            <a:avLst/>
          </a:prstGeom>
          <a:solidFill>
            <a:srgbClr val="FFFFFF">
              <a:alpha val="0"/>
            </a:srgbClr>
          </a:solidFill>
          <a:ln w="12700">
            <a:solidFill>
              <a:srgbClr val="FFFFFF">
                <a:alpha val="0"/>
              </a:srgbClr>
            </a:solidFill>
            <a:prstDash val="solid"/>
          </a:ln>
        </p:spPr>
      </p:sp>
      <p:sp>
        <p:nvSpPr>
          <p:cNvPr id="5" name="button-Live-demo-"/>
          <p:cNvSpPr/>
          <p:nvPr/>
        </p:nvSpPr>
        <p:spPr>
          <a:xfrm>
            <a:off x="10561320" y="502920"/>
            <a:ext cx="1097280" cy="365760"/>
          </a:xfrm>
          <a:prstGeom prst="roundRect">
            <a:avLst>
              <a:gd name="adj" fmla="val 57500"/>
            </a:avLst>
          </a:prstGeom>
          <a:solidFill>
            <a:srgbClr val="0B3B36"/>
          </a:solidFill>
          <a:ln>
            <a:solidFill>
              <a:srgbClr val="0B3B36"/>
            </a:solidFill>
          </a:ln>
        </p:spPr>
        <p:txBody>
          <a:bodyPr wrap="square" lIns="0" tIns="0" rIns="0" bIns="0" rtlCol="0" anchor="ctr"/>
          <a:lstStyle/>
          <a:p>
            <a:pPr algn="ctr" indent="0" marL="0">
              <a:buNone/>
            </a:pPr>
            <a:r>
              <a:rPr lang="en-US" sz="1200" b="1" dirty="0">
                <a:solidFill>
                  <a:srgbClr val="FFFFFF"/>
                </a:solidFill>
              </a:rPr>
              <a:t>Live demo ↗</a:t>
            </a:r>
            <a:endParaRPr lang="en-US" sz="1200" dirty="0"/>
          </a:p>
        </p:txBody>
      </p:sp>
      <p:sp>
        <p:nvSpPr>
          <p:cNvPr id="6" name="button-link-Live-demo-">
            <a:hlinkClick r:id="rId2" tooltip="Open the live demo"/>
          </p:cNvPr>
          <p:cNvSpPr/>
          <p:nvPr/>
        </p:nvSpPr>
        <p:spPr>
          <a:xfrm>
            <a:off x="10561320" y="502920"/>
            <a:ext cx="1097280" cy="365760"/>
          </a:xfrm>
          <a:prstGeom prst="rect">
            <a:avLst/>
          </a:prstGeom>
          <a:solidFill>
            <a:srgbClr val="FFFFFF">
              <a:alpha val="0"/>
            </a:srgbClr>
          </a:solidFill>
          <a:ln w="12700">
            <a:solidFill>
              <a:srgbClr val="FFFFFF">
                <a:alpha val="0"/>
              </a:srgbClr>
            </a:solidFill>
            <a:prstDash val="solid"/>
          </a:ln>
        </p:spPr>
      </p:sp>
      <p:sp>
        <p:nvSpPr>
          <p:cNvPr id="7" name="try-0"/>
          <p:cNvSpPr/>
          <p:nvPr/>
        </p:nvSpPr>
        <p:spPr>
          <a:xfrm>
            <a:off x="548640" y="1371600"/>
            <a:ext cx="3520440" cy="3840480"/>
          </a:xfrm>
          <a:prstGeom prst="roundRect">
            <a:avLst>
              <a:gd name="adj" fmla="val 3117"/>
            </a:avLst>
          </a:prstGeom>
          <a:solidFill>
            <a:srgbClr val="EFF5F2"/>
          </a:solidFill>
          <a:ln w="12700">
            <a:solidFill>
              <a:srgbClr val="EFF5F2"/>
            </a:solidFill>
            <a:prstDash val="solid"/>
          </a:ln>
          <a:effectLst>
            <a:outerShdw sx="100000" sy="100000" kx="0" ky="0" algn="bl" rotWithShape="0" blurRad="101600" dist="25400" dir="5400000">
              <a:srgbClr val="17242A">
                <a:alpha val="16000"/>
              </a:srgbClr>
            </a:outerShdw>
          </a:effectLst>
        </p:spPr>
      </p:sp>
      <p:sp>
        <p:nvSpPr>
          <p:cNvPr id="8" name="icon-bg-FaMapLocationDot">
            <a:hlinkClick r:id="rId5" tooltip="https://hamar-shiksha.vercel.app/admin/login"/>
          </p:cNvPr>
          <p:cNvSpPr/>
          <p:nvPr/>
        </p:nvSpPr>
        <p:spPr>
          <a:xfrm>
            <a:off x="1920240" y="1645920"/>
            <a:ext cx="777240" cy="777240"/>
          </a:xfrm>
          <a:prstGeom prst="ellipse">
            <a:avLst/>
          </a:prstGeom>
          <a:solidFill>
            <a:srgbClr val="1F4E8C"/>
          </a:solidFill>
          <a:ln w="12700">
            <a:solidFill>
              <a:srgbClr val="1F4E8C"/>
            </a:solidFill>
            <a:prstDash val="solid"/>
          </a:ln>
        </p:spPr>
      </p:sp>
      <p:pic>
        <p:nvPicPr>
          <p:cNvPr id="9" name="icon-FaMapLocationDot" descr="preencoded.png">
            <a:hlinkClick r:id="rId5" tooltip="https://hamar-shiksha.vercel.app/admin/login"/>
          </p:cNvPr>
          <p:cNvPicPr>
            <a:picLocks noChangeAspect="1"/>
          </p:cNvPicPr>
          <p:nvPr/>
        </p:nvPicPr>
        <p:blipFill>
          <a:blip r:embed="rId4"/>
          <a:stretch>
            <a:fillRect/>
          </a:stretch>
        </p:blipFill>
        <p:spPr>
          <a:xfrm>
            <a:off x="2114550" y="1840230"/>
            <a:ext cx="388620" cy="388620"/>
          </a:xfrm>
          <a:prstGeom prst="rect">
            <a:avLst/>
          </a:prstGeom>
        </p:spPr>
      </p:pic>
      <p:sp>
        <p:nvSpPr>
          <p:cNvPr id="10" name="Text 7"/>
          <p:cNvSpPr txBox="1"/>
          <p:nvPr/>
        </p:nvSpPr>
        <p:spPr>
          <a:xfrm>
            <a:off x="731520" y="2606040"/>
            <a:ext cx="3154680" cy="411480"/>
          </a:xfrm>
          <a:prstGeom prst="rect">
            <a:avLst/>
          </a:prstGeom>
          <a:noFill/>
          <a:ln/>
        </p:spPr>
        <p:txBody>
          <a:bodyPr wrap="square" lIns="0" tIns="0" rIns="0" bIns="0" rtlCol="0" anchor="t"/>
          <a:lstStyle/>
          <a:p>
            <a:pPr algn="ctr" indent="0" marL="0">
              <a:buNone/>
            </a:pPr>
            <a:r>
              <a:rPr lang="en-US" sz="1800" b="1" dirty="0">
                <a:solidFill>
                  <a:srgbClr val="0B3B36"/>
                </a:solidFill>
                <a:latin typeface="Cambria" pitchFamily="34" charset="0"/>
                <a:ea typeface="Cambria" pitchFamily="34" charset="-122"/>
                <a:cs typeface="Cambria" pitchFamily="34" charset="-120"/>
              </a:rPr>
              <a:t>Administrator</a:t>
            </a:r>
            <a:endParaRPr lang="en-US" sz="1800" dirty="0"/>
          </a:p>
        </p:txBody>
      </p:sp>
      <p:sp>
        <p:nvSpPr>
          <p:cNvPr id="11" name="Text 8"/>
          <p:cNvSpPr txBox="1"/>
          <p:nvPr/>
        </p:nvSpPr>
        <p:spPr>
          <a:xfrm>
            <a:off x="822960" y="3154680"/>
            <a:ext cx="3017520" cy="274320"/>
          </a:xfrm>
          <a:prstGeom prst="rect">
            <a:avLst/>
          </a:prstGeom>
          <a:noFill/>
          <a:ln/>
        </p:spPr>
        <p:txBody>
          <a:bodyPr wrap="square" lIns="0" tIns="0" rIns="0" bIns="0" rtlCol="0" anchor="t"/>
          <a:lstStyle/>
          <a:p>
            <a:pPr indent="0" marL="0">
              <a:buNone/>
            </a:pPr>
            <a:r>
              <a:rPr lang="en-US" sz="1200" dirty="0">
                <a:solidFill>
                  <a:srgbClr val="5E6B70"/>
                </a:solidFill>
              </a:rPr>
              <a:t>Login ID</a:t>
            </a:r>
            <a:endParaRPr lang="en-US" sz="1200" dirty="0"/>
          </a:p>
        </p:txBody>
      </p:sp>
      <p:sp>
        <p:nvSpPr>
          <p:cNvPr id="12" name="Text 9"/>
          <p:cNvSpPr txBox="1"/>
          <p:nvPr/>
        </p:nvSpPr>
        <p:spPr>
          <a:xfrm>
            <a:off x="822960" y="3401568"/>
            <a:ext cx="3017520" cy="365760"/>
          </a:xfrm>
          <a:prstGeom prst="rect">
            <a:avLst/>
          </a:prstGeom>
          <a:noFill/>
          <a:ln/>
        </p:spPr>
        <p:txBody>
          <a:bodyPr wrap="square" lIns="0" tIns="0" rIns="0" bIns="0" rtlCol="0" anchor="t"/>
          <a:lstStyle/>
          <a:p>
            <a:pPr indent="0" marL="0">
              <a:buNone/>
            </a:pPr>
            <a:r>
              <a:rPr lang="en-US" sz="1700" b="1" dirty="0">
                <a:solidFill>
                  <a:srgbClr val="17242A"/>
                </a:solidFill>
                <a:latin typeface="Courier New" pitchFamily="34" charset="0"/>
                <a:ea typeface="Courier New" pitchFamily="34" charset="-122"/>
                <a:cs typeface="Courier New" pitchFamily="34" charset="-120"/>
              </a:rPr>
              <a:t>state.admin</a:t>
            </a:r>
            <a:endParaRPr lang="en-US" sz="1700" dirty="0"/>
          </a:p>
        </p:txBody>
      </p:sp>
      <p:sp>
        <p:nvSpPr>
          <p:cNvPr id="13" name="Text 10"/>
          <p:cNvSpPr txBox="1"/>
          <p:nvPr/>
        </p:nvSpPr>
        <p:spPr>
          <a:xfrm>
            <a:off x="822960" y="3840480"/>
            <a:ext cx="3017520" cy="274320"/>
          </a:xfrm>
          <a:prstGeom prst="rect">
            <a:avLst/>
          </a:prstGeom>
          <a:noFill/>
          <a:ln/>
        </p:spPr>
        <p:txBody>
          <a:bodyPr wrap="square" lIns="0" tIns="0" rIns="0" bIns="0" rtlCol="0" anchor="t"/>
          <a:lstStyle/>
          <a:p>
            <a:pPr indent="0" marL="0">
              <a:buNone/>
            </a:pPr>
            <a:r>
              <a:rPr lang="en-US" sz="1200" dirty="0">
                <a:solidFill>
                  <a:srgbClr val="5E6B70"/>
                </a:solidFill>
              </a:rPr>
              <a:t>Password</a:t>
            </a:r>
            <a:endParaRPr lang="en-US" sz="1200" dirty="0"/>
          </a:p>
        </p:txBody>
      </p:sp>
      <p:sp>
        <p:nvSpPr>
          <p:cNvPr id="14" name="Text 11"/>
          <p:cNvSpPr txBox="1"/>
          <p:nvPr/>
        </p:nvSpPr>
        <p:spPr>
          <a:xfrm>
            <a:off x="822960" y="4087368"/>
            <a:ext cx="3017520" cy="365760"/>
          </a:xfrm>
          <a:prstGeom prst="rect">
            <a:avLst/>
          </a:prstGeom>
          <a:noFill/>
          <a:ln/>
        </p:spPr>
        <p:txBody>
          <a:bodyPr wrap="square" lIns="0" tIns="0" rIns="0" bIns="0" rtlCol="0" anchor="t"/>
          <a:lstStyle/>
          <a:p>
            <a:pPr indent="0" marL="0">
              <a:buNone/>
            </a:pPr>
            <a:r>
              <a:rPr lang="en-US" sz="1700" b="1" dirty="0">
                <a:solidFill>
                  <a:srgbClr val="17242A"/>
                </a:solidFill>
                <a:latin typeface="Courier New" pitchFamily="34" charset="0"/>
                <a:ea typeface="Courier New" pitchFamily="34" charset="-122"/>
                <a:cs typeface="Courier New" pitchFamily="34" charset="-120"/>
              </a:rPr>
              <a:t>Demo@State2026</a:t>
            </a:r>
            <a:endParaRPr lang="en-US" sz="1700" dirty="0"/>
          </a:p>
        </p:txBody>
      </p:sp>
      <p:sp>
        <p:nvSpPr>
          <p:cNvPr id="15" name="button-Open-portal-"/>
          <p:cNvSpPr/>
          <p:nvPr/>
        </p:nvSpPr>
        <p:spPr>
          <a:xfrm>
            <a:off x="1234440" y="4617720"/>
            <a:ext cx="2148840" cy="411480"/>
          </a:xfrm>
          <a:prstGeom prst="roundRect">
            <a:avLst>
              <a:gd name="adj" fmla="val 51111"/>
            </a:avLst>
          </a:prstGeom>
          <a:solidFill>
            <a:srgbClr val="1F4E8C"/>
          </a:solidFill>
          <a:ln>
            <a:solidFill>
              <a:srgbClr val="1F4E8C"/>
            </a:solidFill>
          </a:ln>
        </p:spPr>
        <p:txBody>
          <a:bodyPr wrap="square" lIns="0" tIns="0" rIns="0" bIns="0" rtlCol="0" anchor="ctr"/>
          <a:lstStyle/>
          <a:p>
            <a:pPr algn="ctr" indent="0" marL="0">
              <a:buNone/>
            </a:pPr>
            <a:r>
              <a:rPr lang="en-US" sz="1400" b="1" dirty="0">
                <a:solidFill>
                  <a:srgbClr val="FFFFFF"/>
                </a:solidFill>
              </a:rPr>
              <a:t>Open portal ↗</a:t>
            </a:r>
            <a:endParaRPr lang="en-US" sz="1400" dirty="0"/>
          </a:p>
        </p:txBody>
      </p:sp>
      <p:sp>
        <p:nvSpPr>
          <p:cNvPr id="16" name="button-link-Open-portal-">
            <a:hlinkClick r:id="rId6" tooltip="https://hamar-shiksha.vercel.app/admin/login"/>
          </p:cNvPr>
          <p:cNvSpPr/>
          <p:nvPr/>
        </p:nvSpPr>
        <p:spPr>
          <a:xfrm>
            <a:off x="1234440" y="4617720"/>
            <a:ext cx="2148840" cy="411480"/>
          </a:xfrm>
          <a:prstGeom prst="rect">
            <a:avLst/>
          </a:prstGeom>
          <a:solidFill>
            <a:srgbClr val="FFFFFF">
              <a:alpha val="0"/>
            </a:srgbClr>
          </a:solidFill>
          <a:ln w="12700">
            <a:solidFill>
              <a:srgbClr val="FFFFFF">
                <a:alpha val="0"/>
              </a:srgbClr>
            </a:solidFill>
            <a:prstDash val="solid"/>
          </a:ln>
        </p:spPr>
      </p:sp>
      <p:sp>
        <p:nvSpPr>
          <p:cNvPr id="17" name="try-1"/>
          <p:cNvSpPr/>
          <p:nvPr/>
        </p:nvSpPr>
        <p:spPr>
          <a:xfrm>
            <a:off x="4297680" y="1371600"/>
            <a:ext cx="3520440" cy="3840480"/>
          </a:xfrm>
          <a:prstGeom prst="roundRect">
            <a:avLst>
              <a:gd name="adj" fmla="val 3117"/>
            </a:avLst>
          </a:prstGeom>
          <a:solidFill>
            <a:srgbClr val="EFF5F2"/>
          </a:solidFill>
          <a:ln w="12700">
            <a:solidFill>
              <a:srgbClr val="EFF5F2"/>
            </a:solidFill>
            <a:prstDash val="solid"/>
          </a:ln>
          <a:effectLst>
            <a:outerShdw sx="100000" sy="100000" kx="0" ky="0" algn="bl" rotWithShape="0" blurRad="101600" dist="25400" dir="5400000">
              <a:srgbClr val="17242A">
                <a:alpha val="16000"/>
              </a:srgbClr>
            </a:outerShdw>
          </a:effectLst>
        </p:spPr>
      </p:sp>
      <p:sp>
        <p:nvSpPr>
          <p:cNvPr id="18" name="icon-bg-FaChalkboardUser">
            <a:hlinkClick r:id="rId9" tooltip="https://hamar-shiksha.vercel.app/teacher/login"/>
          </p:cNvPr>
          <p:cNvSpPr/>
          <p:nvPr/>
        </p:nvSpPr>
        <p:spPr>
          <a:xfrm>
            <a:off x="5669280" y="1645920"/>
            <a:ext cx="777240" cy="777240"/>
          </a:xfrm>
          <a:prstGeom prst="ellipse">
            <a:avLst/>
          </a:prstGeom>
          <a:solidFill>
            <a:srgbClr val="0E8A6E"/>
          </a:solidFill>
          <a:ln w="12700">
            <a:solidFill>
              <a:srgbClr val="0E8A6E"/>
            </a:solidFill>
            <a:prstDash val="solid"/>
          </a:ln>
        </p:spPr>
      </p:sp>
      <p:pic>
        <p:nvPicPr>
          <p:cNvPr id="19" name="icon-FaChalkboardUser" descr="preencoded.png">
            <a:hlinkClick r:id="rId9" tooltip="https://hamar-shiksha.vercel.app/teacher/login"/>
          </p:cNvPr>
          <p:cNvPicPr>
            <a:picLocks noChangeAspect="1"/>
          </p:cNvPicPr>
          <p:nvPr/>
        </p:nvPicPr>
        <p:blipFill>
          <a:blip r:embed="rId8"/>
          <a:stretch>
            <a:fillRect/>
          </a:stretch>
        </p:blipFill>
        <p:spPr>
          <a:xfrm>
            <a:off x="5863590" y="1840230"/>
            <a:ext cx="388620" cy="388620"/>
          </a:xfrm>
          <a:prstGeom prst="rect">
            <a:avLst/>
          </a:prstGeom>
        </p:spPr>
      </p:pic>
      <p:sp>
        <p:nvSpPr>
          <p:cNvPr id="20" name="Text 16"/>
          <p:cNvSpPr txBox="1"/>
          <p:nvPr/>
        </p:nvSpPr>
        <p:spPr>
          <a:xfrm>
            <a:off x="4480560" y="2606040"/>
            <a:ext cx="3154680" cy="411480"/>
          </a:xfrm>
          <a:prstGeom prst="rect">
            <a:avLst/>
          </a:prstGeom>
          <a:noFill/>
          <a:ln/>
        </p:spPr>
        <p:txBody>
          <a:bodyPr wrap="square" lIns="0" tIns="0" rIns="0" bIns="0" rtlCol="0" anchor="t"/>
          <a:lstStyle/>
          <a:p>
            <a:pPr algn="ctr" indent="0" marL="0">
              <a:buNone/>
            </a:pPr>
            <a:r>
              <a:rPr lang="en-US" sz="1800" b="1" dirty="0">
                <a:solidFill>
                  <a:srgbClr val="0B3B36"/>
                </a:solidFill>
                <a:latin typeface="Cambria" pitchFamily="34" charset="0"/>
                <a:ea typeface="Cambria" pitchFamily="34" charset="-122"/>
                <a:cs typeface="Cambria" pitchFamily="34" charset="-120"/>
              </a:rPr>
              <a:t>Teacher (head teacher)</a:t>
            </a:r>
            <a:endParaRPr lang="en-US" sz="1800" dirty="0"/>
          </a:p>
        </p:txBody>
      </p:sp>
      <p:sp>
        <p:nvSpPr>
          <p:cNvPr id="21" name="Text 17"/>
          <p:cNvSpPr txBox="1"/>
          <p:nvPr/>
        </p:nvSpPr>
        <p:spPr>
          <a:xfrm>
            <a:off x="4572000" y="3154680"/>
            <a:ext cx="3017520" cy="274320"/>
          </a:xfrm>
          <a:prstGeom prst="rect">
            <a:avLst/>
          </a:prstGeom>
          <a:noFill/>
          <a:ln/>
        </p:spPr>
        <p:txBody>
          <a:bodyPr wrap="square" lIns="0" tIns="0" rIns="0" bIns="0" rtlCol="0" anchor="t"/>
          <a:lstStyle/>
          <a:p>
            <a:pPr indent="0" marL="0">
              <a:buNone/>
            </a:pPr>
            <a:r>
              <a:rPr lang="en-US" sz="1200" dirty="0">
                <a:solidFill>
                  <a:srgbClr val="5E6B70"/>
                </a:solidFill>
              </a:rPr>
              <a:t>Login ID</a:t>
            </a:r>
            <a:endParaRPr lang="en-US" sz="1200" dirty="0"/>
          </a:p>
        </p:txBody>
      </p:sp>
      <p:sp>
        <p:nvSpPr>
          <p:cNvPr id="22" name="Text 18"/>
          <p:cNvSpPr txBox="1"/>
          <p:nvPr/>
        </p:nvSpPr>
        <p:spPr>
          <a:xfrm>
            <a:off x="4572000" y="3401568"/>
            <a:ext cx="3017520" cy="365760"/>
          </a:xfrm>
          <a:prstGeom prst="rect">
            <a:avLst/>
          </a:prstGeom>
          <a:noFill/>
          <a:ln/>
        </p:spPr>
        <p:txBody>
          <a:bodyPr wrap="square" lIns="0" tIns="0" rIns="0" bIns="0" rtlCol="0" anchor="t"/>
          <a:lstStyle/>
          <a:p>
            <a:pPr indent="0" marL="0">
              <a:buNone/>
            </a:pPr>
            <a:r>
              <a:rPr lang="en-US" sz="1700" b="1" dirty="0">
                <a:solidFill>
                  <a:srgbClr val="17242A"/>
                </a:solidFill>
                <a:latin typeface="Courier New" pitchFamily="34" charset="0"/>
                <a:ea typeface="Courier New" pitchFamily="34" charset="-122"/>
                <a:cs typeface="Courier New" pitchFamily="34" charset="-120"/>
              </a:rPr>
              <a:t>DEMO-T-001</a:t>
            </a:r>
            <a:endParaRPr lang="en-US" sz="1700" dirty="0"/>
          </a:p>
        </p:txBody>
      </p:sp>
      <p:sp>
        <p:nvSpPr>
          <p:cNvPr id="23" name="Text 19"/>
          <p:cNvSpPr txBox="1"/>
          <p:nvPr/>
        </p:nvSpPr>
        <p:spPr>
          <a:xfrm>
            <a:off x="4572000" y="3840480"/>
            <a:ext cx="3017520" cy="274320"/>
          </a:xfrm>
          <a:prstGeom prst="rect">
            <a:avLst/>
          </a:prstGeom>
          <a:noFill/>
          <a:ln/>
        </p:spPr>
        <p:txBody>
          <a:bodyPr wrap="square" lIns="0" tIns="0" rIns="0" bIns="0" rtlCol="0" anchor="t"/>
          <a:lstStyle/>
          <a:p>
            <a:pPr indent="0" marL="0">
              <a:buNone/>
            </a:pPr>
            <a:r>
              <a:rPr lang="en-US" sz="1200" dirty="0">
                <a:solidFill>
                  <a:srgbClr val="5E6B70"/>
                </a:solidFill>
              </a:rPr>
              <a:t>Password</a:t>
            </a:r>
            <a:endParaRPr lang="en-US" sz="1200" dirty="0"/>
          </a:p>
        </p:txBody>
      </p:sp>
      <p:sp>
        <p:nvSpPr>
          <p:cNvPr id="24" name="Text 20"/>
          <p:cNvSpPr txBox="1"/>
          <p:nvPr/>
        </p:nvSpPr>
        <p:spPr>
          <a:xfrm>
            <a:off x="4572000" y="4087368"/>
            <a:ext cx="3017520" cy="365760"/>
          </a:xfrm>
          <a:prstGeom prst="rect">
            <a:avLst/>
          </a:prstGeom>
          <a:noFill/>
          <a:ln/>
        </p:spPr>
        <p:txBody>
          <a:bodyPr wrap="square" lIns="0" tIns="0" rIns="0" bIns="0" rtlCol="0" anchor="t"/>
          <a:lstStyle/>
          <a:p>
            <a:pPr indent="0" marL="0">
              <a:buNone/>
            </a:pPr>
            <a:r>
              <a:rPr lang="en-US" sz="1700" b="1" dirty="0">
                <a:solidFill>
                  <a:srgbClr val="17242A"/>
                </a:solidFill>
                <a:latin typeface="Courier New" pitchFamily="34" charset="0"/>
                <a:ea typeface="Courier New" pitchFamily="34" charset="-122"/>
                <a:cs typeface="Courier New" pitchFamily="34" charset="-120"/>
              </a:rPr>
              <a:t>Demo@Teacher2026</a:t>
            </a:r>
            <a:endParaRPr lang="en-US" sz="1700" dirty="0"/>
          </a:p>
        </p:txBody>
      </p:sp>
      <p:sp>
        <p:nvSpPr>
          <p:cNvPr id="25" name="button-Open-portal-"/>
          <p:cNvSpPr/>
          <p:nvPr/>
        </p:nvSpPr>
        <p:spPr>
          <a:xfrm>
            <a:off x="4983480" y="4617720"/>
            <a:ext cx="2148840" cy="411480"/>
          </a:xfrm>
          <a:prstGeom prst="roundRect">
            <a:avLst>
              <a:gd name="adj" fmla="val 51111"/>
            </a:avLst>
          </a:prstGeom>
          <a:solidFill>
            <a:srgbClr val="0E8A6E"/>
          </a:solidFill>
          <a:ln>
            <a:solidFill>
              <a:srgbClr val="0E8A6E"/>
            </a:solidFill>
          </a:ln>
        </p:spPr>
        <p:txBody>
          <a:bodyPr wrap="square" lIns="0" tIns="0" rIns="0" bIns="0" rtlCol="0" anchor="ctr"/>
          <a:lstStyle/>
          <a:p>
            <a:pPr algn="ctr" indent="0" marL="0">
              <a:buNone/>
            </a:pPr>
            <a:r>
              <a:rPr lang="en-US" sz="1400" b="1" dirty="0">
                <a:solidFill>
                  <a:srgbClr val="FFFFFF"/>
                </a:solidFill>
              </a:rPr>
              <a:t>Open portal ↗</a:t>
            </a:r>
            <a:endParaRPr lang="en-US" sz="1400" dirty="0"/>
          </a:p>
        </p:txBody>
      </p:sp>
      <p:sp>
        <p:nvSpPr>
          <p:cNvPr id="26" name="button-link-Open-portal-">
            <a:hlinkClick r:id="rId10" tooltip="https://hamar-shiksha.vercel.app/teacher/login"/>
          </p:cNvPr>
          <p:cNvSpPr/>
          <p:nvPr/>
        </p:nvSpPr>
        <p:spPr>
          <a:xfrm>
            <a:off x="4983480" y="4617720"/>
            <a:ext cx="2148840" cy="411480"/>
          </a:xfrm>
          <a:prstGeom prst="rect">
            <a:avLst/>
          </a:prstGeom>
          <a:solidFill>
            <a:srgbClr val="FFFFFF">
              <a:alpha val="0"/>
            </a:srgbClr>
          </a:solidFill>
          <a:ln w="12700">
            <a:solidFill>
              <a:srgbClr val="FFFFFF">
                <a:alpha val="0"/>
              </a:srgbClr>
            </a:solidFill>
            <a:prstDash val="solid"/>
          </a:ln>
        </p:spPr>
      </p:sp>
      <p:sp>
        <p:nvSpPr>
          <p:cNvPr id="27" name="try-2"/>
          <p:cNvSpPr/>
          <p:nvPr/>
        </p:nvSpPr>
        <p:spPr>
          <a:xfrm>
            <a:off x="8046720" y="1371600"/>
            <a:ext cx="3520440" cy="3840480"/>
          </a:xfrm>
          <a:prstGeom prst="roundRect">
            <a:avLst>
              <a:gd name="adj" fmla="val 3117"/>
            </a:avLst>
          </a:prstGeom>
          <a:solidFill>
            <a:srgbClr val="EFF5F2"/>
          </a:solidFill>
          <a:ln w="12700">
            <a:solidFill>
              <a:srgbClr val="EFF5F2"/>
            </a:solidFill>
            <a:prstDash val="solid"/>
          </a:ln>
          <a:effectLst>
            <a:outerShdw sx="100000" sy="100000" kx="0" ky="0" algn="bl" rotWithShape="0" blurRad="101600" dist="25400" dir="5400000">
              <a:srgbClr val="17242A">
                <a:alpha val="16000"/>
              </a:srgbClr>
            </a:outerShdw>
          </a:effectLst>
        </p:spPr>
      </p:sp>
      <p:sp>
        <p:nvSpPr>
          <p:cNvPr id="28" name="icon-bg-FaUserGraduate">
            <a:hlinkClick r:id="rId13" tooltip="https://hamar-shiksha.vercel.app/student/login"/>
          </p:cNvPr>
          <p:cNvSpPr/>
          <p:nvPr/>
        </p:nvSpPr>
        <p:spPr>
          <a:xfrm>
            <a:off x="9418320" y="1645920"/>
            <a:ext cx="777240" cy="777240"/>
          </a:xfrm>
          <a:prstGeom prst="ellipse">
            <a:avLst/>
          </a:prstGeom>
          <a:solidFill>
            <a:srgbClr val="E8762B"/>
          </a:solidFill>
          <a:ln w="12700">
            <a:solidFill>
              <a:srgbClr val="E8762B"/>
            </a:solidFill>
            <a:prstDash val="solid"/>
          </a:ln>
        </p:spPr>
      </p:sp>
      <p:pic>
        <p:nvPicPr>
          <p:cNvPr id="29" name="icon-FaUserGraduate" descr="preencoded.png">
            <a:hlinkClick r:id="rId13" tooltip="https://hamar-shiksha.vercel.app/student/login"/>
          </p:cNvPr>
          <p:cNvPicPr>
            <a:picLocks noChangeAspect="1"/>
          </p:cNvPicPr>
          <p:nvPr/>
        </p:nvPicPr>
        <p:blipFill>
          <a:blip r:embed="rId12"/>
          <a:stretch>
            <a:fillRect/>
          </a:stretch>
        </p:blipFill>
        <p:spPr>
          <a:xfrm>
            <a:off x="9612630" y="1840230"/>
            <a:ext cx="388620" cy="388620"/>
          </a:xfrm>
          <a:prstGeom prst="rect">
            <a:avLst/>
          </a:prstGeom>
        </p:spPr>
      </p:pic>
      <p:sp>
        <p:nvSpPr>
          <p:cNvPr id="30" name="Text 25"/>
          <p:cNvSpPr txBox="1"/>
          <p:nvPr/>
        </p:nvSpPr>
        <p:spPr>
          <a:xfrm>
            <a:off x="8229600" y="2606040"/>
            <a:ext cx="3154680" cy="411480"/>
          </a:xfrm>
          <a:prstGeom prst="rect">
            <a:avLst/>
          </a:prstGeom>
          <a:noFill/>
          <a:ln/>
        </p:spPr>
        <p:txBody>
          <a:bodyPr wrap="square" lIns="0" tIns="0" rIns="0" bIns="0" rtlCol="0" anchor="t"/>
          <a:lstStyle/>
          <a:p>
            <a:pPr algn="ctr" indent="0" marL="0">
              <a:buNone/>
            </a:pPr>
            <a:r>
              <a:rPr lang="en-US" sz="1800" b="1" dirty="0">
                <a:solidFill>
                  <a:srgbClr val="0B3B36"/>
                </a:solidFill>
                <a:latin typeface="Cambria" pitchFamily="34" charset="0"/>
                <a:ea typeface="Cambria" pitchFamily="34" charset="-122"/>
                <a:cs typeface="Cambria" pitchFamily="34" charset="-120"/>
              </a:rPr>
              <a:t>Student (Class 5)</a:t>
            </a:r>
            <a:endParaRPr lang="en-US" sz="1800" dirty="0"/>
          </a:p>
        </p:txBody>
      </p:sp>
      <p:sp>
        <p:nvSpPr>
          <p:cNvPr id="31" name="Text 26"/>
          <p:cNvSpPr txBox="1"/>
          <p:nvPr/>
        </p:nvSpPr>
        <p:spPr>
          <a:xfrm>
            <a:off x="8321040" y="3154680"/>
            <a:ext cx="3017520" cy="274320"/>
          </a:xfrm>
          <a:prstGeom prst="rect">
            <a:avLst/>
          </a:prstGeom>
          <a:noFill/>
          <a:ln/>
        </p:spPr>
        <p:txBody>
          <a:bodyPr wrap="square" lIns="0" tIns="0" rIns="0" bIns="0" rtlCol="0" anchor="t"/>
          <a:lstStyle/>
          <a:p>
            <a:pPr indent="0" marL="0">
              <a:buNone/>
            </a:pPr>
            <a:r>
              <a:rPr lang="en-US" sz="1200" dirty="0">
                <a:solidFill>
                  <a:srgbClr val="5E6B70"/>
                </a:solidFill>
              </a:rPr>
              <a:t>Login ID</a:t>
            </a:r>
            <a:endParaRPr lang="en-US" sz="1200" dirty="0"/>
          </a:p>
        </p:txBody>
      </p:sp>
      <p:sp>
        <p:nvSpPr>
          <p:cNvPr id="32" name="Text 27"/>
          <p:cNvSpPr txBox="1"/>
          <p:nvPr/>
        </p:nvSpPr>
        <p:spPr>
          <a:xfrm>
            <a:off x="8321040" y="3401568"/>
            <a:ext cx="3017520" cy="365760"/>
          </a:xfrm>
          <a:prstGeom prst="rect">
            <a:avLst/>
          </a:prstGeom>
          <a:noFill/>
          <a:ln/>
        </p:spPr>
        <p:txBody>
          <a:bodyPr wrap="square" lIns="0" tIns="0" rIns="0" bIns="0" rtlCol="0" anchor="t"/>
          <a:lstStyle/>
          <a:p>
            <a:pPr indent="0" marL="0">
              <a:buNone/>
            </a:pPr>
            <a:r>
              <a:rPr lang="en-US" sz="1700" b="1" dirty="0">
                <a:solidFill>
                  <a:srgbClr val="17242A"/>
                </a:solidFill>
                <a:latin typeface="Courier New" pitchFamily="34" charset="0"/>
                <a:ea typeface="Courier New" pitchFamily="34" charset="-122"/>
                <a:cs typeface="Courier New" pitchFamily="34" charset="-120"/>
              </a:rPr>
              <a:t>st-demo01</a:t>
            </a:r>
            <a:endParaRPr lang="en-US" sz="1700" dirty="0"/>
          </a:p>
        </p:txBody>
      </p:sp>
      <p:sp>
        <p:nvSpPr>
          <p:cNvPr id="33" name="Text 28"/>
          <p:cNvSpPr txBox="1"/>
          <p:nvPr/>
        </p:nvSpPr>
        <p:spPr>
          <a:xfrm>
            <a:off x="8321040" y="3840480"/>
            <a:ext cx="3017520" cy="274320"/>
          </a:xfrm>
          <a:prstGeom prst="rect">
            <a:avLst/>
          </a:prstGeom>
          <a:noFill/>
          <a:ln/>
        </p:spPr>
        <p:txBody>
          <a:bodyPr wrap="square" lIns="0" tIns="0" rIns="0" bIns="0" rtlCol="0" anchor="t"/>
          <a:lstStyle/>
          <a:p>
            <a:pPr indent="0" marL="0">
              <a:buNone/>
            </a:pPr>
            <a:r>
              <a:rPr lang="en-US" sz="1200" dirty="0">
                <a:solidFill>
                  <a:srgbClr val="5E6B70"/>
                </a:solidFill>
              </a:rPr>
              <a:t>Password</a:t>
            </a:r>
            <a:endParaRPr lang="en-US" sz="1200" dirty="0"/>
          </a:p>
        </p:txBody>
      </p:sp>
      <p:sp>
        <p:nvSpPr>
          <p:cNvPr id="34" name="Text 29"/>
          <p:cNvSpPr txBox="1"/>
          <p:nvPr/>
        </p:nvSpPr>
        <p:spPr>
          <a:xfrm>
            <a:off x="8321040" y="4087368"/>
            <a:ext cx="3017520" cy="365760"/>
          </a:xfrm>
          <a:prstGeom prst="rect">
            <a:avLst/>
          </a:prstGeom>
          <a:noFill/>
          <a:ln/>
        </p:spPr>
        <p:txBody>
          <a:bodyPr wrap="square" lIns="0" tIns="0" rIns="0" bIns="0" rtlCol="0" anchor="t"/>
          <a:lstStyle/>
          <a:p>
            <a:pPr indent="0" marL="0">
              <a:buNone/>
            </a:pPr>
            <a:r>
              <a:rPr lang="en-US" sz="1700" b="1" dirty="0">
                <a:solidFill>
                  <a:srgbClr val="17242A"/>
                </a:solidFill>
                <a:latin typeface="Courier New" pitchFamily="34" charset="0"/>
                <a:ea typeface="Courier New" pitchFamily="34" charset="-122"/>
                <a:cs typeface="Courier New" pitchFamily="34" charset="-120"/>
              </a:rPr>
              <a:t>Demo@Student26</a:t>
            </a:r>
            <a:endParaRPr lang="en-US" sz="1700" dirty="0"/>
          </a:p>
        </p:txBody>
      </p:sp>
      <p:sp>
        <p:nvSpPr>
          <p:cNvPr id="35" name="button-Open-portal-"/>
          <p:cNvSpPr/>
          <p:nvPr/>
        </p:nvSpPr>
        <p:spPr>
          <a:xfrm>
            <a:off x="8732520" y="4617720"/>
            <a:ext cx="2148840" cy="411480"/>
          </a:xfrm>
          <a:prstGeom prst="roundRect">
            <a:avLst>
              <a:gd name="adj" fmla="val 51111"/>
            </a:avLst>
          </a:prstGeom>
          <a:solidFill>
            <a:srgbClr val="E8762B"/>
          </a:solidFill>
          <a:ln>
            <a:solidFill>
              <a:srgbClr val="E8762B"/>
            </a:solidFill>
          </a:ln>
        </p:spPr>
        <p:txBody>
          <a:bodyPr wrap="square" lIns="0" tIns="0" rIns="0" bIns="0" rtlCol="0" anchor="ctr"/>
          <a:lstStyle/>
          <a:p>
            <a:pPr algn="ctr" indent="0" marL="0">
              <a:buNone/>
            </a:pPr>
            <a:r>
              <a:rPr lang="en-US" sz="1400" b="1" dirty="0">
                <a:solidFill>
                  <a:srgbClr val="FFFFFF"/>
                </a:solidFill>
              </a:rPr>
              <a:t>Open portal ↗</a:t>
            </a:r>
            <a:endParaRPr lang="en-US" sz="1400" dirty="0"/>
          </a:p>
        </p:txBody>
      </p:sp>
      <p:sp>
        <p:nvSpPr>
          <p:cNvPr id="36" name="button-link-Open-portal-">
            <a:hlinkClick r:id="rId14" tooltip="https://hamar-shiksha.vercel.app/student/login"/>
          </p:cNvPr>
          <p:cNvSpPr/>
          <p:nvPr/>
        </p:nvSpPr>
        <p:spPr>
          <a:xfrm>
            <a:off x="8732520" y="4617720"/>
            <a:ext cx="2148840" cy="411480"/>
          </a:xfrm>
          <a:prstGeom prst="rect">
            <a:avLst/>
          </a:prstGeom>
          <a:solidFill>
            <a:srgbClr val="FFFFFF">
              <a:alpha val="0"/>
            </a:srgbClr>
          </a:solidFill>
          <a:ln w="12700">
            <a:solidFill>
              <a:srgbClr val="FFFFFF">
                <a:alpha val="0"/>
              </a:srgbClr>
            </a:solidFill>
            <a:prstDash val="solid"/>
          </a:ln>
        </p:spPr>
      </p:sp>
      <p:sp>
        <p:nvSpPr>
          <p:cNvPr id="37" name="Text 32"/>
          <p:cNvSpPr txBox="1"/>
          <p:nvPr/>
        </p:nvSpPr>
        <p:spPr>
          <a:xfrm>
            <a:off x="548640" y="5532120"/>
            <a:ext cx="11064240" cy="365760"/>
          </a:xfrm>
          <a:prstGeom prst="rect">
            <a:avLst/>
          </a:prstGeom>
          <a:noFill/>
          <a:ln/>
        </p:spPr>
        <p:txBody>
          <a:bodyPr wrap="square" lIns="0" tIns="0" rIns="0" bIns="0" rtlCol="0" anchor="t"/>
          <a:lstStyle/>
          <a:p>
            <a:pPr indent="0" marL="0">
              <a:buNone/>
            </a:pPr>
            <a:r>
              <a:rPr lang="en-US" sz="1300" i="1" dirty="0">
                <a:solidFill>
                  <a:srgbClr val="5E6B70"/>
                </a:solidFill>
              </a:rPr>
              <a:t>Demonstration accounts and data only — no real student data. One teacher and one student login exist for every district.</a:t>
            </a:r>
            <a:endParaRPr lang="en-US" sz="1300" dirty="0"/>
          </a:p>
        </p:txBody>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23</a:t>
            </a:fld>
            <a:endParaRPr lang="en-US"/>
          </a:p>
        </p:txBody>
      </p:sp>
    </p:spTree>
  </p:cSld>
  <p:clrMapOvr>
    <a:masterClrMapping/>
  </p:clrMapOvr>
  <p:transition spd="med">
    <p:fade/>
  </p:transition>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59536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Roadmap</a:t>
            </a:r>
            <a:endParaRPr lang="en-US" sz="3000" dirty="0"/>
          </a:p>
        </p:txBody>
      </p:sp>
      <p:sp>
        <p:nvSpPr>
          <p:cNvPr id="3" name="button--Agenda"/>
          <p:cNvSpPr/>
          <p:nvPr/>
        </p:nvSpPr>
        <p:spPr>
          <a:xfrm>
            <a:off x="9372600" y="502920"/>
            <a:ext cx="1097280" cy="365760"/>
          </a:xfrm>
          <a:prstGeom prst="roundRect">
            <a:avLst>
              <a:gd name="adj" fmla="val 57500"/>
            </a:avLst>
          </a:prstGeom>
          <a:solidFill>
            <a:srgbClr val="EFF5F2"/>
          </a:solidFill>
          <a:ln>
            <a:solidFill>
              <a:srgbClr val="EFF5F2"/>
            </a:solidFill>
          </a:ln>
        </p:spPr>
        <p:txBody>
          <a:bodyPr wrap="square" lIns="0" tIns="0" rIns="0" bIns="0" rtlCol="0" anchor="ctr"/>
          <a:lstStyle/>
          <a:p>
            <a:pPr algn="ctr" indent="0" marL="0">
              <a:buNone/>
            </a:pPr>
            <a:r>
              <a:rPr lang="en-US" sz="1200" b="1" dirty="0">
                <a:solidFill>
                  <a:srgbClr val="0B3B36"/>
                </a:solidFill>
              </a:rPr>
              <a:t>☰  Agenda</a:t>
            </a:r>
            <a:endParaRPr lang="en-US" sz="1200" dirty="0"/>
          </a:p>
        </p:txBody>
      </p:sp>
      <p:sp>
        <p:nvSpPr>
          <p:cNvPr id="4" name="button-link--Agenda">
            <a:hlinkClick r:id="rId1" tooltip="Back to the agenda" action="ppaction://hlinksldjump"/>
          </p:cNvPr>
          <p:cNvSpPr/>
          <p:nvPr/>
        </p:nvSpPr>
        <p:spPr>
          <a:xfrm>
            <a:off x="9372600" y="502920"/>
            <a:ext cx="1097280" cy="365760"/>
          </a:xfrm>
          <a:prstGeom prst="rect">
            <a:avLst/>
          </a:prstGeom>
          <a:solidFill>
            <a:srgbClr val="FFFFFF">
              <a:alpha val="0"/>
            </a:srgbClr>
          </a:solidFill>
          <a:ln w="12700">
            <a:solidFill>
              <a:srgbClr val="FFFFFF">
                <a:alpha val="0"/>
              </a:srgbClr>
            </a:solidFill>
            <a:prstDash val="solid"/>
          </a:ln>
        </p:spPr>
      </p:sp>
      <p:sp>
        <p:nvSpPr>
          <p:cNvPr id="5" name="button-Live-demo-"/>
          <p:cNvSpPr/>
          <p:nvPr/>
        </p:nvSpPr>
        <p:spPr>
          <a:xfrm>
            <a:off x="10561320" y="502920"/>
            <a:ext cx="1097280" cy="365760"/>
          </a:xfrm>
          <a:prstGeom prst="roundRect">
            <a:avLst>
              <a:gd name="adj" fmla="val 57500"/>
            </a:avLst>
          </a:prstGeom>
          <a:solidFill>
            <a:srgbClr val="0B3B36"/>
          </a:solidFill>
          <a:ln>
            <a:solidFill>
              <a:srgbClr val="0B3B36"/>
            </a:solidFill>
          </a:ln>
        </p:spPr>
        <p:txBody>
          <a:bodyPr wrap="square" lIns="0" tIns="0" rIns="0" bIns="0" rtlCol="0" anchor="ctr"/>
          <a:lstStyle/>
          <a:p>
            <a:pPr algn="ctr" indent="0" marL="0">
              <a:buNone/>
            </a:pPr>
            <a:r>
              <a:rPr lang="en-US" sz="1200" b="1" dirty="0">
                <a:solidFill>
                  <a:srgbClr val="FFFFFF"/>
                </a:solidFill>
              </a:rPr>
              <a:t>Live demo ↗</a:t>
            </a:r>
            <a:endParaRPr lang="en-US" sz="1200" dirty="0"/>
          </a:p>
        </p:txBody>
      </p:sp>
      <p:sp>
        <p:nvSpPr>
          <p:cNvPr id="6" name="button-link-Live-demo-">
            <a:hlinkClick r:id="rId2" tooltip="Open the live demo"/>
          </p:cNvPr>
          <p:cNvSpPr/>
          <p:nvPr/>
        </p:nvSpPr>
        <p:spPr>
          <a:xfrm>
            <a:off x="10561320" y="502920"/>
            <a:ext cx="1097280" cy="365760"/>
          </a:xfrm>
          <a:prstGeom prst="rect">
            <a:avLst/>
          </a:prstGeom>
          <a:solidFill>
            <a:srgbClr val="FFFFFF">
              <a:alpha val="0"/>
            </a:srgbClr>
          </a:solidFill>
          <a:ln w="12700">
            <a:solidFill>
              <a:srgbClr val="FFFFFF">
                <a:alpha val="0"/>
              </a:srgbClr>
            </a:solidFill>
            <a:prstDash val="solid"/>
          </a:ln>
        </p:spPr>
      </p:sp>
      <p:sp>
        <p:nvSpPr>
          <p:cNvPr id="7" name="timeline"/>
          <p:cNvSpPr/>
          <p:nvPr/>
        </p:nvSpPr>
        <p:spPr>
          <a:xfrm>
            <a:off x="1097280" y="1874520"/>
            <a:ext cx="9966960" cy="0"/>
          </a:xfrm>
          <a:prstGeom prst="line">
            <a:avLst/>
          </a:prstGeom>
          <a:noFill/>
          <a:ln w="25400">
            <a:solidFill>
              <a:srgbClr val="C9D6D1"/>
            </a:solidFill>
            <a:prstDash val="dash"/>
          </a:ln>
        </p:spPr>
      </p:sp>
      <p:sp>
        <p:nvSpPr>
          <p:cNvPr id="8" name="phase-dot-0"/>
          <p:cNvSpPr/>
          <p:nvPr/>
        </p:nvSpPr>
        <p:spPr>
          <a:xfrm>
            <a:off x="2011680" y="1508760"/>
            <a:ext cx="731520" cy="731520"/>
          </a:xfrm>
          <a:prstGeom prst="ellipse">
            <a:avLst/>
          </a:prstGeom>
          <a:solidFill>
            <a:srgbClr val="0E8A6E"/>
          </a:solidFill>
          <a:ln w="38100">
            <a:solidFill>
              <a:srgbClr val="FFFFFF"/>
            </a:solidFill>
          </a:ln>
        </p:spPr>
        <p:txBody>
          <a:bodyPr wrap="square" lIns="0" tIns="0" rIns="0" bIns="0" rtlCol="0" anchor="ctr"/>
          <a:lstStyle/>
          <a:p>
            <a:pPr algn="ctr" indent="0" marL="0">
              <a:buNone/>
            </a:pPr>
            <a:r>
              <a:rPr lang="en-US" sz="2200" b="1" dirty="0">
                <a:solidFill>
                  <a:srgbClr val="FFFFFF"/>
                </a:solidFill>
              </a:rPr>
              <a:t>1</a:t>
            </a:r>
            <a:endParaRPr lang="en-US" sz="2200" dirty="0"/>
          </a:p>
        </p:txBody>
      </p:sp>
      <p:sp>
        <p:nvSpPr>
          <p:cNvPr id="9" name="phase-0"/>
          <p:cNvSpPr/>
          <p:nvPr/>
        </p:nvSpPr>
        <p:spPr>
          <a:xfrm>
            <a:off x="548640" y="2468880"/>
            <a:ext cx="3520440" cy="3611880"/>
          </a:xfrm>
          <a:prstGeom prst="roundRect">
            <a:avLst>
              <a:gd name="adj" fmla="val 3117"/>
            </a:avLst>
          </a:prstGeom>
          <a:solidFill>
            <a:srgbClr val="EFF5F2"/>
          </a:solidFill>
          <a:ln w="12700">
            <a:solidFill>
              <a:srgbClr val="EFF5F2"/>
            </a:solidFill>
            <a:prstDash val="solid"/>
          </a:ln>
          <a:effectLst>
            <a:outerShdw sx="100000" sy="100000" kx="0" ky="0" algn="bl" rotWithShape="0" blurRad="101600" dist="25400" dir="5400000">
              <a:srgbClr val="17242A">
                <a:alpha val="16000"/>
              </a:srgbClr>
            </a:outerShdw>
          </a:effectLst>
        </p:spPr>
      </p:sp>
      <p:sp>
        <p:nvSpPr>
          <p:cNvPr id="10" name="Text 8"/>
          <p:cNvSpPr txBox="1"/>
          <p:nvPr/>
        </p:nvSpPr>
        <p:spPr>
          <a:xfrm>
            <a:off x="822960" y="2651760"/>
            <a:ext cx="3017520" cy="320040"/>
          </a:xfrm>
          <a:prstGeom prst="rect">
            <a:avLst/>
          </a:prstGeom>
          <a:noFill/>
          <a:ln/>
        </p:spPr>
        <p:txBody>
          <a:bodyPr wrap="square" lIns="0" tIns="0" rIns="0" bIns="0" rtlCol="0" anchor="t"/>
          <a:lstStyle/>
          <a:p>
            <a:pPr indent="0" marL="0">
              <a:buNone/>
            </a:pPr>
            <a:r>
              <a:rPr lang="en-US" sz="1200" b="1" spc="200" kern="0" dirty="0">
                <a:solidFill>
                  <a:srgbClr val="0E8A6E"/>
                </a:solidFill>
              </a:rPr>
              <a:t>Phase 1</a:t>
            </a:r>
            <a:endParaRPr lang="en-US" sz="1200" dirty="0"/>
          </a:p>
        </p:txBody>
      </p:sp>
      <p:sp>
        <p:nvSpPr>
          <p:cNvPr id="11" name="Text 9"/>
          <p:cNvSpPr txBox="1"/>
          <p:nvPr/>
        </p:nvSpPr>
        <p:spPr>
          <a:xfrm>
            <a:off x="822960" y="2926080"/>
            <a:ext cx="3017520" cy="411480"/>
          </a:xfrm>
          <a:prstGeom prst="rect">
            <a:avLst/>
          </a:prstGeom>
          <a:noFill/>
          <a:ln/>
        </p:spPr>
        <p:txBody>
          <a:bodyPr wrap="square" lIns="0" tIns="0" rIns="0" bIns="0" rtlCol="0" anchor="t"/>
          <a:lstStyle/>
          <a:p>
            <a:pPr indent="0" marL="0">
              <a:buNone/>
            </a:pPr>
            <a:r>
              <a:rPr lang="en-US" sz="1800" b="1" dirty="0">
                <a:solidFill>
                  <a:srgbClr val="0B3B36"/>
                </a:solidFill>
                <a:latin typeface="Cambria" pitchFamily="34" charset="0"/>
                <a:ea typeface="Cambria" pitchFamily="34" charset="-122"/>
                <a:cs typeface="Cambria" pitchFamily="34" charset="-120"/>
              </a:rPr>
              <a:t>Pilot (0-6 months)</a:t>
            </a:r>
            <a:endParaRPr lang="en-US" sz="1800" dirty="0"/>
          </a:p>
        </p:txBody>
      </p:sp>
      <p:sp>
        <p:nvSpPr>
          <p:cNvPr id="12" name="Text 10"/>
          <p:cNvSpPr/>
          <p:nvPr/>
        </p:nvSpPr>
        <p:spPr>
          <a:xfrm>
            <a:off x="822960" y="3474720"/>
            <a:ext cx="3063240" cy="2514600"/>
          </a:xfrm>
          <a:prstGeom prst="rect">
            <a:avLst/>
          </a:prstGeom>
          <a:noFill/>
          <a:ln/>
        </p:spPr>
        <p:txBody>
          <a:bodyPr wrap="square" lIns="0" tIns="0" rIns="0" bIns="0" rtlCol="0" anchor="t"/>
          <a:lstStyle/>
          <a:p>
            <a:pPr marL="203200" indent="-203200">
              <a:spcAft>
                <a:spcPts val="600"/>
              </a:spcAft>
              <a:buSzPct val="100000"/>
              <a:buChar char="•"/>
            </a:pPr>
            <a:r>
              <a:rPr lang="en-US" sz="1300" dirty="0">
                <a:solidFill>
                  <a:srgbClr val="000000"/>
                </a:solidFill>
              </a:rPr>
              <a:t>Pilot in selected blocks with SCERT</a:t>
            </a:r>
            <a:endParaRPr lang="en-US" sz="1300" dirty="0"/>
          </a:p>
          <a:p>
            <a:pPr marL="203200" indent="-203200">
              <a:spcAft>
                <a:spcPts val="600"/>
              </a:spcAft>
              <a:buSzPct val="100000"/>
              <a:buChar char="•"/>
            </a:pPr>
            <a:r>
              <a:rPr lang="en-US" sz="1300" dirty="0">
                <a:solidFill>
                  <a:srgbClr val="000000"/>
                </a:solidFill>
              </a:rPr>
              <a:t>Teacher review panels for AI answers</a:t>
            </a:r>
            <a:endParaRPr lang="en-US" sz="1300" dirty="0"/>
          </a:p>
          <a:p>
            <a:pPr marL="203200" indent="-203200">
              <a:spcAft>
                <a:spcPts val="600"/>
              </a:spcAft>
              <a:buSzPct val="100000"/>
              <a:buChar char="•"/>
            </a:pPr>
            <a:r>
              <a:rPr lang="en-US" sz="1300" dirty="0">
                <a:solidFill>
                  <a:srgbClr val="000000"/>
                </a:solidFill>
              </a:rPr>
              <a:t>UDISE+ and HRMS data connections</a:t>
            </a:r>
            <a:endParaRPr lang="en-US" sz="1300" dirty="0"/>
          </a:p>
          <a:p>
            <a:pPr marL="203200" indent="-203200">
              <a:spcAft>
                <a:spcPts val="600"/>
              </a:spcAft>
              <a:buSzPct val="100000"/>
              <a:buChar char="•"/>
            </a:pPr>
            <a:r>
              <a:rPr lang="en-US" sz="1300" dirty="0">
                <a:solidFill>
                  <a:srgbClr val="000000"/>
                </a:solidFill>
              </a:rPr>
              <a:t>OCR for scanned textbooks</a:t>
            </a:r>
            <a:endParaRPr lang="en-US" sz="1300" dirty="0"/>
          </a:p>
          <a:p>
            <a:pPr marL="203200" indent="-203200">
              <a:spcAft>
                <a:spcPts val="600"/>
              </a:spcAft>
              <a:buSzPct val="100000"/>
              <a:buChar char="•"/>
            </a:pPr>
            <a:r>
              <a:rPr lang="en-US" sz="1300" dirty="0">
                <a:solidFill>
                  <a:srgbClr val="000000"/>
                </a:solidFill>
              </a:rPr>
              <a:t>Security audit and DPIA</a:t>
            </a:r>
            <a:endParaRPr lang="en-US" sz="1300" dirty="0"/>
          </a:p>
        </p:txBody>
      </p:sp>
      <p:sp>
        <p:nvSpPr>
          <p:cNvPr id="13" name="phase-dot-1"/>
          <p:cNvSpPr/>
          <p:nvPr/>
        </p:nvSpPr>
        <p:spPr>
          <a:xfrm>
            <a:off x="5760720" y="1508760"/>
            <a:ext cx="731520" cy="731520"/>
          </a:xfrm>
          <a:prstGeom prst="ellipse">
            <a:avLst/>
          </a:prstGeom>
          <a:solidFill>
            <a:srgbClr val="1F4E8C"/>
          </a:solidFill>
          <a:ln w="38100">
            <a:solidFill>
              <a:srgbClr val="FFFFFF"/>
            </a:solidFill>
          </a:ln>
        </p:spPr>
        <p:txBody>
          <a:bodyPr wrap="square" lIns="0" tIns="0" rIns="0" bIns="0" rtlCol="0" anchor="ctr"/>
          <a:lstStyle/>
          <a:p>
            <a:pPr algn="ctr" indent="0" marL="0">
              <a:buNone/>
            </a:pPr>
            <a:r>
              <a:rPr lang="en-US" sz="2200" b="1" dirty="0">
                <a:solidFill>
                  <a:srgbClr val="FFFFFF"/>
                </a:solidFill>
              </a:rPr>
              <a:t>2</a:t>
            </a:r>
            <a:endParaRPr lang="en-US" sz="2200" dirty="0"/>
          </a:p>
        </p:txBody>
      </p:sp>
      <p:sp>
        <p:nvSpPr>
          <p:cNvPr id="14" name="phase-1"/>
          <p:cNvSpPr/>
          <p:nvPr/>
        </p:nvSpPr>
        <p:spPr>
          <a:xfrm>
            <a:off x="4297680" y="2468880"/>
            <a:ext cx="3520440" cy="3611880"/>
          </a:xfrm>
          <a:prstGeom prst="roundRect">
            <a:avLst>
              <a:gd name="adj" fmla="val 3117"/>
            </a:avLst>
          </a:prstGeom>
          <a:solidFill>
            <a:srgbClr val="EFF5F2"/>
          </a:solidFill>
          <a:ln w="12700">
            <a:solidFill>
              <a:srgbClr val="EFF5F2"/>
            </a:solidFill>
            <a:prstDash val="solid"/>
          </a:ln>
          <a:effectLst>
            <a:outerShdw sx="100000" sy="100000" kx="0" ky="0" algn="bl" rotWithShape="0" blurRad="101600" dist="25400" dir="5400000">
              <a:srgbClr val="17242A">
                <a:alpha val="16000"/>
              </a:srgbClr>
            </a:outerShdw>
          </a:effectLst>
        </p:spPr>
      </p:sp>
      <p:sp>
        <p:nvSpPr>
          <p:cNvPr id="15" name="Text 13"/>
          <p:cNvSpPr txBox="1"/>
          <p:nvPr/>
        </p:nvSpPr>
        <p:spPr>
          <a:xfrm>
            <a:off x="4572000" y="2651760"/>
            <a:ext cx="3017520" cy="320040"/>
          </a:xfrm>
          <a:prstGeom prst="rect">
            <a:avLst/>
          </a:prstGeom>
          <a:noFill/>
          <a:ln/>
        </p:spPr>
        <p:txBody>
          <a:bodyPr wrap="square" lIns="0" tIns="0" rIns="0" bIns="0" rtlCol="0" anchor="t"/>
          <a:lstStyle/>
          <a:p>
            <a:pPr indent="0" marL="0">
              <a:buNone/>
            </a:pPr>
            <a:r>
              <a:rPr lang="en-US" sz="1200" b="1" spc="200" kern="0" dirty="0">
                <a:solidFill>
                  <a:srgbClr val="1F4E8C"/>
                </a:solidFill>
              </a:rPr>
              <a:t>Phase 2</a:t>
            </a:r>
            <a:endParaRPr lang="en-US" sz="1200" dirty="0"/>
          </a:p>
        </p:txBody>
      </p:sp>
      <p:sp>
        <p:nvSpPr>
          <p:cNvPr id="16" name="Text 14"/>
          <p:cNvSpPr txBox="1"/>
          <p:nvPr/>
        </p:nvSpPr>
        <p:spPr>
          <a:xfrm>
            <a:off x="4572000" y="2926080"/>
            <a:ext cx="3017520" cy="411480"/>
          </a:xfrm>
          <a:prstGeom prst="rect">
            <a:avLst/>
          </a:prstGeom>
          <a:noFill/>
          <a:ln/>
        </p:spPr>
        <p:txBody>
          <a:bodyPr wrap="square" lIns="0" tIns="0" rIns="0" bIns="0" rtlCol="0" anchor="t"/>
          <a:lstStyle/>
          <a:p>
            <a:pPr indent="0" marL="0">
              <a:buNone/>
            </a:pPr>
            <a:r>
              <a:rPr lang="en-US" sz="1800" b="1" dirty="0">
                <a:solidFill>
                  <a:srgbClr val="0B3B36"/>
                </a:solidFill>
                <a:latin typeface="Cambria" pitchFamily="34" charset="0"/>
                <a:ea typeface="Cambria" pitchFamily="34" charset="-122"/>
                <a:cs typeface="Cambria" pitchFamily="34" charset="-120"/>
              </a:rPr>
              <a:t>Scale (6-18 months)</a:t>
            </a:r>
            <a:endParaRPr lang="en-US" sz="1800" dirty="0"/>
          </a:p>
        </p:txBody>
      </p:sp>
      <p:sp>
        <p:nvSpPr>
          <p:cNvPr id="17" name="Text 15"/>
          <p:cNvSpPr/>
          <p:nvPr/>
        </p:nvSpPr>
        <p:spPr>
          <a:xfrm>
            <a:off x="4572000" y="3474720"/>
            <a:ext cx="3063240" cy="2514600"/>
          </a:xfrm>
          <a:prstGeom prst="rect">
            <a:avLst/>
          </a:prstGeom>
          <a:noFill/>
          <a:ln/>
        </p:spPr>
        <p:txBody>
          <a:bodyPr wrap="square" lIns="0" tIns="0" rIns="0" bIns="0" rtlCol="0" anchor="t"/>
          <a:lstStyle/>
          <a:p>
            <a:pPr marL="203200" indent="-203200">
              <a:spcAft>
                <a:spcPts val="600"/>
              </a:spcAft>
              <a:buSzPct val="100000"/>
              <a:buChar char="•"/>
            </a:pPr>
            <a:r>
              <a:rPr lang="en-US" sz="1300" dirty="0">
                <a:solidFill>
                  <a:srgbClr val="000000"/>
                </a:solidFill>
              </a:rPr>
              <a:t>Android app with on-device model</a:t>
            </a:r>
            <a:endParaRPr lang="en-US" sz="1300" dirty="0"/>
          </a:p>
          <a:p>
            <a:pPr marL="203200" indent="-203200">
              <a:spcAft>
                <a:spcPts val="600"/>
              </a:spcAft>
              <a:buSzPct val="100000"/>
              <a:buChar char="•"/>
            </a:pPr>
            <a:r>
              <a:rPr lang="en-US" sz="1300" dirty="0">
                <a:solidFill>
                  <a:srgbClr val="000000"/>
                </a:solidFill>
              </a:rPr>
              <a:t>Chhattisgarhi, Gondi, Halbi in text and voice</a:t>
            </a:r>
            <a:endParaRPr lang="en-US" sz="1300" dirty="0"/>
          </a:p>
          <a:p>
            <a:pPr marL="203200" indent="-203200">
              <a:spcAft>
                <a:spcPts val="600"/>
              </a:spcAft>
              <a:buSzPct val="100000"/>
              <a:buChar char="•"/>
            </a:pPr>
            <a:r>
              <a:rPr lang="en-US" sz="1300" dirty="0">
                <a:solidFill>
                  <a:srgbClr val="000000"/>
                </a:solidFill>
              </a:rPr>
              <a:t>School-node sync for low-connectivity areas</a:t>
            </a:r>
            <a:endParaRPr lang="en-US" sz="1300" dirty="0"/>
          </a:p>
          <a:p>
            <a:pPr marL="203200" indent="-203200">
              <a:spcAft>
                <a:spcPts val="600"/>
              </a:spcAft>
              <a:buSzPct val="100000"/>
              <a:buChar char="•"/>
            </a:pPr>
            <a:r>
              <a:rPr lang="en-US" sz="1300" dirty="0">
                <a:solidFill>
                  <a:srgbClr val="000000"/>
                </a:solidFill>
              </a:rPr>
              <a:t>Handwritten answer evaluation</a:t>
            </a:r>
            <a:endParaRPr lang="en-US" sz="1300" dirty="0"/>
          </a:p>
          <a:p>
            <a:pPr marL="203200" indent="-203200">
              <a:spcAft>
                <a:spcPts val="600"/>
              </a:spcAft>
              <a:buSzPct val="100000"/>
              <a:buChar char="•"/>
            </a:pPr>
            <a:r>
              <a:rPr lang="en-US" sz="1300" dirty="0">
                <a:solidFill>
                  <a:srgbClr val="000000"/>
                </a:solidFill>
              </a:rPr>
              <a:t>Fine-tuning on approved, de-identified data</a:t>
            </a:r>
            <a:endParaRPr lang="en-US" sz="1300" dirty="0"/>
          </a:p>
        </p:txBody>
      </p:sp>
      <p:sp>
        <p:nvSpPr>
          <p:cNvPr id="18" name="phase-dot-2"/>
          <p:cNvSpPr/>
          <p:nvPr/>
        </p:nvSpPr>
        <p:spPr>
          <a:xfrm>
            <a:off x="9509760" y="1508760"/>
            <a:ext cx="731520" cy="731520"/>
          </a:xfrm>
          <a:prstGeom prst="ellipse">
            <a:avLst/>
          </a:prstGeom>
          <a:solidFill>
            <a:srgbClr val="7A4FC9"/>
          </a:solidFill>
          <a:ln w="38100">
            <a:solidFill>
              <a:srgbClr val="FFFFFF"/>
            </a:solidFill>
          </a:ln>
        </p:spPr>
        <p:txBody>
          <a:bodyPr wrap="square" lIns="0" tIns="0" rIns="0" bIns="0" rtlCol="0" anchor="ctr"/>
          <a:lstStyle/>
          <a:p>
            <a:pPr algn="ctr" indent="0" marL="0">
              <a:buNone/>
            </a:pPr>
            <a:r>
              <a:rPr lang="en-US" sz="2200" b="1" dirty="0">
                <a:solidFill>
                  <a:srgbClr val="FFFFFF"/>
                </a:solidFill>
              </a:rPr>
              <a:t>3</a:t>
            </a:r>
            <a:endParaRPr lang="en-US" sz="2200" dirty="0"/>
          </a:p>
        </p:txBody>
      </p:sp>
      <p:sp>
        <p:nvSpPr>
          <p:cNvPr id="19" name="phase-2"/>
          <p:cNvSpPr/>
          <p:nvPr/>
        </p:nvSpPr>
        <p:spPr>
          <a:xfrm>
            <a:off x="8046720" y="2468880"/>
            <a:ext cx="3520440" cy="3611880"/>
          </a:xfrm>
          <a:prstGeom prst="roundRect">
            <a:avLst>
              <a:gd name="adj" fmla="val 3117"/>
            </a:avLst>
          </a:prstGeom>
          <a:solidFill>
            <a:srgbClr val="EFF5F2"/>
          </a:solidFill>
          <a:ln w="12700">
            <a:solidFill>
              <a:srgbClr val="EFF5F2"/>
            </a:solidFill>
            <a:prstDash val="solid"/>
          </a:ln>
          <a:effectLst>
            <a:outerShdw sx="100000" sy="100000" kx="0" ky="0" algn="bl" rotWithShape="0" blurRad="101600" dist="25400" dir="5400000">
              <a:srgbClr val="17242A">
                <a:alpha val="16000"/>
              </a:srgbClr>
            </a:outerShdw>
          </a:effectLst>
        </p:spPr>
      </p:sp>
      <p:sp>
        <p:nvSpPr>
          <p:cNvPr id="20" name="Text 18"/>
          <p:cNvSpPr txBox="1"/>
          <p:nvPr/>
        </p:nvSpPr>
        <p:spPr>
          <a:xfrm>
            <a:off x="8321040" y="2651760"/>
            <a:ext cx="3017520" cy="320040"/>
          </a:xfrm>
          <a:prstGeom prst="rect">
            <a:avLst/>
          </a:prstGeom>
          <a:noFill/>
          <a:ln/>
        </p:spPr>
        <p:txBody>
          <a:bodyPr wrap="square" lIns="0" tIns="0" rIns="0" bIns="0" rtlCol="0" anchor="t"/>
          <a:lstStyle/>
          <a:p>
            <a:pPr indent="0" marL="0">
              <a:buNone/>
            </a:pPr>
            <a:r>
              <a:rPr lang="en-US" sz="1200" b="1" spc="200" kern="0" dirty="0">
                <a:solidFill>
                  <a:srgbClr val="7A4FC9"/>
                </a:solidFill>
              </a:rPr>
              <a:t>Phase 3</a:t>
            </a:r>
            <a:endParaRPr lang="en-US" sz="1200" dirty="0"/>
          </a:p>
        </p:txBody>
      </p:sp>
      <p:sp>
        <p:nvSpPr>
          <p:cNvPr id="21" name="Text 19"/>
          <p:cNvSpPr txBox="1"/>
          <p:nvPr/>
        </p:nvSpPr>
        <p:spPr>
          <a:xfrm>
            <a:off x="8321040" y="2926080"/>
            <a:ext cx="3017520" cy="411480"/>
          </a:xfrm>
          <a:prstGeom prst="rect">
            <a:avLst/>
          </a:prstGeom>
          <a:noFill/>
          <a:ln/>
        </p:spPr>
        <p:txBody>
          <a:bodyPr wrap="square" lIns="0" tIns="0" rIns="0" bIns="0" rtlCol="0" anchor="t"/>
          <a:lstStyle/>
          <a:p>
            <a:pPr indent="0" marL="0">
              <a:buNone/>
            </a:pPr>
            <a:r>
              <a:rPr lang="en-US" sz="1800" b="1" dirty="0">
                <a:solidFill>
                  <a:srgbClr val="0B3B36"/>
                </a:solidFill>
                <a:latin typeface="Cambria" pitchFamily="34" charset="0"/>
                <a:ea typeface="Cambria" pitchFamily="34" charset="-122"/>
                <a:cs typeface="Cambria" pitchFamily="34" charset="-120"/>
              </a:rPr>
              <a:t>Transform (18+ months)</a:t>
            </a:r>
            <a:endParaRPr lang="en-US" sz="1800" dirty="0"/>
          </a:p>
        </p:txBody>
      </p:sp>
      <p:sp>
        <p:nvSpPr>
          <p:cNvPr id="22" name="Text 20"/>
          <p:cNvSpPr/>
          <p:nvPr/>
        </p:nvSpPr>
        <p:spPr>
          <a:xfrm>
            <a:off x="8321040" y="3474720"/>
            <a:ext cx="3063240" cy="2514600"/>
          </a:xfrm>
          <a:prstGeom prst="rect">
            <a:avLst/>
          </a:prstGeom>
          <a:noFill/>
          <a:ln/>
        </p:spPr>
        <p:txBody>
          <a:bodyPr wrap="square" lIns="0" tIns="0" rIns="0" bIns="0" rtlCol="0" anchor="t"/>
          <a:lstStyle/>
          <a:p>
            <a:pPr marL="203200" indent="-203200">
              <a:spcAft>
                <a:spcPts val="600"/>
              </a:spcAft>
              <a:buSzPct val="100000"/>
              <a:buChar char="•"/>
            </a:pPr>
            <a:r>
              <a:rPr lang="en-US" sz="1300" dirty="0">
                <a:solidFill>
                  <a:srgbClr val="000000"/>
                </a:solidFill>
              </a:rPr>
              <a:t>Validated early-warning for dropout risk</a:t>
            </a:r>
            <a:endParaRPr lang="en-US" sz="1300" dirty="0"/>
          </a:p>
          <a:p>
            <a:pPr marL="203200" indent="-203200">
              <a:spcAft>
                <a:spcPts val="600"/>
              </a:spcAft>
              <a:buSzPct val="100000"/>
              <a:buChar char="•"/>
            </a:pPr>
            <a:r>
              <a:rPr lang="en-US" sz="1300" dirty="0">
                <a:solidFill>
                  <a:srgbClr val="000000"/>
                </a:solidFill>
              </a:rPr>
              <a:t>Parent engagement by IVR / WhatsApp</a:t>
            </a:r>
            <a:endParaRPr lang="en-US" sz="1300" dirty="0"/>
          </a:p>
          <a:p>
            <a:pPr marL="203200" indent="-203200">
              <a:spcAft>
                <a:spcPts val="600"/>
              </a:spcAft>
              <a:buSzPct val="100000"/>
              <a:buChar char="•"/>
            </a:pPr>
            <a:r>
              <a:rPr lang="en-US" sz="1300" dirty="0">
                <a:solidFill>
                  <a:srgbClr val="000000"/>
                </a:solidFill>
              </a:rPr>
              <a:t>AI coaching for teacher professional growth</a:t>
            </a:r>
            <a:endParaRPr lang="en-US" sz="1300" dirty="0"/>
          </a:p>
          <a:p>
            <a:pPr marL="203200" indent="-203200">
              <a:spcAft>
                <a:spcPts val="600"/>
              </a:spcAft>
              <a:buSzPct val="100000"/>
              <a:buChar char="•"/>
            </a:pPr>
            <a:r>
              <a:rPr lang="en-US" sz="1300" dirty="0">
                <a:solidFill>
                  <a:srgbClr val="000000"/>
                </a:solidFill>
              </a:rPr>
              <a:t>State academic planning from live data</a:t>
            </a:r>
            <a:endParaRPr lang="en-US" sz="1300" dirty="0"/>
          </a:p>
          <a:p>
            <a:pPr marL="203200" indent="-203200">
              <a:spcAft>
                <a:spcPts val="600"/>
              </a:spcAft>
              <a:buSzPct val="100000"/>
              <a:buChar char="•"/>
            </a:pPr>
            <a:r>
              <a:rPr lang="en-US" sz="1300" dirty="0">
                <a:solidFill>
                  <a:srgbClr val="000000"/>
                </a:solidFill>
              </a:rPr>
              <a:t>Open APIs for DIKSHA and partners</a:t>
            </a:r>
            <a:endParaRPr lang="en-US" sz="1300" dirty="0"/>
          </a:p>
        </p:txBody>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24</a:t>
            </a:fld>
            <a:endParaRPr lang="en-US"/>
          </a:p>
        </p:txBody>
      </p:sp>
    </p:spTree>
  </p:cSld>
  <p:clrMapOvr>
    <a:masterClrMapping/>
  </p:clrMapOvr>
  <p:transition spd="med">
    <p:fade/>
  </p:transition>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59536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Future innovations we can build</a:t>
            </a:r>
            <a:endParaRPr lang="en-US" sz="3000" dirty="0"/>
          </a:p>
        </p:txBody>
      </p:sp>
      <p:sp>
        <p:nvSpPr>
          <p:cNvPr id="3" name="button--Agenda"/>
          <p:cNvSpPr/>
          <p:nvPr/>
        </p:nvSpPr>
        <p:spPr>
          <a:xfrm>
            <a:off x="9372600" y="502920"/>
            <a:ext cx="1097280" cy="365760"/>
          </a:xfrm>
          <a:prstGeom prst="roundRect">
            <a:avLst>
              <a:gd name="adj" fmla="val 57500"/>
            </a:avLst>
          </a:prstGeom>
          <a:solidFill>
            <a:srgbClr val="EFF5F2"/>
          </a:solidFill>
          <a:ln>
            <a:solidFill>
              <a:srgbClr val="EFF5F2"/>
            </a:solidFill>
          </a:ln>
        </p:spPr>
        <p:txBody>
          <a:bodyPr wrap="square" lIns="0" tIns="0" rIns="0" bIns="0" rtlCol="0" anchor="ctr"/>
          <a:lstStyle/>
          <a:p>
            <a:pPr algn="ctr" indent="0" marL="0">
              <a:buNone/>
            </a:pPr>
            <a:r>
              <a:rPr lang="en-US" sz="1200" b="1" dirty="0">
                <a:solidFill>
                  <a:srgbClr val="0B3B36"/>
                </a:solidFill>
              </a:rPr>
              <a:t>☰  Agenda</a:t>
            </a:r>
            <a:endParaRPr lang="en-US" sz="1200" dirty="0"/>
          </a:p>
        </p:txBody>
      </p:sp>
      <p:sp>
        <p:nvSpPr>
          <p:cNvPr id="4" name="button-link--Agenda">
            <a:hlinkClick r:id="rId1" tooltip="Back to the agenda" action="ppaction://hlinksldjump"/>
          </p:cNvPr>
          <p:cNvSpPr/>
          <p:nvPr/>
        </p:nvSpPr>
        <p:spPr>
          <a:xfrm>
            <a:off x="9372600" y="502920"/>
            <a:ext cx="1097280" cy="365760"/>
          </a:xfrm>
          <a:prstGeom prst="rect">
            <a:avLst/>
          </a:prstGeom>
          <a:solidFill>
            <a:srgbClr val="FFFFFF">
              <a:alpha val="0"/>
            </a:srgbClr>
          </a:solidFill>
          <a:ln w="12700">
            <a:solidFill>
              <a:srgbClr val="FFFFFF">
                <a:alpha val="0"/>
              </a:srgbClr>
            </a:solidFill>
            <a:prstDash val="solid"/>
          </a:ln>
        </p:spPr>
      </p:sp>
      <p:sp>
        <p:nvSpPr>
          <p:cNvPr id="5" name="button-Live-demo-"/>
          <p:cNvSpPr/>
          <p:nvPr/>
        </p:nvSpPr>
        <p:spPr>
          <a:xfrm>
            <a:off x="10561320" y="502920"/>
            <a:ext cx="1097280" cy="365760"/>
          </a:xfrm>
          <a:prstGeom prst="roundRect">
            <a:avLst>
              <a:gd name="adj" fmla="val 57500"/>
            </a:avLst>
          </a:prstGeom>
          <a:solidFill>
            <a:srgbClr val="0B3B36"/>
          </a:solidFill>
          <a:ln>
            <a:solidFill>
              <a:srgbClr val="0B3B36"/>
            </a:solidFill>
          </a:ln>
        </p:spPr>
        <p:txBody>
          <a:bodyPr wrap="square" lIns="0" tIns="0" rIns="0" bIns="0" rtlCol="0" anchor="ctr"/>
          <a:lstStyle/>
          <a:p>
            <a:pPr algn="ctr" indent="0" marL="0">
              <a:buNone/>
            </a:pPr>
            <a:r>
              <a:rPr lang="en-US" sz="1200" b="1" dirty="0">
                <a:solidFill>
                  <a:srgbClr val="FFFFFF"/>
                </a:solidFill>
              </a:rPr>
              <a:t>Live demo ↗</a:t>
            </a:r>
            <a:endParaRPr lang="en-US" sz="1200" dirty="0"/>
          </a:p>
        </p:txBody>
      </p:sp>
      <p:sp>
        <p:nvSpPr>
          <p:cNvPr id="6" name="button-link-Live-demo-">
            <a:hlinkClick r:id="rId2" tooltip="Open the live demo"/>
          </p:cNvPr>
          <p:cNvSpPr/>
          <p:nvPr/>
        </p:nvSpPr>
        <p:spPr>
          <a:xfrm>
            <a:off x="10561320" y="502920"/>
            <a:ext cx="1097280" cy="365760"/>
          </a:xfrm>
          <a:prstGeom prst="rect">
            <a:avLst/>
          </a:prstGeom>
          <a:solidFill>
            <a:srgbClr val="FFFFFF">
              <a:alpha val="0"/>
            </a:srgbClr>
          </a:solidFill>
          <a:ln w="12700">
            <a:solidFill>
              <a:srgbClr val="FFFFFF">
                <a:alpha val="0"/>
              </a:srgbClr>
            </a:solidFill>
            <a:prstDash val="solid"/>
          </a:ln>
        </p:spPr>
      </p:sp>
      <p:sp>
        <p:nvSpPr>
          <p:cNvPr id="7" name="idea-0"/>
          <p:cNvSpPr/>
          <p:nvPr/>
        </p:nvSpPr>
        <p:spPr>
          <a:xfrm>
            <a:off x="548640" y="1371600"/>
            <a:ext cx="2606040" cy="2148840"/>
          </a:xfrm>
          <a:prstGeom prst="roundRect">
            <a:avLst>
              <a:gd name="adj" fmla="val 5106"/>
            </a:avLst>
          </a:prstGeom>
          <a:solidFill>
            <a:srgbClr val="EFF5F2"/>
          </a:solidFill>
          <a:ln w="12700">
            <a:solidFill>
              <a:srgbClr val="EFF5F2"/>
            </a:solidFill>
            <a:prstDash val="solid"/>
          </a:ln>
          <a:effectLst>
            <a:outerShdw sx="100000" sy="100000" kx="0" ky="0" algn="bl" rotWithShape="0" blurRad="101600" dist="25400" dir="5400000">
              <a:srgbClr val="17242A">
                <a:alpha val="16000"/>
              </a:srgbClr>
            </a:outerShdw>
          </a:effectLst>
        </p:spPr>
      </p:sp>
      <p:sp>
        <p:nvSpPr>
          <p:cNvPr id="8" name="icon-bg-FaMobileScreen"/>
          <p:cNvSpPr/>
          <p:nvPr/>
        </p:nvSpPr>
        <p:spPr>
          <a:xfrm>
            <a:off x="777240" y="1600200"/>
            <a:ext cx="594360" cy="594360"/>
          </a:xfrm>
          <a:prstGeom prst="ellipse">
            <a:avLst/>
          </a:prstGeom>
          <a:solidFill>
            <a:srgbClr val="E8762B"/>
          </a:solidFill>
          <a:ln w="12700">
            <a:solidFill>
              <a:srgbClr val="E8762B"/>
            </a:solidFill>
            <a:prstDash val="solid"/>
          </a:ln>
        </p:spPr>
      </p:sp>
      <p:pic>
        <p:nvPicPr>
          <p:cNvPr id="9" name="icon-FaMobileScreen" descr="preencoded.png">    </p:cNvPr>
          <p:cNvPicPr>
            <a:picLocks noChangeAspect="1"/>
          </p:cNvPicPr>
          <p:nvPr/>
        </p:nvPicPr>
        <p:blipFill>
          <a:blip r:embed="rId3"/>
          <a:stretch>
            <a:fillRect/>
          </a:stretch>
        </p:blipFill>
        <p:spPr>
          <a:xfrm>
            <a:off x="925830" y="1748790"/>
            <a:ext cx="297180" cy="297180"/>
          </a:xfrm>
          <a:prstGeom prst="rect">
            <a:avLst/>
          </a:prstGeom>
        </p:spPr>
      </p:pic>
      <p:sp>
        <p:nvSpPr>
          <p:cNvPr id="10" name="Text 7"/>
          <p:cNvSpPr txBox="1"/>
          <p:nvPr/>
        </p:nvSpPr>
        <p:spPr>
          <a:xfrm>
            <a:off x="777240" y="2286000"/>
            <a:ext cx="2240280" cy="365760"/>
          </a:xfrm>
          <a:prstGeom prst="rect">
            <a:avLst/>
          </a:prstGeom>
          <a:noFill/>
          <a:ln/>
        </p:spPr>
        <p:txBody>
          <a:bodyPr wrap="square" lIns="0" tIns="0" rIns="0" bIns="0" rtlCol="0" anchor="t"/>
          <a:lstStyle/>
          <a:p>
            <a:pPr indent="0" marL="0">
              <a:buNone/>
            </a:pPr>
            <a:r>
              <a:rPr lang="en-US" sz="1500" b="1" dirty="0">
                <a:solidFill>
                  <a:srgbClr val="0B3B36"/>
                </a:solidFill>
                <a:latin typeface="Cambria" pitchFamily="34" charset="0"/>
                <a:ea typeface="Cambria" pitchFamily="34" charset="-122"/>
                <a:cs typeface="Cambria" pitchFamily="34" charset="-120"/>
              </a:rPr>
              <a:t>On-device AI tutor</a:t>
            </a:r>
            <a:endParaRPr lang="en-US" sz="1500" dirty="0"/>
          </a:p>
        </p:txBody>
      </p:sp>
      <p:sp>
        <p:nvSpPr>
          <p:cNvPr id="11" name="Text 8"/>
          <p:cNvSpPr txBox="1"/>
          <p:nvPr/>
        </p:nvSpPr>
        <p:spPr>
          <a:xfrm>
            <a:off x="777240" y="2670048"/>
            <a:ext cx="2240280" cy="777240"/>
          </a:xfrm>
          <a:prstGeom prst="rect">
            <a:avLst/>
          </a:prstGeom>
          <a:noFill/>
          <a:ln/>
        </p:spPr>
        <p:txBody>
          <a:bodyPr wrap="square" lIns="0" tIns="0" rIns="0" bIns="0" rtlCol="0" anchor="t"/>
          <a:lstStyle/>
          <a:p>
            <a:pPr indent="0" marL="0">
              <a:buNone/>
            </a:pPr>
            <a:r>
              <a:rPr lang="en-US" sz="1200" dirty="0">
                <a:solidFill>
                  <a:srgbClr val="17242A"/>
                </a:solidFill>
              </a:rPr>
              <a:t>A compressed model on low-cost Android phones, fully offline</a:t>
            </a:r>
            <a:endParaRPr lang="en-US" sz="1200" dirty="0"/>
          </a:p>
        </p:txBody>
      </p:sp>
      <p:sp>
        <p:nvSpPr>
          <p:cNvPr id="12" name="idea-1"/>
          <p:cNvSpPr/>
          <p:nvPr/>
        </p:nvSpPr>
        <p:spPr>
          <a:xfrm>
            <a:off x="3355848" y="1371600"/>
            <a:ext cx="2606040" cy="2148840"/>
          </a:xfrm>
          <a:prstGeom prst="roundRect">
            <a:avLst>
              <a:gd name="adj" fmla="val 5106"/>
            </a:avLst>
          </a:prstGeom>
          <a:solidFill>
            <a:srgbClr val="EFF5F2"/>
          </a:solidFill>
          <a:ln w="12700">
            <a:solidFill>
              <a:srgbClr val="EFF5F2"/>
            </a:solidFill>
            <a:prstDash val="solid"/>
          </a:ln>
          <a:effectLst>
            <a:outerShdw sx="100000" sy="100000" kx="0" ky="0" algn="bl" rotWithShape="0" blurRad="101600" dist="25400" dir="5400000">
              <a:srgbClr val="17242A">
                <a:alpha val="16000"/>
              </a:srgbClr>
            </a:outerShdw>
          </a:effectLst>
        </p:spPr>
      </p:sp>
      <p:sp>
        <p:nvSpPr>
          <p:cNvPr id="13" name="icon-bg-FaMicrophoneLines"/>
          <p:cNvSpPr/>
          <p:nvPr/>
        </p:nvSpPr>
        <p:spPr>
          <a:xfrm>
            <a:off x="3584448" y="1600200"/>
            <a:ext cx="594360" cy="594360"/>
          </a:xfrm>
          <a:prstGeom prst="ellipse">
            <a:avLst/>
          </a:prstGeom>
          <a:solidFill>
            <a:srgbClr val="E8762B"/>
          </a:solidFill>
          <a:ln w="12700">
            <a:solidFill>
              <a:srgbClr val="E8762B"/>
            </a:solidFill>
            <a:prstDash val="solid"/>
          </a:ln>
        </p:spPr>
      </p:sp>
      <p:pic>
        <p:nvPicPr>
          <p:cNvPr id="14" name="icon-FaMicrophoneLines" descr="preencoded.png">    </p:cNvPr>
          <p:cNvPicPr>
            <a:picLocks noChangeAspect="1"/>
          </p:cNvPicPr>
          <p:nvPr/>
        </p:nvPicPr>
        <p:blipFill>
          <a:blip r:embed="rId4"/>
          <a:stretch>
            <a:fillRect/>
          </a:stretch>
        </p:blipFill>
        <p:spPr>
          <a:xfrm>
            <a:off x="3733038" y="1748790"/>
            <a:ext cx="297180" cy="297180"/>
          </a:xfrm>
          <a:prstGeom prst="rect">
            <a:avLst/>
          </a:prstGeom>
        </p:spPr>
      </p:pic>
      <p:sp>
        <p:nvSpPr>
          <p:cNvPr id="15" name="Text 11"/>
          <p:cNvSpPr txBox="1"/>
          <p:nvPr/>
        </p:nvSpPr>
        <p:spPr>
          <a:xfrm>
            <a:off x="3584448" y="2286000"/>
            <a:ext cx="2240280" cy="365760"/>
          </a:xfrm>
          <a:prstGeom prst="rect">
            <a:avLst/>
          </a:prstGeom>
          <a:noFill/>
          <a:ln/>
        </p:spPr>
        <p:txBody>
          <a:bodyPr wrap="square" lIns="0" tIns="0" rIns="0" bIns="0" rtlCol="0" anchor="t"/>
          <a:lstStyle/>
          <a:p>
            <a:pPr indent="0" marL="0">
              <a:buNone/>
            </a:pPr>
            <a:r>
              <a:rPr lang="en-US" sz="1500" b="1" dirty="0">
                <a:solidFill>
                  <a:srgbClr val="0B3B36"/>
                </a:solidFill>
                <a:latin typeface="Cambria" pitchFamily="34" charset="0"/>
                <a:ea typeface="Cambria" pitchFamily="34" charset="-122"/>
                <a:cs typeface="Cambria" pitchFamily="34" charset="-120"/>
              </a:rPr>
              <a:t>Your own language</a:t>
            </a:r>
            <a:endParaRPr lang="en-US" sz="1500" dirty="0"/>
          </a:p>
        </p:txBody>
      </p:sp>
      <p:sp>
        <p:nvSpPr>
          <p:cNvPr id="16" name="Text 12"/>
          <p:cNvSpPr txBox="1"/>
          <p:nvPr/>
        </p:nvSpPr>
        <p:spPr>
          <a:xfrm>
            <a:off x="3584448" y="2670048"/>
            <a:ext cx="2240280" cy="777240"/>
          </a:xfrm>
          <a:prstGeom prst="rect">
            <a:avLst/>
          </a:prstGeom>
          <a:noFill/>
          <a:ln/>
        </p:spPr>
        <p:txBody>
          <a:bodyPr wrap="square" lIns="0" tIns="0" rIns="0" bIns="0" rtlCol="0" anchor="t"/>
          <a:lstStyle/>
          <a:p>
            <a:pPr indent="0" marL="0">
              <a:buNone/>
            </a:pPr>
            <a:r>
              <a:rPr lang="en-US" sz="1200" dirty="0">
                <a:solidFill>
                  <a:srgbClr val="17242A"/>
                </a:solidFill>
              </a:rPr>
              <a:t>Voice tutor in Chhattisgarhi, Gondi and Halbi, built with native speakers</a:t>
            </a:r>
            <a:endParaRPr lang="en-US" sz="1200" dirty="0"/>
          </a:p>
        </p:txBody>
      </p:sp>
      <p:sp>
        <p:nvSpPr>
          <p:cNvPr id="17" name="idea-2"/>
          <p:cNvSpPr/>
          <p:nvPr/>
        </p:nvSpPr>
        <p:spPr>
          <a:xfrm>
            <a:off x="6163056" y="1371600"/>
            <a:ext cx="2606040" cy="2148840"/>
          </a:xfrm>
          <a:prstGeom prst="roundRect">
            <a:avLst>
              <a:gd name="adj" fmla="val 5106"/>
            </a:avLst>
          </a:prstGeom>
          <a:solidFill>
            <a:srgbClr val="EFF5F2"/>
          </a:solidFill>
          <a:ln w="12700">
            <a:solidFill>
              <a:srgbClr val="EFF5F2"/>
            </a:solidFill>
            <a:prstDash val="solid"/>
          </a:ln>
          <a:effectLst>
            <a:outerShdw sx="100000" sy="100000" kx="0" ky="0" algn="bl" rotWithShape="0" blurRad="101600" dist="25400" dir="5400000">
              <a:srgbClr val="17242A">
                <a:alpha val="16000"/>
              </a:srgbClr>
            </a:outerShdw>
          </a:effectLst>
        </p:spPr>
      </p:sp>
      <p:sp>
        <p:nvSpPr>
          <p:cNvPr id="18" name="icon-bg-FaPenNib"/>
          <p:cNvSpPr/>
          <p:nvPr/>
        </p:nvSpPr>
        <p:spPr>
          <a:xfrm>
            <a:off x="6391656" y="1600200"/>
            <a:ext cx="594360" cy="594360"/>
          </a:xfrm>
          <a:prstGeom prst="ellipse">
            <a:avLst/>
          </a:prstGeom>
          <a:solidFill>
            <a:srgbClr val="E8762B"/>
          </a:solidFill>
          <a:ln w="12700">
            <a:solidFill>
              <a:srgbClr val="E8762B"/>
            </a:solidFill>
            <a:prstDash val="solid"/>
          </a:ln>
        </p:spPr>
      </p:sp>
      <p:pic>
        <p:nvPicPr>
          <p:cNvPr id="19" name="icon-FaPenNib" descr="preencoded.png">    </p:cNvPr>
          <p:cNvPicPr>
            <a:picLocks noChangeAspect="1"/>
          </p:cNvPicPr>
          <p:nvPr/>
        </p:nvPicPr>
        <p:blipFill>
          <a:blip r:embed="rId5"/>
          <a:stretch>
            <a:fillRect/>
          </a:stretch>
        </p:blipFill>
        <p:spPr>
          <a:xfrm>
            <a:off x="6540246" y="1748790"/>
            <a:ext cx="297180" cy="297180"/>
          </a:xfrm>
          <a:prstGeom prst="rect">
            <a:avLst/>
          </a:prstGeom>
        </p:spPr>
      </p:pic>
      <p:sp>
        <p:nvSpPr>
          <p:cNvPr id="20" name="Text 15"/>
          <p:cNvSpPr txBox="1"/>
          <p:nvPr/>
        </p:nvSpPr>
        <p:spPr>
          <a:xfrm>
            <a:off x="6391656" y="2286000"/>
            <a:ext cx="2240280" cy="365760"/>
          </a:xfrm>
          <a:prstGeom prst="rect">
            <a:avLst/>
          </a:prstGeom>
          <a:noFill/>
          <a:ln/>
        </p:spPr>
        <p:txBody>
          <a:bodyPr wrap="square" lIns="0" tIns="0" rIns="0" bIns="0" rtlCol="0" anchor="t"/>
          <a:lstStyle/>
          <a:p>
            <a:pPr indent="0" marL="0">
              <a:buNone/>
            </a:pPr>
            <a:r>
              <a:rPr lang="en-US" sz="1500" b="1" dirty="0">
                <a:solidFill>
                  <a:srgbClr val="0B3B36"/>
                </a:solidFill>
                <a:latin typeface="Cambria" pitchFamily="34" charset="0"/>
                <a:ea typeface="Cambria" pitchFamily="34" charset="-122"/>
                <a:cs typeface="Cambria" pitchFamily="34" charset="-120"/>
              </a:rPr>
              <a:t>Notebook to marks</a:t>
            </a:r>
            <a:endParaRPr lang="en-US" sz="1500" dirty="0"/>
          </a:p>
        </p:txBody>
      </p:sp>
      <p:sp>
        <p:nvSpPr>
          <p:cNvPr id="21" name="Text 16"/>
          <p:cNvSpPr txBox="1"/>
          <p:nvPr/>
        </p:nvSpPr>
        <p:spPr>
          <a:xfrm>
            <a:off x="6391656" y="2670048"/>
            <a:ext cx="2240280" cy="777240"/>
          </a:xfrm>
          <a:prstGeom prst="rect">
            <a:avLst/>
          </a:prstGeom>
          <a:noFill/>
          <a:ln/>
        </p:spPr>
        <p:txBody>
          <a:bodyPr wrap="square" lIns="0" tIns="0" rIns="0" bIns="0" rtlCol="0" anchor="t"/>
          <a:lstStyle/>
          <a:p>
            <a:pPr indent="0" marL="0">
              <a:buNone/>
            </a:pPr>
            <a:r>
              <a:rPr lang="en-US" sz="1200" dirty="0">
                <a:solidFill>
                  <a:srgbClr val="17242A"/>
                </a:solidFill>
              </a:rPr>
              <a:t>Photograph handwritten answers; AI suggests marks, teacher confirms</a:t>
            </a:r>
            <a:endParaRPr lang="en-US" sz="1200" dirty="0"/>
          </a:p>
        </p:txBody>
      </p:sp>
      <p:sp>
        <p:nvSpPr>
          <p:cNvPr id="22" name="idea-3"/>
          <p:cNvSpPr/>
          <p:nvPr/>
        </p:nvSpPr>
        <p:spPr>
          <a:xfrm>
            <a:off x="8970264" y="1371600"/>
            <a:ext cx="2606040" cy="2148840"/>
          </a:xfrm>
          <a:prstGeom prst="roundRect">
            <a:avLst>
              <a:gd name="adj" fmla="val 5106"/>
            </a:avLst>
          </a:prstGeom>
          <a:solidFill>
            <a:srgbClr val="EFF5F2"/>
          </a:solidFill>
          <a:ln w="12700">
            <a:solidFill>
              <a:srgbClr val="EFF5F2"/>
            </a:solidFill>
            <a:prstDash val="solid"/>
          </a:ln>
          <a:effectLst>
            <a:outerShdw sx="100000" sy="100000" kx="0" ky="0" algn="bl" rotWithShape="0" blurRad="101600" dist="25400" dir="5400000">
              <a:srgbClr val="17242A">
                <a:alpha val="16000"/>
              </a:srgbClr>
            </a:outerShdw>
          </a:effectLst>
        </p:spPr>
      </p:sp>
      <p:sp>
        <p:nvSpPr>
          <p:cNvPr id="23" name="icon-bg-FaChartLine"/>
          <p:cNvSpPr/>
          <p:nvPr/>
        </p:nvSpPr>
        <p:spPr>
          <a:xfrm>
            <a:off x="9198864" y="1600200"/>
            <a:ext cx="594360" cy="594360"/>
          </a:xfrm>
          <a:prstGeom prst="ellipse">
            <a:avLst/>
          </a:prstGeom>
          <a:solidFill>
            <a:srgbClr val="E8762B"/>
          </a:solidFill>
          <a:ln w="12700">
            <a:solidFill>
              <a:srgbClr val="E8762B"/>
            </a:solidFill>
            <a:prstDash val="solid"/>
          </a:ln>
        </p:spPr>
      </p:sp>
      <p:pic>
        <p:nvPicPr>
          <p:cNvPr id="24" name="icon-FaChartLine" descr="preencoded.png">    </p:cNvPr>
          <p:cNvPicPr>
            <a:picLocks noChangeAspect="1"/>
          </p:cNvPicPr>
          <p:nvPr/>
        </p:nvPicPr>
        <p:blipFill>
          <a:blip r:embed="rId6"/>
          <a:stretch>
            <a:fillRect/>
          </a:stretch>
        </p:blipFill>
        <p:spPr>
          <a:xfrm>
            <a:off x="9347454" y="1748790"/>
            <a:ext cx="297180" cy="297180"/>
          </a:xfrm>
          <a:prstGeom prst="rect">
            <a:avLst/>
          </a:prstGeom>
        </p:spPr>
      </p:pic>
      <p:sp>
        <p:nvSpPr>
          <p:cNvPr id="25" name="Text 19"/>
          <p:cNvSpPr txBox="1"/>
          <p:nvPr/>
        </p:nvSpPr>
        <p:spPr>
          <a:xfrm>
            <a:off x="9198864" y="2286000"/>
            <a:ext cx="2240280" cy="365760"/>
          </a:xfrm>
          <a:prstGeom prst="rect">
            <a:avLst/>
          </a:prstGeom>
          <a:noFill/>
          <a:ln/>
        </p:spPr>
        <p:txBody>
          <a:bodyPr wrap="square" lIns="0" tIns="0" rIns="0" bIns="0" rtlCol="0" anchor="t"/>
          <a:lstStyle/>
          <a:p>
            <a:pPr indent="0" marL="0">
              <a:buNone/>
            </a:pPr>
            <a:r>
              <a:rPr lang="en-US" sz="1500" b="1" dirty="0">
                <a:solidFill>
                  <a:srgbClr val="0B3B36"/>
                </a:solidFill>
                <a:latin typeface="Cambria" pitchFamily="34" charset="0"/>
                <a:ea typeface="Cambria" pitchFamily="34" charset="-122"/>
                <a:cs typeface="Cambria" pitchFamily="34" charset="-120"/>
              </a:rPr>
              <a:t>Early-warning, validated</a:t>
            </a:r>
            <a:endParaRPr lang="en-US" sz="1500" dirty="0"/>
          </a:p>
        </p:txBody>
      </p:sp>
      <p:sp>
        <p:nvSpPr>
          <p:cNvPr id="26" name="Text 20"/>
          <p:cNvSpPr txBox="1"/>
          <p:nvPr/>
        </p:nvSpPr>
        <p:spPr>
          <a:xfrm>
            <a:off x="9198864" y="2670048"/>
            <a:ext cx="2240280" cy="777240"/>
          </a:xfrm>
          <a:prstGeom prst="rect">
            <a:avLst/>
          </a:prstGeom>
          <a:noFill/>
          <a:ln/>
        </p:spPr>
        <p:txBody>
          <a:bodyPr wrap="square" lIns="0" tIns="0" rIns="0" bIns="0" rtlCol="0" anchor="t"/>
          <a:lstStyle/>
          <a:p>
            <a:pPr indent="0" marL="0">
              <a:buNone/>
            </a:pPr>
            <a:r>
              <a:rPr lang="en-US" sz="1200" dirty="0">
                <a:solidFill>
                  <a:srgbClr val="17242A"/>
                </a:solidFill>
              </a:rPr>
              <a:t>Dropout and learning-loss signals tested against real outcomes with SCERT</a:t>
            </a:r>
            <a:endParaRPr lang="en-US" sz="1200" dirty="0"/>
          </a:p>
        </p:txBody>
      </p:sp>
      <p:sp>
        <p:nvSpPr>
          <p:cNvPr id="27" name="idea-4"/>
          <p:cNvSpPr/>
          <p:nvPr/>
        </p:nvSpPr>
        <p:spPr>
          <a:xfrm>
            <a:off x="548640" y="3749040"/>
            <a:ext cx="2606040" cy="2148840"/>
          </a:xfrm>
          <a:prstGeom prst="roundRect">
            <a:avLst>
              <a:gd name="adj" fmla="val 5106"/>
            </a:avLst>
          </a:prstGeom>
          <a:solidFill>
            <a:srgbClr val="EFF5F2"/>
          </a:solidFill>
          <a:ln w="12700">
            <a:solidFill>
              <a:srgbClr val="EFF5F2"/>
            </a:solidFill>
            <a:prstDash val="solid"/>
          </a:ln>
          <a:effectLst>
            <a:outerShdw sx="100000" sy="100000" kx="0" ky="0" algn="bl" rotWithShape="0" blurRad="101600" dist="25400" dir="5400000">
              <a:srgbClr val="17242A">
                <a:alpha val="16000"/>
              </a:srgbClr>
            </a:outerShdw>
          </a:effectLst>
        </p:spPr>
      </p:sp>
      <p:sp>
        <p:nvSpPr>
          <p:cNvPr id="28" name="icon-bg-FaPeopleRoof"/>
          <p:cNvSpPr/>
          <p:nvPr/>
        </p:nvSpPr>
        <p:spPr>
          <a:xfrm>
            <a:off x="777240" y="3977640"/>
            <a:ext cx="594360" cy="594360"/>
          </a:xfrm>
          <a:prstGeom prst="ellipse">
            <a:avLst/>
          </a:prstGeom>
          <a:solidFill>
            <a:srgbClr val="E8762B"/>
          </a:solidFill>
          <a:ln w="12700">
            <a:solidFill>
              <a:srgbClr val="E8762B"/>
            </a:solidFill>
            <a:prstDash val="solid"/>
          </a:ln>
        </p:spPr>
      </p:sp>
      <p:pic>
        <p:nvPicPr>
          <p:cNvPr id="29" name="icon-FaPeopleRoof" descr="preencoded.png">    </p:cNvPr>
          <p:cNvPicPr>
            <a:picLocks noChangeAspect="1"/>
          </p:cNvPicPr>
          <p:nvPr/>
        </p:nvPicPr>
        <p:blipFill>
          <a:blip r:embed="rId7"/>
          <a:stretch>
            <a:fillRect/>
          </a:stretch>
        </p:blipFill>
        <p:spPr>
          <a:xfrm>
            <a:off x="925830" y="4126230"/>
            <a:ext cx="297180" cy="297180"/>
          </a:xfrm>
          <a:prstGeom prst="rect">
            <a:avLst/>
          </a:prstGeom>
        </p:spPr>
      </p:pic>
      <p:sp>
        <p:nvSpPr>
          <p:cNvPr id="30" name="Text 23"/>
          <p:cNvSpPr txBox="1"/>
          <p:nvPr/>
        </p:nvSpPr>
        <p:spPr>
          <a:xfrm>
            <a:off x="777240" y="4663440"/>
            <a:ext cx="2240280" cy="365760"/>
          </a:xfrm>
          <a:prstGeom prst="rect">
            <a:avLst/>
          </a:prstGeom>
          <a:noFill/>
          <a:ln/>
        </p:spPr>
        <p:txBody>
          <a:bodyPr wrap="square" lIns="0" tIns="0" rIns="0" bIns="0" rtlCol="0" anchor="t"/>
          <a:lstStyle/>
          <a:p>
            <a:pPr indent="0" marL="0">
              <a:buNone/>
            </a:pPr>
            <a:r>
              <a:rPr lang="en-US" sz="1500" b="1" dirty="0">
                <a:solidFill>
                  <a:srgbClr val="0B3B36"/>
                </a:solidFill>
                <a:latin typeface="Cambria" pitchFamily="34" charset="0"/>
                <a:ea typeface="Cambria" pitchFamily="34" charset="-122"/>
                <a:cs typeface="Cambria" pitchFamily="34" charset="-120"/>
              </a:rPr>
              <a:t>Parents in the loop</a:t>
            </a:r>
            <a:endParaRPr lang="en-US" sz="1500" dirty="0"/>
          </a:p>
        </p:txBody>
      </p:sp>
      <p:sp>
        <p:nvSpPr>
          <p:cNvPr id="31" name="Text 24"/>
          <p:cNvSpPr txBox="1"/>
          <p:nvPr/>
        </p:nvSpPr>
        <p:spPr>
          <a:xfrm>
            <a:off x="777240" y="5047488"/>
            <a:ext cx="2240280" cy="777240"/>
          </a:xfrm>
          <a:prstGeom prst="rect">
            <a:avLst/>
          </a:prstGeom>
          <a:noFill/>
          <a:ln/>
        </p:spPr>
        <p:txBody>
          <a:bodyPr wrap="square" lIns="0" tIns="0" rIns="0" bIns="0" rtlCol="0" anchor="t"/>
          <a:lstStyle/>
          <a:p>
            <a:pPr indent="0" marL="0">
              <a:buNone/>
            </a:pPr>
            <a:r>
              <a:rPr lang="en-US" sz="1200" dirty="0">
                <a:solidFill>
                  <a:srgbClr val="17242A"/>
                </a:solidFill>
              </a:rPr>
              <a:t>Weekly progress by IVR or WhatsApp in the family's language</a:t>
            </a:r>
            <a:endParaRPr lang="en-US" sz="1200" dirty="0"/>
          </a:p>
        </p:txBody>
      </p:sp>
      <p:sp>
        <p:nvSpPr>
          <p:cNvPr id="32" name="idea-5"/>
          <p:cNvSpPr/>
          <p:nvPr/>
        </p:nvSpPr>
        <p:spPr>
          <a:xfrm>
            <a:off x="3355848" y="3749040"/>
            <a:ext cx="2606040" cy="2148840"/>
          </a:xfrm>
          <a:prstGeom prst="roundRect">
            <a:avLst>
              <a:gd name="adj" fmla="val 5106"/>
            </a:avLst>
          </a:prstGeom>
          <a:solidFill>
            <a:srgbClr val="EFF5F2"/>
          </a:solidFill>
          <a:ln w="12700">
            <a:solidFill>
              <a:srgbClr val="EFF5F2"/>
            </a:solidFill>
            <a:prstDash val="solid"/>
          </a:ln>
          <a:effectLst>
            <a:outerShdw sx="100000" sy="100000" kx="0" ky="0" algn="bl" rotWithShape="0" blurRad="101600" dist="25400" dir="5400000">
              <a:srgbClr val="17242A">
                <a:alpha val="16000"/>
              </a:srgbClr>
            </a:outerShdw>
          </a:effectLst>
        </p:spPr>
      </p:sp>
      <p:sp>
        <p:nvSpPr>
          <p:cNvPr id="33" name="icon-bg-FaFlask"/>
          <p:cNvSpPr/>
          <p:nvPr/>
        </p:nvSpPr>
        <p:spPr>
          <a:xfrm>
            <a:off x="3584448" y="3977640"/>
            <a:ext cx="594360" cy="594360"/>
          </a:xfrm>
          <a:prstGeom prst="ellipse">
            <a:avLst/>
          </a:prstGeom>
          <a:solidFill>
            <a:srgbClr val="E8762B"/>
          </a:solidFill>
          <a:ln w="12700">
            <a:solidFill>
              <a:srgbClr val="E8762B"/>
            </a:solidFill>
            <a:prstDash val="solid"/>
          </a:ln>
        </p:spPr>
      </p:sp>
      <p:pic>
        <p:nvPicPr>
          <p:cNvPr id="34" name="icon-FaFlask" descr="preencoded.png">    </p:cNvPr>
          <p:cNvPicPr>
            <a:picLocks noChangeAspect="1"/>
          </p:cNvPicPr>
          <p:nvPr/>
        </p:nvPicPr>
        <p:blipFill>
          <a:blip r:embed="rId8"/>
          <a:stretch>
            <a:fillRect/>
          </a:stretch>
        </p:blipFill>
        <p:spPr>
          <a:xfrm>
            <a:off x="3733038" y="4126230"/>
            <a:ext cx="297180" cy="297180"/>
          </a:xfrm>
          <a:prstGeom prst="rect">
            <a:avLst/>
          </a:prstGeom>
        </p:spPr>
      </p:pic>
      <p:sp>
        <p:nvSpPr>
          <p:cNvPr id="35" name="Text 27"/>
          <p:cNvSpPr txBox="1"/>
          <p:nvPr/>
        </p:nvSpPr>
        <p:spPr>
          <a:xfrm>
            <a:off x="3584448" y="4663440"/>
            <a:ext cx="2240280" cy="365760"/>
          </a:xfrm>
          <a:prstGeom prst="rect">
            <a:avLst/>
          </a:prstGeom>
          <a:noFill/>
          <a:ln/>
        </p:spPr>
        <p:txBody>
          <a:bodyPr wrap="square" lIns="0" tIns="0" rIns="0" bIns="0" rtlCol="0" anchor="t"/>
          <a:lstStyle/>
          <a:p>
            <a:pPr indent="0" marL="0">
              <a:buNone/>
            </a:pPr>
            <a:r>
              <a:rPr lang="en-US" sz="1500" b="1" dirty="0">
                <a:solidFill>
                  <a:srgbClr val="0B3B36"/>
                </a:solidFill>
                <a:latin typeface="Cambria" pitchFamily="34" charset="0"/>
                <a:ea typeface="Cambria" pitchFamily="34" charset="-122"/>
                <a:cs typeface="Cambria" pitchFamily="34" charset="-120"/>
              </a:rPr>
              <a:t>Virtual labs</a:t>
            </a:r>
            <a:endParaRPr lang="en-US" sz="1500" dirty="0"/>
          </a:p>
        </p:txBody>
      </p:sp>
      <p:sp>
        <p:nvSpPr>
          <p:cNvPr id="36" name="Text 28"/>
          <p:cNvSpPr txBox="1"/>
          <p:nvPr/>
        </p:nvSpPr>
        <p:spPr>
          <a:xfrm>
            <a:off x="3584448" y="5047488"/>
            <a:ext cx="2240280" cy="777240"/>
          </a:xfrm>
          <a:prstGeom prst="rect">
            <a:avLst/>
          </a:prstGeom>
          <a:noFill/>
          <a:ln/>
        </p:spPr>
        <p:txBody>
          <a:bodyPr wrap="square" lIns="0" tIns="0" rIns="0" bIns="0" rtlCol="0" anchor="t"/>
          <a:lstStyle/>
          <a:p>
            <a:pPr indent="0" marL="0">
              <a:buNone/>
            </a:pPr>
            <a:r>
              <a:rPr lang="en-US" sz="1200" dirty="0">
                <a:solidFill>
                  <a:srgbClr val="17242A"/>
                </a:solidFill>
              </a:rPr>
              <a:t>Simulated experiments for schools without science labs</a:t>
            </a:r>
            <a:endParaRPr lang="en-US" sz="1200" dirty="0"/>
          </a:p>
        </p:txBody>
      </p:sp>
      <p:sp>
        <p:nvSpPr>
          <p:cNvPr id="37" name="idea-6"/>
          <p:cNvSpPr/>
          <p:nvPr/>
        </p:nvSpPr>
        <p:spPr>
          <a:xfrm>
            <a:off x="6163056" y="3749040"/>
            <a:ext cx="2606040" cy="2148840"/>
          </a:xfrm>
          <a:prstGeom prst="roundRect">
            <a:avLst>
              <a:gd name="adj" fmla="val 5106"/>
            </a:avLst>
          </a:prstGeom>
          <a:solidFill>
            <a:srgbClr val="EFF5F2"/>
          </a:solidFill>
          <a:ln w="12700">
            <a:solidFill>
              <a:srgbClr val="EFF5F2"/>
            </a:solidFill>
            <a:prstDash val="solid"/>
          </a:ln>
          <a:effectLst>
            <a:outerShdw sx="100000" sy="100000" kx="0" ky="0" algn="bl" rotWithShape="0" blurRad="101600" dist="25400" dir="5400000">
              <a:srgbClr val="17242A">
                <a:alpha val="16000"/>
              </a:srgbClr>
            </a:outerShdw>
          </a:effectLst>
        </p:spPr>
      </p:sp>
      <p:sp>
        <p:nvSpPr>
          <p:cNvPr id="38" name="icon-bg-FaChalkboardUser"/>
          <p:cNvSpPr/>
          <p:nvPr/>
        </p:nvSpPr>
        <p:spPr>
          <a:xfrm>
            <a:off x="6391656" y="3977640"/>
            <a:ext cx="594360" cy="594360"/>
          </a:xfrm>
          <a:prstGeom prst="ellipse">
            <a:avLst/>
          </a:prstGeom>
          <a:solidFill>
            <a:srgbClr val="E8762B"/>
          </a:solidFill>
          <a:ln w="12700">
            <a:solidFill>
              <a:srgbClr val="E8762B"/>
            </a:solidFill>
            <a:prstDash val="solid"/>
          </a:ln>
        </p:spPr>
      </p:sp>
      <p:pic>
        <p:nvPicPr>
          <p:cNvPr id="39" name="icon-FaChalkboardUser" descr="preencoded.png">    </p:cNvPr>
          <p:cNvPicPr>
            <a:picLocks noChangeAspect="1"/>
          </p:cNvPicPr>
          <p:nvPr/>
        </p:nvPicPr>
        <p:blipFill>
          <a:blip r:embed="rId9"/>
          <a:stretch>
            <a:fillRect/>
          </a:stretch>
        </p:blipFill>
        <p:spPr>
          <a:xfrm>
            <a:off x="6540246" y="4126230"/>
            <a:ext cx="297180" cy="297180"/>
          </a:xfrm>
          <a:prstGeom prst="rect">
            <a:avLst/>
          </a:prstGeom>
        </p:spPr>
      </p:pic>
      <p:sp>
        <p:nvSpPr>
          <p:cNvPr id="40" name="Text 31"/>
          <p:cNvSpPr txBox="1"/>
          <p:nvPr/>
        </p:nvSpPr>
        <p:spPr>
          <a:xfrm>
            <a:off x="6391656" y="4663440"/>
            <a:ext cx="2240280" cy="365760"/>
          </a:xfrm>
          <a:prstGeom prst="rect">
            <a:avLst/>
          </a:prstGeom>
          <a:noFill/>
          <a:ln/>
        </p:spPr>
        <p:txBody>
          <a:bodyPr wrap="square" lIns="0" tIns="0" rIns="0" bIns="0" rtlCol="0" anchor="t"/>
          <a:lstStyle/>
          <a:p>
            <a:pPr indent="0" marL="0">
              <a:buNone/>
            </a:pPr>
            <a:r>
              <a:rPr lang="en-US" sz="1500" b="1" dirty="0">
                <a:solidFill>
                  <a:srgbClr val="0B3B36"/>
                </a:solidFill>
                <a:latin typeface="Cambria" pitchFamily="34" charset="0"/>
                <a:ea typeface="Cambria" pitchFamily="34" charset="-122"/>
                <a:cs typeface="Cambria" pitchFamily="34" charset="-120"/>
              </a:rPr>
              <a:t>Teacher coaching</a:t>
            </a:r>
            <a:endParaRPr lang="en-US" sz="1500" dirty="0"/>
          </a:p>
        </p:txBody>
      </p:sp>
      <p:sp>
        <p:nvSpPr>
          <p:cNvPr id="41" name="Text 32"/>
          <p:cNvSpPr txBox="1"/>
          <p:nvPr/>
        </p:nvSpPr>
        <p:spPr>
          <a:xfrm>
            <a:off x="6391656" y="5047488"/>
            <a:ext cx="2240280" cy="777240"/>
          </a:xfrm>
          <a:prstGeom prst="rect">
            <a:avLst/>
          </a:prstGeom>
          <a:noFill/>
          <a:ln/>
        </p:spPr>
        <p:txBody>
          <a:bodyPr wrap="square" lIns="0" tIns="0" rIns="0" bIns="0" rtlCol="0" anchor="t"/>
          <a:lstStyle/>
          <a:p>
            <a:pPr indent="0" marL="0">
              <a:buNone/>
            </a:pPr>
            <a:r>
              <a:rPr lang="en-US" sz="1200" dirty="0">
                <a:solidFill>
                  <a:srgbClr val="17242A"/>
                </a:solidFill>
              </a:rPr>
              <a:t>Personal suggestions from lesson plans and class results</a:t>
            </a:r>
            <a:endParaRPr lang="en-US" sz="1200" dirty="0"/>
          </a:p>
        </p:txBody>
      </p:sp>
      <p:sp>
        <p:nvSpPr>
          <p:cNvPr id="42" name="idea-7"/>
          <p:cNvSpPr/>
          <p:nvPr/>
        </p:nvSpPr>
        <p:spPr>
          <a:xfrm>
            <a:off x="8970264" y="3749040"/>
            <a:ext cx="2606040" cy="2148840"/>
          </a:xfrm>
          <a:prstGeom prst="roundRect">
            <a:avLst>
              <a:gd name="adj" fmla="val 5106"/>
            </a:avLst>
          </a:prstGeom>
          <a:solidFill>
            <a:srgbClr val="EFF5F2"/>
          </a:solidFill>
          <a:ln w="12700">
            <a:solidFill>
              <a:srgbClr val="EFF5F2"/>
            </a:solidFill>
            <a:prstDash val="solid"/>
          </a:ln>
          <a:effectLst>
            <a:outerShdw sx="100000" sy="100000" kx="0" ky="0" algn="bl" rotWithShape="0" blurRad="101600" dist="25400" dir="5400000">
              <a:srgbClr val="17242A">
                <a:alpha val="16000"/>
              </a:srgbClr>
            </a:outerShdw>
          </a:effectLst>
        </p:spPr>
      </p:sp>
      <p:sp>
        <p:nvSpPr>
          <p:cNvPr id="43" name="icon-bg-FaNetworkWired"/>
          <p:cNvSpPr/>
          <p:nvPr/>
        </p:nvSpPr>
        <p:spPr>
          <a:xfrm>
            <a:off x="9198864" y="3977640"/>
            <a:ext cx="594360" cy="594360"/>
          </a:xfrm>
          <a:prstGeom prst="ellipse">
            <a:avLst/>
          </a:prstGeom>
          <a:solidFill>
            <a:srgbClr val="E8762B"/>
          </a:solidFill>
          <a:ln w="12700">
            <a:solidFill>
              <a:srgbClr val="E8762B"/>
            </a:solidFill>
            <a:prstDash val="solid"/>
          </a:ln>
        </p:spPr>
      </p:sp>
      <p:pic>
        <p:nvPicPr>
          <p:cNvPr id="44" name="icon-FaNetworkWired" descr="preencoded.png">    </p:cNvPr>
          <p:cNvPicPr>
            <a:picLocks noChangeAspect="1"/>
          </p:cNvPicPr>
          <p:nvPr/>
        </p:nvPicPr>
        <p:blipFill>
          <a:blip r:embed="rId10"/>
          <a:stretch>
            <a:fillRect/>
          </a:stretch>
        </p:blipFill>
        <p:spPr>
          <a:xfrm>
            <a:off x="9347454" y="4126230"/>
            <a:ext cx="297180" cy="297180"/>
          </a:xfrm>
          <a:prstGeom prst="rect">
            <a:avLst/>
          </a:prstGeom>
        </p:spPr>
      </p:pic>
      <p:sp>
        <p:nvSpPr>
          <p:cNvPr id="45" name="Text 35"/>
          <p:cNvSpPr txBox="1"/>
          <p:nvPr/>
        </p:nvSpPr>
        <p:spPr>
          <a:xfrm>
            <a:off x="9198864" y="4663440"/>
            <a:ext cx="2240280" cy="365760"/>
          </a:xfrm>
          <a:prstGeom prst="rect">
            <a:avLst/>
          </a:prstGeom>
          <a:noFill/>
          <a:ln/>
        </p:spPr>
        <p:txBody>
          <a:bodyPr wrap="square" lIns="0" tIns="0" rIns="0" bIns="0" rtlCol="0" anchor="t"/>
          <a:lstStyle/>
          <a:p>
            <a:pPr indent="0" marL="0">
              <a:buNone/>
            </a:pPr>
            <a:r>
              <a:rPr lang="en-US" sz="1500" b="1" dirty="0">
                <a:solidFill>
                  <a:srgbClr val="0B3B36"/>
                </a:solidFill>
                <a:latin typeface="Cambria" pitchFamily="34" charset="0"/>
                <a:ea typeface="Cambria" pitchFamily="34" charset="-122"/>
                <a:cs typeface="Cambria" pitchFamily="34" charset="-120"/>
              </a:rPr>
              <a:t>School mesh sync</a:t>
            </a:r>
            <a:endParaRPr lang="en-US" sz="1500" dirty="0"/>
          </a:p>
        </p:txBody>
      </p:sp>
      <p:sp>
        <p:nvSpPr>
          <p:cNvPr id="46" name="Text 36"/>
          <p:cNvSpPr txBox="1"/>
          <p:nvPr/>
        </p:nvSpPr>
        <p:spPr>
          <a:xfrm>
            <a:off x="9198864" y="5047488"/>
            <a:ext cx="2240280" cy="777240"/>
          </a:xfrm>
          <a:prstGeom prst="rect">
            <a:avLst/>
          </a:prstGeom>
          <a:noFill/>
          <a:ln/>
        </p:spPr>
        <p:txBody>
          <a:bodyPr wrap="square" lIns="0" tIns="0" rIns="0" bIns="0" rtlCol="0" anchor="t"/>
          <a:lstStyle/>
          <a:p>
            <a:pPr indent="0" marL="0">
              <a:buNone/>
            </a:pPr>
            <a:r>
              <a:rPr lang="en-US" sz="1200" dirty="0">
                <a:solidFill>
                  <a:srgbClr val="17242A"/>
                </a:solidFill>
              </a:rPr>
              <a:t>Schools share updates over local networks until internet returns</a:t>
            </a:r>
            <a:endParaRPr lang="en-US" sz="1200" dirty="0"/>
          </a:p>
        </p:txBody>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25</a:t>
            </a:fld>
            <a:endParaRPr lang="en-US"/>
          </a:p>
        </p:txBody>
      </p:sp>
    </p:spTree>
  </p:cSld>
  <p:clrMapOvr>
    <a:masterClrMapping/>
  </p:clrMapOvr>
  <p:transition spd="med">
    <p:fade/>
  </p:transition>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59536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What a pilot needs</a:t>
            </a:r>
            <a:endParaRPr lang="en-US" sz="3000" dirty="0"/>
          </a:p>
        </p:txBody>
      </p:sp>
      <p:sp>
        <p:nvSpPr>
          <p:cNvPr id="3" name="button--Agenda"/>
          <p:cNvSpPr/>
          <p:nvPr/>
        </p:nvSpPr>
        <p:spPr>
          <a:xfrm>
            <a:off x="9372600" y="502920"/>
            <a:ext cx="1097280" cy="365760"/>
          </a:xfrm>
          <a:prstGeom prst="roundRect">
            <a:avLst>
              <a:gd name="adj" fmla="val 57500"/>
            </a:avLst>
          </a:prstGeom>
          <a:solidFill>
            <a:srgbClr val="EFF5F2"/>
          </a:solidFill>
          <a:ln>
            <a:solidFill>
              <a:srgbClr val="EFF5F2"/>
            </a:solidFill>
          </a:ln>
        </p:spPr>
        <p:txBody>
          <a:bodyPr wrap="square" lIns="0" tIns="0" rIns="0" bIns="0" rtlCol="0" anchor="ctr"/>
          <a:lstStyle/>
          <a:p>
            <a:pPr algn="ctr" indent="0" marL="0">
              <a:buNone/>
            </a:pPr>
            <a:r>
              <a:rPr lang="en-US" sz="1200" b="1" dirty="0">
                <a:solidFill>
                  <a:srgbClr val="0B3B36"/>
                </a:solidFill>
              </a:rPr>
              <a:t>☰  Agenda</a:t>
            </a:r>
            <a:endParaRPr lang="en-US" sz="1200" dirty="0"/>
          </a:p>
        </p:txBody>
      </p:sp>
      <p:sp>
        <p:nvSpPr>
          <p:cNvPr id="4" name="button-link--Agenda">
            <a:hlinkClick r:id="rId1" tooltip="Back to the agenda" action="ppaction://hlinksldjump"/>
          </p:cNvPr>
          <p:cNvSpPr/>
          <p:nvPr/>
        </p:nvSpPr>
        <p:spPr>
          <a:xfrm>
            <a:off x="9372600" y="502920"/>
            <a:ext cx="1097280" cy="365760"/>
          </a:xfrm>
          <a:prstGeom prst="rect">
            <a:avLst/>
          </a:prstGeom>
          <a:solidFill>
            <a:srgbClr val="FFFFFF">
              <a:alpha val="0"/>
            </a:srgbClr>
          </a:solidFill>
          <a:ln w="12700">
            <a:solidFill>
              <a:srgbClr val="FFFFFF">
                <a:alpha val="0"/>
              </a:srgbClr>
            </a:solidFill>
            <a:prstDash val="solid"/>
          </a:ln>
        </p:spPr>
      </p:sp>
      <p:sp>
        <p:nvSpPr>
          <p:cNvPr id="5" name="button-Live-demo-"/>
          <p:cNvSpPr/>
          <p:nvPr/>
        </p:nvSpPr>
        <p:spPr>
          <a:xfrm>
            <a:off x="10561320" y="502920"/>
            <a:ext cx="1097280" cy="365760"/>
          </a:xfrm>
          <a:prstGeom prst="roundRect">
            <a:avLst>
              <a:gd name="adj" fmla="val 57500"/>
            </a:avLst>
          </a:prstGeom>
          <a:solidFill>
            <a:srgbClr val="0B3B36"/>
          </a:solidFill>
          <a:ln>
            <a:solidFill>
              <a:srgbClr val="0B3B36"/>
            </a:solidFill>
          </a:ln>
        </p:spPr>
        <p:txBody>
          <a:bodyPr wrap="square" lIns="0" tIns="0" rIns="0" bIns="0" rtlCol="0" anchor="ctr"/>
          <a:lstStyle/>
          <a:p>
            <a:pPr algn="ctr" indent="0" marL="0">
              <a:buNone/>
            </a:pPr>
            <a:r>
              <a:rPr lang="en-US" sz="1200" b="1" dirty="0">
                <a:solidFill>
                  <a:srgbClr val="FFFFFF"/>
                </a:solidFill>
              </a:rPr>
              <a:t>Live demo ↗</a:t>
            </a:r>
            <a:endParaRPr lang="en-US" sz="1200" dirty="0"/>
          </a:p>
        </p:txBody>
      </p:sp>
      <p:sp>
        <p:nvSpPr>
          <p:cNvPr id="6" name="button-link-Live-demo-">
            <a:hlinkClick r:id="rId2" tooltip="Open the live demo"/>
          </p:cNvPr>
          <p:cNvSpPr/>
          <p:nvPr/>
        </p:nvSpPr>
        <p:spPr>
          <a:xfrm>
            <a:off x="10561320" y="502920"/>
            <a:ext cx="1097280" cy="365760"/>
          </a:xfrm>
          <a:prstGeom prst="rect">
            <a:avLst/>
          </a:prstGeom>
          <a:solidFill>
            <a:srgbClr val="FFFFFF">
              <a:alpha val="0"/>
            </a:srgbClr>
          </a:solidFill>
          <a:ln w="12700">
            <a:solidFill>
              <a:srgbClr val="FFFFFF">
                <a:alpha val="0"/>
              </a:srgbClr>
            </a:solidFill>
            <a:prstDash val="solid"/>
          </a:ln>
        </p:spPr>
      </p:sp>
      <p:sp>
        <p:nvSpPr>
          <p:cNvPr id="7" name="icon-bg-FaFileSignature"/>
          <p:cNvSpPr/>
          <p:nvPr/>
        </p:nvSpPr>
        <p:spPr>
          <a:xfrm>
            <a:off x="548640" y="1371600"/>
            <a:ext cx="731520" cy="731520"/>
          </a:xfrm>
          <a:prstGeom prst="ellipse">
            <a:avLst/>
          </a:prstGeom>
          <a:solidFill>
            <a:srgbClr val="0B3B36"/>
          </a:solidFill>
          <a:ln w="12700">
            <a:solidFill>
              <a:srgbClr val="0B3B36"/>
            </a:solidFill>
            <a:prstDash val="solid"/>
          </a:ln>
        </p:spPr>
      </p:sp>
      <p:pic>
        <p:nvPicPr>
          <p:cNvPr id="8" name="icon-FaFileSignature" descr="preencoded.png">    </p:cNvPr>
          <p:cNvPicPr>
            <a:picLocks noChangeAspect="1"/>
          </p:cNvPicPr>
          <p:nvPr/>
        </p:nvPicPr>
        <p:blipFill>
          <a:blip r:embed="rId3"/>
          <a:stretch>
            <a:fillRect/>
          </a:stretch>
        </p:blipFill>
        <p:spPr>
          <a:xfrm>
            <a:off x="731520" y="1554480"/>
            <a:ext cx="365760" cy="365760"/>
          </a:xfrm>
          <a:prstGeom prst="rect">
            <a:avLst/>
          </a:prstGeom>
        </p:spPr>
      </p:pic>
      <p:sp>
        <p:nvSpPr>
          <p:cNvPr id="9" name="Text 6"/>
          <p:cNvSpPr txBox="1"/>
          <p:nvPr/>
        </p:nvSpPr>
        <p:spPr>
          <a:xfrm>
            <a:off x="1508760" y="1389888"/>
            <a:ext cx="3657600" cy="365760"/>
          </a:xfrm>
          <a:prstGeom prst="rect">
            <a:avLst/>
          </a:prstGeom>
          <a:noFill/>
          <a:ln/>
        </p:spPr>
        <p:txBody>
          <a:bodyPr wrap="square" lIns="0" tIns="0" rIns="0" bIns="0" rtlCol="0" anchor="t"/>
          <a:lstStyle/>
          <a:p>
            <a:pPr indent="0" marL="0">
              <a:buNone/>
            </a:pPr>
            <a:r>
              <a:rPr lang="en-US" sz="1800" b="1" dirty="0">
                <a:solidFill>
                  <a:srgbClr val="0B3B36"/>
                </a:solidFill>
                <a:latin typeface="Cambria" pitchFamily="34" charset="0"/>
                <a:ea typeface="Cambria" pitchFamily="34" charset="-122"/>
                <a:cs typeface="Cambria" pitchFamily="34" charset="-120"/>
              </a:rPr>
              <a:t>Approvals</a:t>
            </a:r>
            <a:endParaRPr lang="en-US" sz="1800" dirty="0"/>
          </a:p>
        </p:txBody>
      </p:sp>
      <p:sp>
        <p:nvSpPr>
          <p:cNvPr id="10" name="Text 7"/>
          <p:cNvSpPr txBox="1"/>
          <p:nvPr/>
        </p:nvSpPr>
        <p:spPr>
          <a:xfrm>
            <a:off x="1508760" y="1755648"/>
            <a:ext cx="5486400" cy="548640"/>
          </a:xfrm>
          <a:prstGeom prst="rect">
            <a:avLst/>
          </a:prstGeom>
          <a:noFill/>
          <a:ln/>
        </p:spPr>
        <p:txBody>
          <a:bodyPr wrap="square" lIns="0" tIns="0" rIns="0" bIns="0" rtlCol="0" anchor="t"/>
          <a:lstStyle/>
          <a:p>
            <a:pPr indent="0" marL="0">
              <a:buNone/>
            </a:pPr>
            <a:r>
              <a:rPr lang="en-US" sz="1400" dirty="0">
                <a:solidFill>
                  <a:srgbClr val="17242A"/>
                </a:solidFill>
              </a:rPr>
              <a:t>SCERT permission for textbook use; agreement on grading and follow-up thresholds</a:t>
            </a:r>
            <a:endParaRPr lang="en-US" sz="1400" dirty="0"/>
          </a:p>
        </p:txBody>
      </p:sp>
      <p:sp>
        <p:nvSpPr>
          <p:cNvPr id="11" name="icon-bg-FaUsersGear"/>
          <p:cNvSpPr/>
          <p:nvPr/>
        </p:nvSpPr>
        <p:spPr>
          <a:xfrm>
            <a:off x="548640" y="2514600"/>
            <a:ext cx="731520" cy="731520"/>
          </a:xfrm>
          <a:prstGeom prst="ellipse">
            <a:avLst/>
          </a:prstGeom>
          <a:solidFill>
            <a:srgbClr val="0B3B36"/>
          </a:solidFill>
          <a:ln w="12700">
            <a:solidFill>
              <a:srgbClr val="0B3B36"/>
            </a:solidFill>
            <a:prstDash val="solid"/>
          </a:ln>
        </p:spPr>
      </p:sp>
      <p:pic>
        <p:nvPicPr>
          <p:cNvPr id="12" name="icon-FaUsersGear" descr="preencoded.png">    </p:cNvPr>
          <p:cNvPicPr>
            <a:picLocks noChangeAspect="1"/>
          </p:cNvPicPr>
          <p:nvPr/>
        </p:nvPicPr>
        <p:blipFill>
          <a:blip r:embed="rId4"/>
          <a:stretch>
            <a:fillRect/>
          </a:stretch>
        </p:blipFill>
        <p:spPr>
          <a:xfrm>
            <a:off x="731520" y="2697480"/>
            <a:ext cx="365760" cy="365760"/>
          </a:xfrm>
          <a:prstGeom prst="rect">
            <a:avLst/>
          </a:prstGeom>
        </p:spPr>
      </p:pic>
      <p:sp>
        <p:nvSpPr>
          <p:cNvPr id="13" name="Text 9"/>
          <p:cNvSpPr txBox="1"/>
          <p:nvPr/>
        </p:nvSpPr>
        <p:spPr>
          <a:xfrm>
            <a:off x="1508760" y="2532888"/>
            <a:ext cx="3657600" cy="365760"/>
          </a:xfrm>
          <a:prstGeom prst="rect">
            <a:avLst/>
          </a:prstGeom>
          <a:noFill/>
          <a:ln/>
        </p:spPr>
        <p:txBody>
          <a:bodyPr wrap="square" lIns="0" tIns="0" rIns="0" bIns="0" rtlCol="0" anchor="t"/>
          <a:lstStyle/>
          <a:p>
            <a:pPr indent="0" marL="0">
              <a:buNone/>
            </a:pPr>
            <a:r>
              <a:rPr lang="en-US" sz="1800" b="1" dirty="0">
                <a:solidFill>
                  <a:srgbClr val="0B3B36"/>
                </a:solidFill>
                <a:latin typeface="Cambria" pitchFamily="34" charset="0"/>
                <a:ea typeface="Cambria" pitchFamily="34" charset="-122"/>
                <a:cs typeface="Cambria" pitchFamily="34" charset="-120"/>
              </a:rPr>
              <a:t>People</a:t>
            </a:r>
            <a:endParaRPr lang="en-US" sz="1800" dirty="0"/>
          </a:p>
        </p:txBody>
      </p:sp>
      <p:sp>
        <p:nvSpPr>
          <p:cNvPr id="14" name="Text 10"/>
          <p:cNvSpPr txBox="1"/>
          <p:nvPr/>
        </p:nvSpPr>
        <p:spPr>
          <a:xfrm>
            <a:off x="1508760" y="2898648"/>
            <a:ext cx="5486400" cy="548640"/>
          </a:xfrm>
          <a:prstGeom prst="rect">
            <a:avLst/>
          </a:prstGeom>
          <a:noFill/>
          <a:ln/>
        </p:spPr>
        <p:txBody>
          <a:bodyPr wrap="square" lIns="0" tIns="0" rIns="0" bIns="0" rtlCol="0" anchor="t"/>
          <a:lstStyle/>
          <a:p>
            <a:pPr indent="0" marL="0">
              <a:buNone/>
            </a:pPr>
            <a:r>
              <a:rPr lang="en-US" sz="1400" dirty="0">
                <a:solidFill>
                  <a:srgbClr val="17242A"/>
                </a:solidFill>
              </a:rPr>
              <a:t>Teacher review panels for AI answers; a nodal officer per block</a:t>
            </a:r>
            <a:endParaRPr lang="en-US" sz="1400" dirty="0"/>
          </a:p>
        </p:txBody>
      </p:sp>
      <p:sp>
        <p:nvSpPr>
          <p:cNvPr id="15" name="icon-bg-FaServer"/>
          <p:cNvSpPr/>
          <p:nvPr/>
        </p:nvSpPr>
        <p:spPr>
          <a:xfrm>
            <a:off x="548640" y="3657600"/>
            <a:ext cx="731520" cy="731520"/>
          </a:xfrm>
          <a:prstGeom prst="ellipse">
            <a:avLst/>
          </a:prstGeom>
          <a:solidFill>
            <a:srgbClr val="0B3B36"/>
          </a:solidFill>
          <a:ln w="12700">
            <a:solidFill>
              <a:srgbClr val="0B3B36"/>
            </a:solidFill>
            <a:prstDash val="solid"/>
          </a:ln>
        </p:spPr>
      </p:sp>
      <p:pic>
        <p:nvPicPr>
          <p:cNvPr id="16" name="icon-FaServer" descr="preencoded.png">    </p:cNvPr>
          <p:cNvPicPr>
            <a:picLocks noChangeAspect="1"/>
          </p:cNvPicPr>
          <p:nvPr/>
        </p:nvPicPr>
        <p:blipFill>
          <a:blip r:embed="rId5"/>
          <a:stretch>
            <a:fillRect/>
          </a:stretch>
        </p:blipFill>
        <p:spPr>
          <a:xfrm>
            <a:off x="731520" y="3840480"/>
            <a:ext cx="365760" cy="365760"/>
          </a:xfrm>
          <a:prstGeom prst="rect">
            <a:avLst/>
          </a:prstGeom>
        </p:spPr>
      </p:pic>
      <p:sp>
        <p:nvSpPr>
          <p:cNvPr id="17" name="Text 12"/>
          <p:cNvSpPr txBox="1"/>
          <p:nvPr/>
        </p:nvSpPr>
        <p:spPr>
          <a:xfrm>
            <a:off x="1508760" y="3675888"/>
            <a:ext cx="3657600" cy="365760"/>
          </a:xfrm>
          <a:prstGeom prst="rect">
            <a:avLst/>
          </a:prstGeom>
          <a:noFill/>
          <a:ln/>
        </p:spPr>
        <p:txBody>
          <a:bodyPr wrap="square" lIns="0" tIns="0" rIns="0" bIns="0" rtlCol="0" anchor="t"/>
          <a:lstStyle/>
          <a:p>
            <a:pPr indent="0" marL="0">
              <a:buNone/>
            </a:pPr>
            <a:r>
              <a:rPr lang="en-US" sz="1800" b="1" dirty="0">
                <a:solidFill>
                  <a:srgbClr val="0B3B36"/>
                </a:solidFill>
                <a:latin typeface="Cambria" pitchFamily="34" charset="0"/>
                <a:ea typeface="Cambria" pitchFamily="34" charset="-122"/>
                <a:cs typeface="Cambria" pitchFamily="34" charset="-120"/>
              </a:rPr>
              <a:t>Hosting</a:t>
            </a:r>
            <a:endParaRPr lang="en-US" sz="1800" dirty="0"/>
          </a:p>
        </p:txBody>
      </p:sp>
      <p:sp>
        <p:nvSpPr>
          <p:cNvPr id="18" name="Text 13"/>
          <p:cNvSpPr txBox="1"/>
          <p:nvPr/>
        </p:nvSpPr>
        <p:spPr>
          <a:xfrm>
            <a:off x="1508760" y="4041648"/>
            <a:ext cx="5486400" cy="548640"/>
          </a:xfrm>
          <a:prstGeom prst="rect">
            <a:avLst/>
          </a:prstGeom>
          <a:noFill/>
          <a:ln/>
        </p:spPr>
        <p:txBody>
          <a:bodyPr wrap="square" lIns="0" tIns="0" rIns="0" bIns="0" rtlCol="0" anchor="t"/>
          <a:lstStyle/>
          <a:p>
            <a:pPr indent="0" marL="0">
              <a:buNone/>
            </a:pPr>
            <a:r>
              <a:rPr lang="en-US" sz="1400" dirty="0">
                <a:solidFill>
                  <a:srgbClr val="17242A"/>
                </a:solidFill>
              </a:rPr>
              <a:t>State Data Centre or empanelled cloud; a GPU server for the AI model</a:t>
            </a:r>
            <a:endParaRPr lang="en-US" sz="1400" dirty="0"/>
          </a:p>
        </p:txBody>
      </p:sp>
      <p:sp>
        <p:nvSpPr>
          <p:cNvPr id="19" name="icon-bg-FaScaleBalanced"/>
          <p:cNvSpPr/>
          <p:nvPr/>
        </p:nvSpPr>
        <p:spPr>
          <a:xfrm>
            <a:off x="548640" y="4800600"/>
            <a:ext cx="731520" cy="731520"/>
          </a:xfrm>
          <a:prstGeom prst="ellipse">
            <a:avLst/>
          </a:prstGeom>
          <a:solidFill>
            <a:srgbClr val="0B3B36"/>
          </a:solidFill>
          <a:ln w="12700">
            <a:solidFill>
              <a:srgbClr val="0B3B36"/>
            </a:solidFill>
            <a:prstDash val="solid"/>
          </a:ln>
        </p:spPr>
      </p:sp>
      <p:pic>
        <p:nvPicPr>
          <p:cNvPr id="20" name="icon-FaScaleBalanced" descr="preencoded.png">    </p:cNvPr>
          <p:cNvPicPr>
            <a:picLocks noChangeAspect="1"/>
          </p:cNvPicPr>
          <p:nvPr/>
        </p:nvPicPr>
        <p:blipFill>
          <a:blip r:embed="rId6"/>
          <a:stretch>
            <a:fillRect/>
          </a:stretch>
        </p:blipFill>
        <p:spPr>
          <a:xfrm>
            <a:off x="731520" y="4983480"/>
            <a:ext cx="365760" cy="365760"/>
          </a:xfrm>
          <a:prstGeom prst="rect">
            <a:avLst/>
          </a:prstGeom>
        </p:spPr>
      </p:pic>
      <p:sp>
        <p:nvSpPr>
          <p:cNvPr id="21" name="Text 15"/>
          <p:cNvSpPr txBox="1"/>
          <p:nvPr/>
        </p:nvSpPr>
        <p:spPr>
          <a:xfrm>
            <a:off x="1508760" y="4818888"/>
            <a:ext cx="3657600" cy="365760"/>
          </a:xfrm>
          <a:prstGeom prst="rect">
            <a:avLst/>
          </a:prstGeom>
          <a:noFill/>
          <a:ln/>
        </p:spPr>
        <p:txBody>
          <a:bodyPr wrap="square" lIns="0" tIns="0" rIns="0" bIns="0" rtlCol="0" anchor="t"/>
          <a:lstStyle/>
          <a:p>
            <a:pPr indent="0" marL="0">
              <a:buNone/>
            </a:pPr>
            <a:r>
              <a:rPr lang="en-US" sz="1800" b="1" dirty="0">
                <a:solidFill>
                  <a:srgbClr val="0B3B36"/>
                </a:solidFill>
                <a:latin typeface="Cambria" pitchFamily="34" charset="0"/>
                <a:ea typeface="Cambria" pitchFamily="34" charset="-122"/>
                <a:cs typeface="Cambria" pitchFamily="34" charset="-120"/>
              </a:rPr>
              <a:t>Compliance</a:t>
            </a:r>
            <a:endParaRPr lang="en-US" sz="1800" dirty="0"/>
          </a:p>
        </p:txBody>
      </p:sp>
      <p:sp>
        <p:nvSpPr>
          <p:cNvPr id="22" name="Text 16"/>
          <p:cNvSpPr txBox="1"/>
          <p:nvPr/>
        </p:nvSpPr>
        <p:spPr>
          <a:xfrm>
            <a:off x="1508760" y="5184648"/>
            <a:ext cx="5486400" cy="548640"/>
          </a:xfrm>
          <a:prstGeom prst="rect">
            <a:avLst/>
          </a:prstGeom>
          <a:noFill/>
          <a:ln/>
        </p:spPr>
        <p:txBody>
          <a:bodyPr wrap="square" lIns="0" tIns="0" rIns="0" bIns="0" rtlCol="0" anchor="t"/>
          <a:lstStyle/>
          <a:p>
            <a:pPr indent="0" marL="0">
              <a:buNone/>
            </a:pPr>
            <a:r>
              <a:rPr lang="en-US" sz="1400" dirty="0">
                <a:solidFill>
                  <a:srgbClr val="17242A"/>
                </a:solidFill>
              </a:rPr>
              <a:t>Security audit (CERT-In empanelled) and a DPIA under the DPDP Act 2023</a:t>
            </a:r>
            <a:endParaRPr lang="en-US" sz="1400" dirty="0"/>
          </a:p>
        </p:txBody>
      </p:sp>
      <p:sp>
        <p:nvSpPr>
          <p:cNvPr id="23" name="honest"/>
          <p:cNvSpPr/>
          <p:nvPr/>
        </p:nvSpPr>
        <p:spPr>
          <a:xfrm>
            <a:off x="7452360" y="1371600"/>
            <a:ext cx="4160520" cy="4343400"/>
          </a:xfrm>
          <a:prstGeom prst="roundRect">
            <a:avLst>
              <a:gd name="adj" fmla="val 2637"/>
            </a:avLst>
          </a:prstGeom>
          <a:solidFill>
            <a:srgbClr val="FDF1E7"/>
          </a:solidFill>
          <a:ln w="12700">
            <a:solidFill>
              <a:srgbClr val="FDF1E7"/>
            </a:solidFill>
            <a:prstDash val="solid"/>
          </a:ln>
          <a:effectLst>
            <a:outerShdw sx="100000" sy="100000" kx="0" ky="0" algn="bl" rotWithShape="0" blurRad="101600" dist="25400" dir="5400000">
              <a:srgbClr val="17242A">
                <a:alpha val="16000"/>
              </a:srgbClr>
            </a:outerShdw>
          </a:effectLst>
        </p:spPr>
      </p:sp>
      <p:sp>
        <p:nvSpPr>
          <p:cNvPr id="24" name="Text 18"/>
          <p:cNvSpPr txBox="1"/>
          <p:nvPr/>
        </p:nvSpPr>
        <p:spPr>
          <a:xfrm>
            <a:off x="7726680" y="1600200"/>
            <a:ext cx="3657600" cy="411480"/>
          </a:xfrm>
          <a:prstGeom prst="rect">
            <a:avLst/>
          </a:prstGeom>
          <a:noFill/>
          <a:ln/>
        </p:spPr>
        <p:txBody>
          <a:bodyPr wrap="square" lIns="0" tIns="0" rIns="0" bIns="0" rtlCol="0" anchor="t"/>
          <a:lstStyle/>
          <a:p>
            <a:pPr indent="0" marL="0">
              <a:buNone/>
            </a:pPr>
            <a:r>
              <a:rPr lang="en-US" sz="1800" b="1" dirty="0">
                <a:solidFill>
                  <a:srgbClr val="B4531C"/>
                </a:solidFill>
                <a:latin typeface="Cambria" pitchFamily="34" charset="0"/>
                <a:ea typeface="Cambria" pitchFamily="34" charset="-122"/>
                <a:cs typeface="Cambria" pitchFamily="34" charset="-120"/>
              </a:rPr>
              <a:t>Honest status</a:t>
            </a:r>
            <a:endParaRPr lang="en-US" sz="1800" dirty="0"/>
          </a:p>
        </p:txBody>
      </p:sp>
      <p:sp>
        <p:nvSpPr>
          <p:cNvPr id="25" name="Text 19"/>
          <p:cNvSpPr/>
          <p:nvPr/>
        </p:nvSpPr>
        <p:spPr>
          <a:xfrm>
            <a:off x="7726680" y="2103120"/>
            <a:ext cx="3657600" cy="3474720"/>
          </a:xfrm>
          <a:prstGeom prst="rect">
            <a:avLst/>
          </a:prstGeom>
          <a:noFill/>
          <a:ln/>
        </p:spPr>
        <p:txBody>
          <a:bodyPr wrap="square" lIns="0" tIns="0" rIns="0" bIns="0" rtlCol="0" anchor="t"/>
          <a:lstStyle/>
          <a:p>
            <a:pPr marL="203200" indent="-203200">
              <a:spcAft>
                <a:spcPts val="600"/>
              </a:spcAft>
              <a:buSzPct val="100000"/>
              <a:buChar char="•"/>
            </a:pPr>
            <a:r>
              <a:rPr lang="en-US" sz="1400" dirty="0">
                <a:solidFill>
                  <a:srgbClr val="000000"/>
                </a:solidFill>
              </a:rPr>
              <a:t>All numbers in the demo are generated</a:t>
            </a:r>
            <a:endParaRPr lang="en-US" sz="1400" dirty="0"/>
          </a:p>
          <a:p>
            <a:pPr marL="203200" indent="-203200">
              <a:spcAft>
                <a:spcPts val="600"/>
              </a:spcAft>
              <a:buSzPct val="100000"/>
              <a:buChar char="•"/>
            </a:pPr>
            <a:r>
              <a:rPr lang="en-US" sz="1400" dirty="0">
                <a:solidFill>
                  <a:srgbClr val="000000"/>
                </a:solidFill>
              </a:rPr>
              <a:t>AI answers can be wrong even when cited: start with teacher supervision</a:t>
            </a:r>
            <a:endParaRPr lang="en-US" sz="1400" dirty="0"/>
          </a:p>
          <a:p>
            <a:pPr marL="203200" indent="-203200">
              <a:spcAft>
                <a:spcPts val="600"/>
              </a:spcAft>
              <a:buSzPct val="100000"/>
              <a:buChar char="•"/>
            </a:pPr>
            <a:r>
              <a:rPr lang="en-US" sz="1400" dirty="0">
                <a:solidFill>
                  <a:srgbClr val="000000"/>
                </a:solidFill>
              </a:rPr>
              <a:t>No live UDISE+ / HRMS connection yet</a:t>
            </a:r>
            <a:endParaRPr lang="en-US" sz="1400" dirty="0"/>
          </a:p>
          <a:p>
            <a:pPr marL="203200" indent="-203200">
              <a:spcAft>
                <a:spcPts val="600"/>
              </a:spcAft>
              <a:buSzPct val="100000"/>
              <a:buChar char="•"/>
            </a:pPr>
            <a:r>
              <a:rPr lang="en-US" sz="1400" dirty="0">
                <a:solidFill>
                  <a:srgbClr val="000000"/>
                </a:solidFill>
              </a:rPr>
              <a:t>Grades and risk flags are transparent rules, to be validated</a:t>
            </a:r>
            <a:endParaRPr lang="en-US" sz="1400" dirty="0"/>
          </a:p>
        </p:txBody>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26</a:t>
            </a:fld>
            <a:endParaRPr lang="en-US"/>
          </a:p>
        </p:txBody>
      </p:sp>
    </p:spTree>
  </p:cSld>
  <p:clrMapOvr>
    <a:masterClrMapping/>
  </p:clrMapOvr>
  <p:transition spd="med">
    <p:fade/>
  </p:transition>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731520" y="1417320"/>
            <a:ext cx="7498080" cy="1188720"/>
          </a:xfrm>
          <a:prstGeom prst="rect">
            <a:avLst/>
          </a:prstGeom>
          <a:noFill/>
          <a:ln/>
        </p:spPr>
        <p:txBody>
          <a:bodyPr wrap="square" lIns="0" tIns="0" rIns="0" bIns="0" rtlCol="0" anchor="b"/>
          <a:lstStyle/>
          <a:p>
            <a:pPr algn="l" indent="0" marL="0">
              <a:buNone/>
            </a:pPr>
            <a:r>
              <a:rPr lang="en-US" sz="5400" b="1" dirty="0">
                <a:solidFill>
                  <a:schemeClr val="bg1"/>
                </a:solidFill>
                <a:latin typeface="Cambria" pitchFamily="34" charset="0"/>
                <a:ea typeface="Cambria" pitchFamily="34" charset="-122"/>
                <a:cs typeface="Cambria" pitchFamily="34" charset="-120"/>
              </a:rPr>
              <a:t>Thank you</a:t>
            </a:r>
            <a:endParaRPr lang="en-US" sz="5400" dirty="0"/>
          </a:p>
        </p:txBody>
      </p:sp>
      <p:sp>
        <p:nvSpPr>
          <p:cNvPr id="3" name="Text 0"/>
          <p:cNvSpPr/>
          <p:nvPr>
            <p:ph idx="101" type="body" hasCustomPrompt="1"/>
          </p:nvPr>
        </p:nvSpPr>
        <p:spPr>
          <a:xfrm>
            <a:off x="731520" y="2743200"/>
            <a:ext cx="6949440" cy="1371600"/>
          </a:xfrm>
          <a:prstGeom prst="rect">
            <a:avLst/>
          </a:prstGeom>
          <a:noFill/>
          <a:ln/>
        </p:spPr>
        <p:txBody>
          <a:bodyPr wrap="square" lIns="0" tIns="0" rIns="0" bIns="0" rtlCol="0" anchor="t"/>
          <a:lstStyle/>
          <a:p>
            <a:pPr indent="0" marL="0">
              <a:buNone/>
            </a:pPr>
            <a:r>
              <a:rPr lang="en-US" sz="2600" b="1" dirty="0">
                <a:solidFill>
                  <a:srgbClr val="F6B783"/>
                </a:solidFill>
                <a:latin typeface="Nirmala UI" pitchFamily="34" charset="0"/>
                <a:ea typeface="Nirmala UI" pitchFamily="34" charset="-122"/>
                <a:cs typeface="Nirmala UI" pitchFamily="34" charset="-120"/>
              </a:rPr>
              <a:t>धन्यवाद</a:t>
            </a:r>
            <a:endParaRPr lang="en-US" sz="2000" dirty="0"/>
          </a:p>
          <a:p>
            <a:pPr indent="0" marL="0">
              <a:buNone/>
            </a:pPr>
            <a:r>
              <a:rPr lang="en-US" sz="2000" dirty="0">
                <a:solidFill>
                  <a:srgbClr val="EFF5F2"/>
                </a:solidFill>
              </a:rPr>
              <a:t>Let's give every child in Chhattisgarh a teacher's help, a tutor and a voice.</a:t>
            </a:r>
            <a:endParaRPr lang="en-US" sz="2000" dirty="0"/>
          </a:p>
        </p:txBody>
      </p:sp>
      <p:sp>
        <p:nvSpPr>
          <p:cNvPr id="4" name="button-Open-live-demo-"/>
          <p:cNvSpPr/>
          <p:nvPr/>
        </p:nvSpPr>
        <p:spPr>
          <a:xfrm>
            <a:off x="731520" y="4572000"/>
            <a:ext cx="2194560" cy="502920"/>
          </a:xfrm>
          <a:prstGeom prst="roundRect">
            <a:avLst>
              <a:gd name="adj" fmla="val 41818"/>
            </a:avLst>
          </a:prstGeom>
          <a:solidFill>
            <a:srgbClr val="E8762B"/>
          </a:solidFill>
          <a:ln>
            <a:solidFill>
              <a:srgbClr val="E8762B"/>
            </a:solidFill>
          </a:ln>
        </p:spPr>
        <p:txBody>
          <a:bodyPr wrap="square" lIns="0" tIns="0" rIns="0" bIns="0" rtlCol="0" anchor="ctr"/>
          <a:lstStyle/>
          <a:p>
            <a:pPr algn="ctr" indent="0" marL="0">
              <a:buNone/>
            </a:pPr>
            <a:r>
              <a:rPr lang="en-US" sz="1600" b="1" dirty="0">
                <a:solidFill>
                  <a:srgbClr val="FFFFFF"/>
                </a:solidFill>
              </a:rPr>
              <a:t>Open live demo ↗</a:t>
            </a:r>
            <a:endParaRPr lang="en-US" sz="1600" dirty="0"/>
          </a:p>
        </p:txBody>
      </p:sp>
      <p:sp>
        <p:nvSpPr>
          <p:cNvPr id="5" name="button-link-Open-live-demo-">
            <a:hlinkClick r:id="rId1" tooltip="https://hamar-shiksha.vercel.app"/>
          </p:cNvPr>
          <p:cNvSpPr/>
          <p:nvPr/>
        </p:nvSpPr>
        <p:spPr>
          <a:xfrm>
            <a:off x="731520" y="4572000"/>
            <a:ext cx="2194560" cy="502920"/>
          </a:xfrm>
          <a:prstGeom prst="rect">
            <a:avLst/>
          </a:prstGeom>
          <a:solidFill>
            <a:srgbClr val="FFFFFF">
              <a:alpha val="0"/>
            </a:srgbClr>
          </a:solidFill>
          <a:ln w="12700">
            <a:solidFill>
              <a:srgbClr val="FFFFFF">
                <a:alpha val="0"/>
              </a:srgbClr>
            </a:solidFill>
            <a:prstDash val="solid"/>
          </a:ln>
        </p:spPr>
      </p:sp>
      <p:sp>
        <p:nvSpPr>
          <p:cNvPr id="6" name="button-Source-on-GitHub-"/>
          <p:cNvSpPr/>
          <p:nvPr/>
        </p:nvSpPr>
        <p:spPr>
          <a:xfrm>
            <a:off x="3108960" y="4572000"/>
            <a:ext cx="2194560" cy="502920"/>
          </a:xfrm>
          <a:prstGeom prst="roundRect">
            <a:avLst>
              <a:gd name="adj" fmla="val 41818"/>
            </a:avLst>
          </a:prstGeom>
          <a:solidFill>
            <a:srgbClr val="134E47"/>
          </a:solidFill>
          <a:ln>
            <a:solidFill>
              <a:srgbClr val="134E47"/>
            </a:solidFill>
          </a:ln>
        </p:spPr>
        <p:txBody>
          <a:bodyPr wrap="square" lIns="0" tIns="0" rIns="0" bIns="0" rtlCol="0" anchor="ctr"/>
          <a:lstStyle/>
          <a:p>
            <a:pPr algn="ctr" indent="0" marL="0">
              <a:buNone/>
            </a:pPr>
            <a:r>
              <a:rPr lang="en-US" sz="1600" b="1" dirty="0">
                <a:solidFill>
                  <a:srgbClr val="FFFFFF"/>
                </a:solidFill>
              </a:rPr>
              <a:t>Source on GitHub ↗</a:t>
            </a:r>
            <a:endParaRPr lang="en-US" sz="1600" dirty="0"/>
          </a:p>
        </p:txBody>
      </p:sp>
      <p:sp>
        <p:nvSpPr>
          <p:cNvPr id="7" name="button-link-Source-on-GitHub-">
            <a:hlinkClick r:id="rId2" tooltip="https://github.com/Niladri962/HAMAR_Shiksha"/>
          </p:cNvPr>
          <p:cNvSpPr/>
          <p:nvPr/>
        </p:nvSpPr>
        <p:spPr>
          <a:xfrm>
            <a:off x="3108960" y="4572000"/>
            <a:ext cx="2194560" cy="502920"/>
          </a:xfrm>
          <a:prstGeom prst="rect">
            <a:avLst/>
          </a:prstGeom>
          <a:solidFill>
            <a:srgbClr val="FFFFFF">
              <a:alpha val="0"/>
            </a:srgbClr>
          </a:solidFill>
          <a:ln w="12700">
            <a:solidFill>
              <a:srgbClr val="FFFFFF">
                <a:alpha val="0"/>
              </a:srgbClr>
            </a:solidFill>
            <a:prstDash val="solid"/>
          </a:ln>
        </p:spPr>
      </p:sp>
      <p:sp>
        <p:nvSpPr>
          <p:cNvPr id="8" name="button--Back-to-agenda"/>
          <p:cNvSpPr/>
          <p:nvPr/>
        </p:nvSpPr>
        <p:spPr>
          <a:xfrm>
            <a:off x="5486400" y="4572000"/>
            <a:ext cx="2194560" cy="502920"/>
          </a:xfrm>
          <a:prstGeom prst="roundRect">
            <a:avLst>
              <a:gd name="adj" fmla="val 41818"/>
            </a:avLst>
          </a:prstGeom>
          <a:solidFill>
            <a:srgbClr val="134E47"/>
          </a:solidFill>
          <a:ln>
            <a:solidFill>
              <a:srgbClr val="134E47"/>
            </a:solidFill>
          </a:ln>
        </p:spPr>
        <p:txBody>
          <a:bodyPr wrap="square" lIns="0" tIns="0" rIns="0" bIns="0" rtlCol="0" anchor="ctr"/>
          <a:lstStyle/>
          <a:p>
            <a:pPr algn="ctr" indent="0" marL="0">
              <a:buNone/>
            </a:pPr>
            <a:r>
              <a:rPr lang="en-US" sz="1600" b="1" dirty="0">
                <a:solidFill>
                  <a:srgbClr val="FFFFFF"/>
                </a:solidFill>
              </a:rPr>
              <a:t>☰  Back to agenda</a:t>
            </a:r>
            <a:endParaRPr lang="en-US" sz="1600" dirty="0"/>
          </a:p>
        </p:txBody>
      </p:sp>
      <p:sp>
        <p:nvSpPr>
          <p:cNvPr id="9" name="button-link--Back-to-agenda">
            <a:hlinkClick r:id="rId3" tooltip="" action="ppaction://hlinksldjump"/>
          </p:cNvPr>
          <p:cNvSpPr/>
          <p:nvPr/>
        </p:nvSpPr>
        <p:spPr>
          <a:xfrm>
            <a:off x="5486400" y="4572000"/>
            <a:ext cx="2194560" cy="502920"/>
          </a:xfrm>
          <a:prstGeom prst="rect">
            <a:avLst/>
          </a:prstGeom>
          <a:solidFill>
            <a:srgbClr val="FFFFFF">
              <a:alpha val="0"/>
            </a:srgbClr>
          </a:solidFill>
          <a:ln w="12700">
            <a:solidFill>
              <a:srgbClr val="FFFFFF">
                <a:alpha val="0"/>
              </a:srgbClr>
            </a:solidFill>
            <a:prstDash val="solid"/>
          </a:ln>
        </p:spPr>
      </p:sp>
      <p:sp>
        <p:nvSpPr>
          <p:cNvPr id="10" name="phone-student-ask.png"/>
          <p:cNvSpPr/>
          <p:nvPr/>
        </p:nvSpPr>
        <p:spPr>
          <a:xfrm>
            <a:off x="8641080" y="594360"/>
            <a:ext cx="2564573" cy="5303520"/>
          </a:xfrm>
          <a:prstGeom prst="roundRect">
            <a:avLst>
              <a:gd name="adj" fmla="val 8914"/>
            </a:avLst>
          </a:prstGeom>
          <a:solidFill>
            <a:srgbClr val="17242A"/>
          </a:solidFill>
          <a:ln w="12700">
            <a:solidFill>
              <a:srgbClr val="17242A"/>
            </a:solidFill>
            <a:prstDash val="solid"/>
          </a:ln>
          <a:effectLst>
            <a:outerShdw sx="100000" sy="100000" kx="0" ky="0" algn="bl" rotWithShape="0" blurRad="101600" dist="25400" dir="5400000">
              <a:srgbClr val="17242A">
                <a:alpha val="16000"/>
              </a:srgbClr>
            </a:outerShdw>
          </a:effectLst>
        </p:spPr>
      </p:sp>
      <p:pic>
        <p:nvPicPr>
          <p:cNvPr id="11" name="screen-student-ask.png" descr="C:\Users\Niladri Ghosh\AppData\Local\Temp\claude\c--Users-Niladri-Ghosh-OneDrive-Desktop-Python-Workspace-Hamar-Shiksha\f3e4742b-a4be-48e9-8e6b-760e759cec7c\scratchpad\deck2\shots\student-ask.png">    </p:cNvPr>
          <p:cNvPicPr>
            <a:picLocks noChangeAspect="1"/>
          </p:cNvPicPr>
          <p:nvPr/>
        </p:nvPicPr>
        <p:blipFill>
          <a:blip r:embed="rId4"/>
          <a:stretch>
            <a:fillRect/>
          </a:stretch>
        </p:blipFill>
        <p:spPr>
          <a:xfrm>
            <a:off x="8732520" y="685800"/>
            <a:ext cx="2381693" cy="5120640"/>
          </a:xfrm>
          <a:prstGeom prst="rect">
            <a:avLst/>
          </a:prstGeom>
        </p:spPr>
      </p:pic>
    </p:spTree>
  </p:cSld>
  <p:clrMapOvr>
    <a:masterClrMapping/>
  </p:clrMapOvr>
  <p:transition spd="med">
    <p:fade/>
  </p:transition>
</p:sld>
</file>

<file path=ppt/theme/theme1.xml><?xml version="1.0" encoding="utf-8"?>
<a:theme xmlns:a="http://schemas.openxmlformats.org/drawingml/2006/main" name="Hamar Shiksha Client">
  <a:themeElements>
    <a:clrScheme name="Hamar Shiksha Client">
      <a:dk1>
        <a:srgbClr val="17242A"/>
      </a:dk1>
      <a:lt1>
        <a:srgbClr val="FFFFFF"/>
      </a:lt1>
      <a:dk2>
        <a:srgbClr val="0B3B36"/>
      </a:dk2>
      <a:lt2>
        <a:srgbClr val="EFF5F2"/>
      </a:lt2>
      <a:accent1>
        <a:srgbClr val="E8762B"/>
      </a:accent1>
      <a:accent2>
        <a:srgbClr val="1F4E8C"/>
      </a:accent2>
      <a:accent3>
        <a:srgbClr val="0E8A6E"/>
      </a:accent3>
      <a:accent4>
        <a:srgbClr val="C9921A"/>
      </a:accent4>
      <a:accent5>
        <a:srgbClr val="5E6B70"/>
      </a:accent5>
      <a:accent6>
        <a:srgbClr val="7A4FC9"/>
      </a:accent6>
      <a:hlink>
        <a:srgbClr val="1F4E8C"/>
      </a:hlink>
      <a:folHlink>
        <a:srgbClr val="7A4FC9"/>
      </a:folHlink>
    </a:clrScheme>
    <a:fontScheme name="Hamar Shiksha Clien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HAMAR SHIKSHA - client presentation</dc:title>
  <dc:subject>AI-enabled school education platform for Chhattisgarh</dc:subject>
  <dc:creator>HAMAR SHIKSHA team</dc:creator>
  <cp:lastModifiedBy>HAMAR SHIKSHA team</cp:lastModifiedBy>
  <cp:revision>1</cp:revision>
  <dcterms:created xsi:type="dcterms:W3CDTF">2026-10-15T08:15:38Z</dcterms:created>
  <dcterms:modified xsi:type="dcterms:W3CDTF">2026-10-15T08:15:38Z</dcterms:modified>
</cp:coreProperties>
</file>